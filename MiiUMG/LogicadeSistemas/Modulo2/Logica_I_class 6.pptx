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ink/ink3.xml" ContentType="application/inkml+xml"/>
  <Override PartName="/ppt/notesSlides/notesSlide6.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7.xml" ContentType="application/vnd.openxmlformats-officedocument.presentationml.notesSlide+xml"/>
  <Override PartName="/ppt/ink/ink8.xml" ContentType="application/inkml+xml"/>
  <Override PartName="/ppt/notesSlides/notesSlide8.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3"/>
  </p:notesMasterIdLst>
  <p:sldIdLst>
    <p:sldId id="256" r:id="rId2"/>
    <p:sldId id="271" r:id="rId3"/>
    <p:sldId id="270" r:id="rId4"/>
    <p:sldId id="257" r:id="rId5"/>
    <p:sldId id="272" r:id="rId6"/>
    <p:sldId id="273" r:id="rId7"/>
    <p:sldId id="274" r:id="rId8"/>
    <p:sldId id="277" r:id="rId9"/>
    <p:sldId id="278" r:id="rId10"/>
    <p:sldId id="261" r:id="rId11"/>
    <p:sldId id="263" r:id="rId12"/>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915" autoAdjust="0"/>
  </p:normalViewPr>
  <p:slideViewPr>
    <p:cSldViewPr snapToGrid="0" snapToObjects="1">
      <p:cViewPr varScale="1">
        <p:scale>
          <a:sx n="59" d="100"/>
          <a:sy n="59" d="100"/>
        </p:scale>
        <p:origin x="11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41:04.8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16404 9123 0,'169'-21'235,"-20"21"-220,105-22-15,254-41 16,-339 63-16,43-21 16,42 21-16,-106 0 15,-42 0-15,63 0 16,-21 0-16,0 0 0,276 0 31,168 0 0,-105 0 1,63 42-1,-423-42-16,22 21 1,-65-21 0,64 0-1,-63 0 1,21 21 15,-43-21-15,-20 0-16,20 22 15,-20-22 1,-1 0 0,0 0-1,1 0 1,-1 0 0,0 0-1,1 0 1,-22 0-1,0 0 1,0 0 0,-127-22 234,43 22-250,-43 0 0,-21 0 15,0 0-15,0 0 16,-64 0-16,-168 0 31,274 0-31,-233 0 31,-63 0 1,0 0-1,85-42 0,233 42-15,-64 21-1,63 0 1,22-21 0,-22 0-16,1 0 31,20 22-15,22-22 15,21 21-16,21-21 17,22 0-17,-1 0 1,170 0 0,126 21-1,234-21 1,-276-21-1,191-85 1,-191-42 0,-105 84-1,-43 1-15,64-1 32,-128 64-17,-62 0 1,-1 0-1,-42 0 32,-22 0-31,-359 64 0,-106 20-1,-275 1 1,444-43-1,149-20 1,147-22 0,1 0 15,42 21-15,0 0-1,21-21 1,0 0-1,1 0 1,-1 0 0,21 0-1,43 0-15,105 0 16,170 0 0,-169 0-1,-22-21 1,-127 21-1,22-21 1,-85 21 125,-1 0-126,1 0-15,0 0 16,21 21 15,21-21 16,0 0-47,64 0 16,-21 0-16,105 0 15,339 0 17,-296 0-17,-64 21 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2:10.98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19219 17716 0,'106'-21'282,"63"-85"-267,1 64-15,-43-21 16,21-1-16,191-63 31,-149 106 0,-105 0 1,-43 21-1,-42 21 0,0 0-15</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2:13.0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16658 15621 0,'64'0'281,"-1"0"-281,-21 0 16,1 0-16,-1 0 0,22 0 31,41-21 0,-83 21-31,62 0 47,-20-21-15,-43-1 14,0 22 1,0 0-31,0 0 0,-21-21-1,22 21 1,-1 0 15,0 0 32,-21-21-17</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2:44.28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15430 9779 0,'64'21'235,"84"21"-235,148 22 15,1 21-15,211 20 16,-254-20-16,63-21 15,-20 20-15,719 255 32,-487-233-1,-254-106 16,-127-21-16,-127 21-31,106-22 31,-63 1-31,169-42 16,42-22 15,-106 43-15,-21-22-1,-63 22 1,-22 21 0,43 0-1,127-43 1,-21 22 0,84-1-1,-169 22 1,-42 0-1,-1 21 1,-20-21 0,-22 21-1,1 0 1,-22 0 0,42 0 15,-63-21-16,106 21 1,0 0 0,169 0-1,-63 0 1,-43 0 0,-63 0-1,-64 0-15,106 21 16,-63 0-1,84 21 1,-63-20 0,0-1-1,-64-21 1,-20 21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2:46.4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17611 9842 0,'84'0'234,"22"0"-234,42 0 16,233-42-16,-190 42 0,677-21 31,-657 21-31,1123 21 47,-847-21-16,21 0 16,-212 0-31,-63 0-1,-43 0 1,-147 0-16,84 0 16,21 0-1,148 0 1,-63 0 0,-127 0-1,21 21 1,-85-21-1,22 0 1,41 21 0,107-21-1,0 22 1,84 20 15,-211-42-31,42 42 16,63 1-1,-84-1 1,148 0 0,-42 1-1,21-43 1,63 0 0,-148-22-1,64 1 1,-22-21-1,1 0 1,126 20 0,-147 1-1,41 0 1,-84 21 15,-63 0-15,-1 0-1,22 0 1,-43 0 0,1 21-1,-1-21 1,-21 0 0,0 0-1</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3:34.1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10562 13547 0,'42'0'234,"22"0"-234,-1 0 16,22 0-16,-21 0 0,63 0 15,317-64 1,509-84 15,-22 42 16,783 170 0,-1163-22-16,-445-21-31,126 43 16,-62-43-1,-86 0-15,1 0 16,-21 0 0,-43-21 15,21 21 0,0-21-31,1 0 16,20 22-1,22 20 1,-22 0 0,1-21-1,-43 1 1,21-1 0,-42 21-1,43-42 1,-43 21-1,0 22 1</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3:46.24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4339 13652 0,'64'0'235,"41"22"-235,-41-1 15,42 0-15,-22 0 16,-20-21-16,169 21 31,381 149 0,-255-86 1,-126-84-1,-212 0-31,149 0 31,-107 0-15,-42 0-1</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5:19.97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5059 11811 0,'148'0'250,"106"0"-250,-42 0 15,84 0-15,-106 0 0,424 0 32,487 21-1,-106 21 0,-424-105 0,-486 42-15,-43 21-16,22-21 16,20 21-1,22 0 1,42 0 15,-63 21-15,127 42-1,-128-20 1,1-1 0,-64-42-1</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7:28.3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10647 13060 0,'21'0'266,"64"-21"-250,-1-1-16,-20 22 0,-22-21 15,0 21-15,43 0 31,0 0 1,-64 0 46,0 0-63,0 0 17,0 0-17,1 0 1,-1 0 0,21 0-1,-21 0 32</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7:30.24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13060 12975 0,'21'0'265,"42"21"-265,22-21 16,0 21-16,-1-21 16,-41 22-16,41-22 15,22 21 1,-63 0 15</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7:36.70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8699 12933 0,'22'0'266,"-1"0"-266,21 0 15,22 0-15,-22 0 16,21 0-16,86-21 16,20 21 31,-63 0-16,-64-22 0,0 22 0,-20 0 16,-1 0-31,0 0 15</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7:46.34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10795 12890 0,'42'0'250,"22"0"-234,20 0-16,-41 0 15,20 0-15,1 0 0,-43 0 16,42 0-16,-20 0 16,-22 0-16,106 0 15,63-21 32,86 0-16,-107 0 1,-63 21-1,-64 0-31,0 0 16,22 0-1,84 42 1,-42-42-1,21 21 1,-42 1 0,20-1-1,-62 0 17,20-21-32,-20 0 15,20 21 1,1-21-1,-1 0 1,1-21 0,-22 21-1,-21 0 1,21 0 0,-20 0 15</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7:53.66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12827 13991 0</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6T17:58:22.22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9758 16023 0,'-21'0'265,"-64"0"-249,21 0-16,-20 0 0,-86 0 16,1 0-16,42-21 15,-42 21-15,84 0 16,-84-21-16,-1 21 0,-274-21 31,42-22 0,232 43 1,65 21-1,83-21-31,1 0 31,21 22-15,-21-22-1,42 0 173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9038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Marcador de notas 2"/>
          <p:cNvSpPr>
            <a:spLocks noGrp="1"/>
          </p:cNvSpPr>
          <p:nvPr>
            <p:ph type="body" idx="1"/>
          </p:nvPr>
        </p:nvSpPr>
        <p:spPr>
          <a:xfrm>
            <a:off x="822325" y="7040563"/>
            <a:ext cx="6584950" cy="5761037"/>
          </a:xfrm>
          <a:prstGeom prst="rect">
            <a:avLst/>
          </a:prstGeom>
        </p:spPr>
        <p:txBody>
          <a:bodyPr/>
          <a:lstStyle/>
          <a:p>
            <a:endParaRPr lang="es-GT" dirty="0"/>
          </a:p>
        </p:txBody>
      </p:sp>
    </p:spTree>
    <p:extLst>
      <p:ext uri="{BB962C8B-B14F-4D97-AF65-F5344CB8AC3E}">
        <p14:creationId xmlns:p14="http://schemas.microsoft.com/office/powerpoint/2010/main" val="1541979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2964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3779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54720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1046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27742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5830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901335" y="962758"/>
            <a:ext cx="10364488" cy="3049717"/>
          </a:xfrm>
        </p:spPr>
        <p:txBody>
          <a:bodyPr bIns="0" anchor="b">
            <a:normAutofit/>
          </a:bodyPr>
          <a:lstStyle>
            <a:lvl1pPr algn="l">
              <a:defRPr sz="792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901336" y="4237446"/>
            <a:ext cx="10364486" cy="1173145"/>
          </a:xfrm>
        </p:spPr>
        <p:txBody>
          <a:bodyPr tIns="91440" bIns="91440">
            <a:normAutofit/>
          </a:bodyPr>
          <a:lstStyle>
            <a:lvl1pPr marL="0" indent="0" algn="l">
              <a:buNone/>
              <a:defRPr sz="2160" b="0" cap="all" baseline="0">
                <a:solidFill>
                  <a:schemeClr val="tx1"/>
                </a:solidFill>
              </a:defRPr>
            </a:lvl1pPr>
            <a:lvl2pPr marL="548640" indent="0" algn="ctr">
              <a:buNone/>
              <a:defRPr sz="216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CCC8A7D-1997-4D06-B48B-3C00FFF29654}" type="datetimeFigureOut">
              <a:rPr lang="es-GT" smtClean="0"/>
              <a:t>16/03/2024</a:t>
            </a:fld>
            <a:endParaRPr lang="es-GT"/>
          </a:p>
        </p:txBody>
      </p:sp>
      <p:sp>
        <p:nvSpPr>
          <p:cNvPr id="5" name="Footer Placeholder 4"/>
          <p:cNvSpPr>
            <a:spLocks noGrp="1"/>
          </p:cNvSpPr>
          <p:nvPr>
            <p:ph type="ftr" sz="quarter" idx="11"/>
          </p:nvPr>
        </p:nvSpPr>
        <p:spPr>
          <a:xfrm>
            <a:off x="2899801" y="395169"/>
            <a:ext cx="5968698" cy="371041"/>
          </a:xfrm>
        </p:spPr>
        <p:txBody>
          <a:bodyPr/>
          <a:lstStyle/>
          <a:p>
            <a:endParaRPr lang="es-GT"/>
          </a:p>
        </p:txBody>
      </p:sp>
      <p:sp>
        <p:nvSpPr>
          <p:cNvPr id="6" name="Slide Number Placeholder 5"/>
          <p:cNvSpPr>
            <a:spLocks noGrp="1"/>
          </p:cNvSpPr>
          <p:nvPr>
            <p:ph type="sldNum" sz="quarter" idx="12"/>
          </p:nvPr>
        </p:nvSpPr>
        <p:spPr>
          <a:xfrm>
            <a:off x="1725197" y="958767"/>
            <a:ext cx="973223" cy="604294"/>
          </a:xfrm>
        </p:spPr>
        <p:txBody>
          <a:bodyPr/>
          <a:lstStyle/>
          <a:p>
            <a:fld id="{605CBD84-66F4-4180-A568-ABF01F768815}" type="slidenum">
              <a:rPr lang="es-GT" smtClean="0"/>
              <a:t>‹Nº›</a:t>
            </a:fld>
            <a:endParaRPr lang="es-GT"/>
          </a:p>
        </p:txBody>
      </p:sp>
      <p:cxnSp>
        <p:nvCxnSpPr>
          <p:cNvPr id="15" name="Straight Connector 14"/>
          <p:cNvCxnSpPr/>
          <p:nvPr/>
        </p:nvCxnSpPr>
        <p:spPr>
          <a:xfrm>
            <a:off x="2901336" y="4234250"/>
            <a:ext cx="10364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1387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33" name="Straight Connector 32"/>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55904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45087" y="2107356"/>
            <a:ext cx="10371785" cy="2265540"/>
          </a:xfrm>
        </p:spPr>
        <p:txBody>
          <a:bodyPr anchor="b">
            <a:normAutofit/>
          </a:bodyPr>
          <a:lstStyle>
            <a:lvl1pPr algn="l">
              <a:defRPr sz="432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45087" y="4567435"/>
            <a:ext cx="10356535" cy="1215515"/>
          </a:xfrm>
        </p:spPr>
        <p:txBody>
          <a:bodyPr tIns="91440">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3/16/2024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1745087" y="4565982"/>
            <a:ext cx="103565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157451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739061" y="965867"/>
            <a:ext cx="11526762" cy="1271166"/>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736797" y="2413054"/>
            <a:ext cx="5574182" cy="41383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96525" y="2420812"/>
            <a:ext cx="5574182" cy="412982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5" name="Straight Connector 3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6897868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736630" y="964996"/>
            <a:ext cx="11529193" cy="126758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736629" y="2423459"/>
            <a:ext cx="5574182" cy="962332"/>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4" name="Content Placeholder 3"/>
          <p:cNvSpPr>
            <a:spLocks noGrp="1"/>
          </p:cNvSpPr>
          <p:nvPr>
            <p:ph sz="half" idx="2"/>
          </p:nvPr>
        </p:nvSpPr>
        <p:spPr>
          <a:xfrm>
            <a:off x="1736629" y="3389124"/>
            <a:ext cx="5574182" cy="317334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94835" y="2427604"/>
            <a:ext cx="5574182" cy="962684"/>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6" name="Content Placeholder 5"/>
          <p:cNvSpPr>
            <a:spLocks noGrp="1"/>
          </p:cNvSpPr>
          <p:nvPr>
            <p:ph sz="quarter" idx="4"/>
          </p:nvPr>
        </p:nvSpPr>
        <p:spPr>
          <a:xfrm>
            <a:off x="7694835" y="3385790"/>
            <a:ext cx="5574182" cy="316484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cxnSp>
        <p:nvCxnSpPr>
          <p:cNvPr id="29" name="Straight Connector 28"/>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33068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cxnSp>
        <p:nvCxnSpPr>
          <p:cNvPr id="25" name="Straight Connector 2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20611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extLst>
      <p:ext uri="{BB962C8B-B14F-4D97-AF65-F5344CB8AC3E}">
        <p14:creationId xmlns:p14="http://schemas.microsoft.com/office/powerpoint/2010/main" val="165206081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733606" y="958768"/>
            <a:ext cx="3927719" cy="2696540"/>
          </a:xfrm>
        </p:spPr>
        <p:txBody>
          <a:bodyPr anchor="b">
            <a:normAutofit/>
          </a:bodyPr>
          <a:lstStyle>
            <a:lvl1pPr algn="l">
              <a:defRPr sz="288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052457" y="958769"/>
            <a:ext cx="7214964" cy="5590591"/>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733606" y="3846590"/>
            <a:ext cx="3930016" cy="2697817"/>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17" name="Straight Connector 16"/>
          <p:cNvCxnSpPr/>
          <p:nvPr/>
        </p:nvCxnSpPr>
        <p:spPr>
          <a:xfrm>
            <a:off x="1737936" y="3846589"/>
            <a:ext cx="392338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12772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8972865" y="578605"/>
            <a:ext cx="4889440" cy="617892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741447" y="1355416"/>
            <a:ext cx="6638794" cy="2196701"/>
          </a:xfrm>
        </p:spPr>
        <p:txBody>
          <a:bodyPr anchor="b">
            <a:normAutofit/>
          </a:bodyPr>
          <a:lstStyle>
            <a:lvl1pPr>
              <a:defRPr sz="384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749268" y="1347051"/>
            <a:ext cx="3349405" cy="4639592"/>
          </a:xfrm>
          <a:solidFill>
            <a:schemeClr val="bg1">
              <a:lumMod val="85000"/>
            </a:schemeClr>
          </a:solidFill>
          <a:ln w="9525" cap="sq">
            <a:noFill/>
            <a:miter lim="800000"/>
          </a:ln>
          <a:effectLst/>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740395" y="3775191"/>
            <a:ext cx="6629285" cy="2404490"/>
          </a:xfrm>
        </p:spPr>
        <p:txBody>
          <a:bodyPr>
            <a:normAutofit/>
          </a:bodyPr>
          <a:lstStyle>
            <a:lvl1pPr marL="0" indent="0" algn="l">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ES"/>
              <a:t>Haga clic para modificar los estilos de texto del patrón</a:t>
            </a:r>
          </a:p>
        </p:txBody>
      </p:sp>
      <p:sp>
        <p:nvSpPr>
          <p:cNvPr id="5" name="Date Placeholder 4"/>
          <p:cNvSpPr>
            <a:spLocks noGrp="1"/>
          </p:cNvSpPr>
          <p:nvPr>
            <p:ph type="dt" sz="half" idx="10"/>
          </p:nvPr>
        </p:nvSpPr>
        <p:spPr>
          <a:xfrm>
            <a:off x="1736859" y="6563828"/>
            <a:ext cx="6632821" cy="384148"/>
          </a:xfrm>
        </p:spPr>
        <p:txBody>
          <a:bodyPr/>
          <a:lstStyle>
            <a:lvl1pPr algn="l">
              <a:defRPr/>
            </a:lvl1pPr>
          </a:lstStyle>
          <a:p>
            <a:fld id="{48A87A34-81AB-432B-8DAE-1953F412C126}" type="datetimeFigureOut">
              <a:rPr lang="en-US" dirty="0"/>
              <a:pPr/>
              <a:t>3/16/2024</a:t>
            </a:fld>
            <a:endParaRPr lang="en-US" dirty="0"/>
          </a:p>
        </p:txBody>
      </p:sp>
      <p:sp>
        <p:nvSpPr>
          <p:cNvPr id="6" name="Footer Placeholder 5"/>
          <p:cNvSpPr>
            <a:spLocks noGrp="1"/>
          </p:cNvSpPr>
          <p:nvPr>
            <p:ph type="ftr" sz="quarter" idx="11"/>
          </p:nvPr>
        </p:nvSpPr>
        <p:spPr>
          <a:xfrm>
            <a:off x="1736858" y="382369"/>
            <a:ext cx="6649205" cy="385117"/>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1" name="Straight Connector 30"/>
          <p:cNvCxnSpPr/>
          <p:nvPr/>
        </p:nvCxnSpPr>
        <p:spPr>
          <a:xfrm>
            <a:off x="1736859" y="3772326"/>
            <a:ext cx="663282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5942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26" name="Straight Connector 25"/>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20549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26933" y="958768"/>
            <a:ext cx="1938890" cy="5591867"/>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733606" y="958768"/>
            <a:ext cx="9394596" cy="559186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11326933" y="958768"/>
            <a:ext cx="0" cy="559186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18278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68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423372"/>
            <a:ext cx="14630400" cy="49271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7351776"/>
            <a:ext cx="14630400" cy="891540"/>
          </a:xfrm>
          <a:prstGeom prst="rect">
            <a:avLst/>
          </a:prstGeom>
        </p:spPr>
      </p:pic>
      <p:sp>
        <p:nvSpPr>
          <p:cNvPr id="2" name="Title Placeholder 1"/>
          <p:cNvSpPr>
            <a:spLocks noGrp="1"/>
          </p:cNvSpPr>
          <p:nvPr>
            <p:ph type="title"/>
          </p:nvPr>
        </p:nvSpPr>
        <p:spPr>
          <a:xfrm>
            <a:off x="1741895" y="965423"/>
            <a:ext cx="11523930" cy="125908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741895" y="2418879"/>
            <a:ext cx="11523930" cy="41407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064966" y="396445"/>
            <a:ext cx="4200858" cy="371041"/>
          </a:xfrm>
          <a:prstGeom prst="rect">
            <a:avLst/>
          </a:prstGeom>
        </p:spPr>
        <p:txBody>
          <a:bodyPr vert="horz" lIns="91440" tIns="45720" rIns="91440" bIns="45720" rtlCol="0" anchor="ctr"/>
          <a:lstStyle>
            <a:lvl1pPr algn="r">
              <a:defRPr sz="1200">
                <a:solidFill>
                  <a:schemeClr val="tx1">
                    <a:tint val="75000"/>
                  </a:schemeClr>
                </a:solidFill>
              </a:defRPr>
            </a:lvl1pPr>
          </a:lstStyle>
          <a:p>
            <a:fld id="{48A87A34-81AB-432B-8DAE-1953F412C126}" type="datetimeFigureOut">
              <a:rPr lang="en-US" dirty="0"/>
              <a:pPr/>
              <a:t>3/16/2024</a:t>
            </a:fld>
            <a:endParaRPr lang="en-US" dirty="0"/>
          </a:p>
        </p:txBody>
      </p:sp>
      <p:sp>
        <p:nvSpPr>
          <p:cNvPr id="5" name="Footer Placeholder 4"/>
          <p:cNvSpPr>
            <a:spLocks noGrp="1"/>
          </p:cNvSpPr>
          <p:nvPr>
            <p:ph type="ftr" sz="quarter" idx="3"/>
          </p:nvPr>
        </p:nvSpPr>
        <p:spPr>
          <a:xfrm>
            <a:off x="1741895" y="395169"/>
            <a:ext cx="7126603" cy="371041"/>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76073" y="958767"/>
            <a:ext cx="973223" cy="604294"/>
          </a:xfrm>
          <a:prstGeom prst="rect">
            <a:avLst/>
          </a:prstGeom>
        </p:spPr>
        <p:txBody>
          <a:bodyPr vert="horz" lIns="91440" tIns="45720" rIns="91440" bIns="45720" rtlCol="0" anchor="t"/>
          <a:lstStyle>
            <a:lvl1pPr algn="r">
              <a:defRPr sz="3360">
                <a:solidFill>
                  <a:schemeClr val="accent1"/>
                </a:solidFill>
              </a:defRPr>
            </a:lvl1pPr>
          </a:lstStyle>
          <a:p>
            <a:fld id="{6D22F896-40B5-4ADD-8801-0D06FADFA095}" type="slidenum">
              <a:rPr lang="en-US" dirty="0"/>
              <a:pPr/>
              <a:t>‹Nº›</a:t>
            </a:fld>
            <a:endParaRPr lang="en-US" dirty="0"/>
          </a:p>
        </p:txBody>
      </p:sp>
      <p:cxnSp>
        <p:nvCxnSpPr>
          <p:cNvPr id="10" name="Straight Connector 9"/>
          <p:cNvCxnSpPr/>
          <p:nvPr/>
        </p:nvCxnSpPr>
        <p:spPr>
          <a:xfrm>
            <a:off x="0" y="7354096"/>
            <a:ext cx="146304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855022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1097280" rtl="0" eaLnBrk="1" latinLnBrk="0" hangingPunct="1">
        <a:lnSpc>
          <a:spcPct val="90000"/>
        </a:lnSpc>
        <a:spcBef>
          <a:spcPct val="0"/>
        </a:spcBef>
        <a:buNone/>
        <a:defRPr sz="3840" b="0" i="0" kern="1200" cap="all">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2160" kern="1200" cap="none"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920" kern="120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680" kern="1200" cap="none"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ustomXml" Target="../ink/ink3.xml"/><Relationship Id="rId5" Type="http://schemas.openxmlformats.org/officeDocument/2006/relationships/image" Target="../media/image6.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customXml" Target="../ink/ink5.xm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customXml" Target="../ink/ink7.xml"/><Relationship Id="rId4" Type="http://schemas.openxmlformats.org/officeDocument/2006/relationships/customXml" Target="../ink/ink4.xml"/><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customXml" Target="../ink/ink8.xml"/></Relationships>
</file>

<file path=ppt/slides/_rels/slide8.xml.rels><?xml version="1.0" encoding="UTF-8" standalone="yes"?>
<Relationships xmlns="http://schemas.openxmlformats.org/package/2006/relationships"><Relationship Id="rId8" Type="http://schemas.openxmlformats.org/officeDocument/2006/relationships/customXml" Target="../ink/ink11.xml"/><Relationship Id="rId13"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4.png"/><Relationship Id="rId12" Type="http://schemas.openxmlformats.org/officeDocument/2006/relationships/customXml" Target="../ink/ink1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customXml" Target="../ink/ink10.xml"/><Relationship Id="rId11" Type="http://schemas.openxmlformats.org/officeDocument/2006/relationships/image" Target="../media/image16.png"/><Relationship Id="rId5" Type="http://schemas.openxmlformats.org/officeDocument/2006/relationships/image" Target="../media/image13.png"/><Relationship Id="rId15" Type="http://schemas.openxmlformats.org/officeDocument/2006/relationships/image" Target="../media/image18.png"/><Relationship Id="rId10" Type="http://schemas.openxmlformats.org/officeDocument/2006/relationships/customXml" Target="../ink/ink12.xml"/><Relationship Id="rId4" Type="http://schemas.openxmlformats.org/officeDocument/2006/relationships/customXml" Target="../ink/ink9.xml"/><Relationship Id="rId9" Type="http://schemas.openxmlformats.org/officeDocument/2006/relationships/image" Target="../media/image15.png"/><Relationship Id="rId14" Type="http://schemas.openxmlformats.org/officeDocument/2006/relationships/customXml" Target="../ink/ink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7" name="Shape 3"/>
          <p:cNvSpPr/>
          <p:nvPr/>
        </p:nvSpPr>
        <p:spPr>
          <a:xfrm>
            <a:off x="6319599" y="6011466"/>
            <a:ext cx="355402" cy="355402"/>
          </a:xfrm>
          <a:prstGeom prst="roundRect">
            <a:avLst>
              <a:gd name="adj" fmla="val 25726039"/>
            </a:avLst>
          </a:prstGeom>
          <a:noFill/>
          <a:ln w="7620">
            <a:solidFill>
              <a:srgbClr val="FFFFFF"/>
            </a:solidFill>
            <a:prstDash val="solid"/>
          </a:ln>
        </p:spPr>
      </p:sp>
      <p:sp>
        <p:nvSpPr>
          <p:cNvPr id="9" name="Text 4"/>
          <p:cNvSpPr/>
          <p:nvPr/>
        </p:nvSpPr>
        <p:spPr>
          <a:xfrm>
            <a:off x="10326728" y="6813504"/>
            <a:ext cx="4513064" cy="388858"/>
          </a:xfrm>
          <a:prstGeom prst="rect">
            <a:avLst/>
          </a:prstGeom>
          <a:noFill/>
          <a:ln/>
        </p:spPr>
        <p:txBody>
          <a:bodyPr wrap="none" rtlCol="0" anchor="t"/>
          <a:lstStyle/>
          <a:p>
            <a:pPr marL="0" indent="0" algn="l">
              <a:lnSpc>
                <a:spcPts val="3062"/>
              </a:lnSpc>
              <a:buNone/>
            </a:pPr>
            <a:r>
              <a:rPr lang="en-US" sz="2187" b="1" dirty="0">
                <a:solidFill>
                  <a:srgbClr val="CAD6DE"/>
                </a:solidFill>
                <a:latin typeface="Cabin" pitchFamily="34" charset="0"/>
                <a:ea typeface="Cabin" pitchFamily="34" charset="-122"/>
                <a:cs typeface="Cabin" pitchFamily="34" charset="-120"/>
              </a:rPr>
              <a:t>by WALTER VINICIO GARCIA FLORES</a:t>
            </a:r>
            <a:endParaRPr lang="en-US" sz="2187" dirty="0"/>
          </a:p>
        </p:txBody>
      </p:sp>
      <p:pic>
        <p:nvPicPr>
          <p:cNvPr id="11" name="Picture 2" descr="SISTEMA LOGICO - logica">
            <a:extLst>
              <a:ext uri="{FF2B5EF4-FFF2-40B4-BE49-F238E27FC236}">
                <a16:creationId xmlns:a16="http://schemas.microsoft.com/office/drawing/2014/main" id="{4ED90D6F-EE2F-B837-7E3D-95B5C04E16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01" y="0"/>
            <a:ext cx="3841206" cy="2860859"/>
          </a:xfrm>
          <a:prstGeom prst="rect">
            <a:avLst/>
          </a:prstGeom>
          <a:noFill/>
          <a:extLst>
            <a:ext uri="{909E8E84-426E-40DD-AFC4-6F175D3DCCD1}">
              <a14:hiddenFill xmlns:a14="http://schemas.microsoft.com/office/drawing/2010/main">
                <a:solidFill>
                  <a:srgbClr val="FFFFFF"/>
                </a:solidFill>
              </a14:hiddenFill>
            </a:ext>
          </a:extLst>
        </p:spPr>
      </p:pic>
      <p:sp>
        <p:nvSpPr>
          <p:cNvPr id="12" name="Título 1">
            <a:extLst>
              <a:ext uri="{FF2B5EF4-FFF2-40B4-BE49-F238E27FC236}">
                <a16:creationId xmlns:a16="http://schemas.microsoft.com/office/drawing/2014/main" id="{EAFFDAE9-4E16-1717-182E-D876A2901E11}"/>
              </a:ext>
            </a:extLst>
          </p:cNvPr>
          <p:cNvSpPr txBox="1">
            <a:spLocks/>
          </p:cNvSpPr>
          <p:nvPr/>
        </p:nvSpPr>
        <p:spPr>
          <a:xfrm>
            <a:off x="4132081" y="3225715"/>
            <a:ext cx="6366238" cy="2907073"/>
          </a:xfr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GT" sz="4080" dirty="0">
                <a:solidFill>
                  <a:schemeClr val="bg1"/>
                </a:solidFill>
              </a:rPr>
              <a:t>Lógica de Sistemas</a:t>
            </a:r>
            <a:br>
              <a:rPr lang="es-GT" sz="4080" dirty="0">
                <a:solidFill>
                  <a:schemeClr val="bg1"/>
                </a:solidFill>
              </a:rPr>
            </a:br>
            <a:br>
              <a:rPr lang="es-GT" sz="4080" dirty="0">
                <a:solidFill>
                  <a:schemeClr val="bg1"/>
                </a:solidFill>
              </a:rPr>
            </a:br>
            <a:r>
              <a:rPr lang="es-GT" sz="4080" dirty="0">
                <a:solidFill>
                  <a:schemeClr val="bg1"/>
                </a:solidFill>
              </a:rPr>
              <a:t>Clase 6</a:t>
            </a:r>
            <a:br>
              <a:rPr lang="es-GT" sz="4080" dirty="0">
                <a:solidFill>
                  <a:schemeClr val="bg1"/>
                </a:solidFill>
              </a:rPr>
            </a:br>
            <a:endParaRPr lang="es-GT" sz="408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B15A24-077E-F328-E915-0EB4EF5D0B8F}"/>
              </a:ext>
            </a:extLst>
          </p:cNvPr>
          <p:cNvSpPr>
            <a:spLocks noGrp="1"/>
          </p:cNvSpPr>
          <p:nvPr>
            <p:ph type="ctrTitle"/>
          </p:nvPr>
        </p:nvSpPr>
        <p:spPr>
          <a:xfrm>
            <a:off x="2671770" y="774117"/>
            <a:ext cx="8841720" cy="1007454"/>
          </a:xfrm>
        </p:spPr>
        <p:txBody>
          <a:bodyPr anchor="b">
            <a:normAutofit/>
          </a:bodyPr>
          <a:lstStyle/>
          <a:p>
            <a:pPr algn="ctr"/>
            <a:r>
              <a:rPr lang="es-GT" sz="5760" dirty="0"/>
              <a:t>Temas</a:t>
            </a:r>
          </a:p>
        </p:txBody>
      </p:sp>
      <p:sp>
        <p:nvSpPr>
          <p:cNvPr id="4" name="Rectángulo 3">
            <a:extLst>
              <a:ext uri="{FF2B5EF4-FFF2-40B4-BE49-F238E27FC236}">
                <a16:creationId xmlns:a16="http://schemas.microsoft.com/office/drawing/2014/main" id="{97C277FF-FCEB-042B-6FC1-E5C80F4AD6C1}"/>
              </a:ext>
            </a:extLst>
          </p:cNvPr>
          <p:cNvSpPr/>
          <p:nvPr/>
        </p:nvSpPr>
        <p:spPr>
          <a:xfrm>
            <a:off x="3221743" y="3184016"/>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Resistencias</a:t>
            </a:r>
          </a:p>
        </p:txBody>
      </p:sp>
      <p:sp>
        <p:nvSpPr>
          <p:cNvPr id="10" name="Subtítulo 2">
            <a:extLst>
              <a:ext uri="{FF2B5EF4-FFF2-40B4-BE49-F238E27FC236}">
                <a16:creationId xmlns:a16="http://schemas.microsoft.com/office/drawing/2014/main" id="{3578AC15-1F1C-F636-98E1-BB029B7AB45E}"/>
              </a:ext>
            </a:extLst>
          </p:cNvPr>
          <p:cNvSpPr txBox="1">
            <a:spLocks/>
          </p:cNvSpPr>
          <p:nvPr/>
        </p:nvSpPr>
        <p:spPr>
          <a:xfrm>
            <a:off x="11513490" y="7312326"/>
            <a:ext cx="2603249" cy="562522"/>
          </a:xfrm>
          <a:prstGeom prst="rect">
            <a:avLst/>
          </a:prstGeom>
        </p:spPr>
        <p:txBody>
          <a:bodyPr vert="horz" lIns="109728" tIns="109728" rIns="109728" bIns="109728" rtlCol="0">
            <a:normAutofit lnSpcReduction="10000"/>
          </a:bodyPr>
          <a:lstStyle>
            <a:lvl1pPr marL="0" indent="0" algn="l" defTabSz="914400" rtl="0" eaLnBrk="1" latinLnBrk="0" hangingPunct="1">
              <a:lnSpc>
                <a:spcPct val="120000"/>
              </a:lnSpc>
              <a:spcBef>
                <a:spcPts val="1000"/>
              </a:spcBef>
              <a:buClr>
                <a:schemeClr val="accent1"/>
              </a:buClr>
              <a:buSzPct val="100000"/>
              <a:buFont typeface="Arial" panose="020B0604020202020204" pitchFamily="34" charset="0"/>
              <a:buNone/>
              <a:defRPr sz="1800" b="0" kern="1200">
                <a:solidFill>
                  <a:schemeClr val="tx1"/>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cap="none"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cap="none"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9pPr>
          </a:lstStyle>
          <a:p>
            <a:r>
              <a:rPr lang="es-GT" sz="2160" b="1" dirty="0">
                <a:solidFill>
                  <a:schemeClr val="bg1"/>
                </a:solidFill>
              </a:rPr>
              <a:t>Ing. Walter García</a:t>
            </a:r>
          </a:p>
        </p:txBody>
      </p:sp>
      <p:sp>
        <p:nvSpPr>
          <p:cNvPr id="9" name="Rectángulo 3">
            <a:extLst>
              <a:ext uri="{FF2B5EF4-FFF2-40B4-BE49-F238E27FC236}">
                <a16:creationId xmlns:a16="http://schemas.microsoft.com/office/drawing/2014/main" id="{97C277FF-FCEB-042B-6FC1-E5C80F4AD6C1}"/>
              </a:ext>
            </a:extLst>
          </p:cNvPr>
          <p:cNvSpPr/>
          <p:nvPr/>
        </p:nvSpPr>
        <p:spPr>
          <a:xfrm>
            <a:off x="6193543" y="3184016"/>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Ley de ohm</a:t>
            </a:r>
          </a:p>
        </p:txBody>
      </p:sp>
      <p:sp>
        <p:nvSpPr>
          <p:cNvPr id="3" name="Rectángulo 2">
            <a:extLst>
              <a:ext uri="{FF2B5EF4-FFF2-40B4-BE49-F238E27FC236}">
                <a16:creationId xmlns:a16="http://schemas.microsoft.com/office/drawing/2014/main" id="{48887511-0C93-7AED-4046-3B48A1382330}"/>
              </a:ext>
            </a:extLst>
          </p:cNvPr>
          <p:cNvSpPr/>
          <p:nvPr/>
        </p:nvSpPr>
        <p:spPr>
          <a:xfrm>
            <a:off x="6193543" y="4849721"/>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Hoja de trabajo</a:t>
            </a:r>
          </a:p>
        </p:txBody>
      </p:sp>
      <p:sp>
        <p:nvSpPr>
          <p:cNvPr id="6" name="Rectángulo 5">
            <a:extLst>
              <a:ext uri="{FF2B5EF4-FFF2-40B4-BE49-F238E27FC236}">
                <a16:creationId xmlns:a16="http://schemas.microsoft.com/office/drawing/2014/main" id="{A91F5B95-AEC9-E54B-E9F8-0EBF6BCC860E}"/>
              </a:ext>
            </a:extLst>
          </p:cNvPr>
          <p:cNvSpPr/>
          <p:nvPr/>
        </p:nvSpPr>
        <p:spPr>
          <a:xfrm>
            <a:off x="9354754" y="3184016"/>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Seguimiento Proyecto</a:t>
            </a:r>
          </a:p>
        </p:txBody>
      </p:sp>
    </p:spTree>
    <p:extLst>
      <p:ext uri="{BB962C8B-B14F-4D97-AF65-F5344CB8AC3E}">
        <p14:creationId xmlns:p14="http://schemas.microsoft.com/office/powerpoint/2010/main" val="28626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4121527" y="713013"/>
            <a:ext cx="7354387" cy="958453"/>
          </a:xfrm>
          <a:prstGeom prst="rect">
            <a:avLst/>
          </a:prstGeom>
          <a:noFill/>
          <a:ln/>
        </p:spPr>
        <p:txBody>
          <a:bodyPr wrap="square" rtlCol="0" anchor="t"/>
          <a:lstStyle/>
          <a:p>
            <a:pPr marL="0" indent="0">
              <a:lnSpc>
                <a:spcPts val="6561"/>
              </a:lnSpc>
              <a:buNone/>
            </a:pPr>
            <a:r>
              <a:rPr lang="en-US" sz="5249" dirty="0">
                <a:solidFill>
                  <a:srgbClr val="FFFFFF"/>
                </a:solidFill>
                <a:latin typeface="Unbounded" pitchFamily="34" charset="0"/>
                <a:ea typeface="Unbounded" pitchFamily="34" charset="-122"/>
              </a:rPr>
              <a:t>Que es </a:t>
            </a:r>
            <a:r>
              <a:rPr lang="en-US" sz="5249" dirty="0" err="1">
                <a:solidFill>
                  <a:srgbClr val="FFFFFF"/>
                </a:solidFill>
                <a:latin typeface="Unbounded" pitchFamily="34" charset="0"/>
                <a:ea typeface="Unbounded" pitchFamily="34" charset="-122"/>
              </a:rPr>
              <a:t>una</a:t>
            </a:r>
            <a:r>
              <a:rPr lang="en-US" sz="5249" dirty="0">
                <a:solidFill>
                  <a:srgbClr val="FFFFFF"/>
                </a:solidFill>
                <a:latin typeface="Unbounded" pitchFamily="34" charset="0"/>
                <a:ea typeface="Unbounded" pitchFamily="34" charset="-122"/>
              </a:rPr>
              <a:t> </a:t>
            </a:r>
            <a:r>
              <a:rPr lang="en-US" sz="5249" dirty="0" err="1">
                <a:solidFill>
                  <a:srgbClr val="FFFFFF"/>
                </a:solidFill>
                <a:latin typeface="Unbounded" pitchFamily="34" charset="0"/>
                <a:ea typeface="Unbounded" pitchFamily="34" charset="-122"/>
              </a:rPr>
              <a:t>resistencia</a:t>
            </a:r>
            <a:endParaRPr lang="en-US" sz="5249" dirty="0"/>
          </a:p>
        </p:txBody>
      </p:sp>
      <p:sp>
        <p:nvSpPr>
          <p:cNvPr id="6" name="Text 2"/>
          <p:cNvSpPr/>
          <p:nvPr/>
        </p:nvSpPr>
        <p:spPr>
          <a:xfrm>
            <a:off x="2410980" y="2154613"/>
            <a:ext cx="9625560" cy="1855113"/>
          </a:xfrm>
          <a:prstGeom prst="rect">
            <a:avLst/>
          </a:prstGeom>
          <a:noFill/>
          <a:ln/>
        </p:spPr>
        <p:txBody>
          <a:bodyPr wrap="square" rtlCol="0" anchor="t"/>
          <a:lstStyle/>
          <a:p>
            <a:pPr marL="0" indent="0" algn="just">
              <a:lnSpc>
                <a:spcPts val="2799"/>
              </a:lnSpc>
              <a:buNone/>
            </a:pPr>
            <a:r>
              <a:rPr lang="es-ES" sz="2800" dirty="0">
                <a:solidFill>
                  <a:schemeClr val="bg1"/>
                </a:solidFill>
                <a:latin typeface="Arial" panose="020B0604020202020204" pitchFamily="34" charset="0"/>
                <a:cs typeface="Arial" panose="020B0604020202020204" pitchFamily="34" charset="0"/>
              </a:rPr>
              <a:t>En el contexto de la ingeniería eléctrica y electrónica, una resistencia se refiere a un componente pasivo diseñado para oponerse al flujo de corriente eléctrica en un circuito. Su función principal es limitar la cantidad de corriente que fluye a través de un circuito y controlar la cantidad de energía eléctrica disipada en forma de calor.</a:t>
            </a:r>
          </a:p>
          <a:p>
            <a:pPr marL="0" indent="0" algn="just">
              <a:lnSpc>
                <a:spcPts val="2799"/>
              </a:lnSpc>
              <a:buNone/>
            </a:pPr>
            <a:endParaRPr lang="es-ES" sz="2800" dirty="0">
              <a:solidFill>
                <a:schemeClr val="bg1"/>
              </a:solidFill>
              <a:latin typeface="Arial" panose="020B0604020202020204" pitchFamily="34" charset="0"/>
              <a:cs typeface="Arial" panose="020B0604020202020204" pitchFamily="34" charset="0"/>
            </a:endParaRPr>
          </a:p>
          <a:p>
            <a:pPr marL="0" indent="0" algn="just">
              <a:lnSpc>
                <a:spcPts val="2799"/>
              </a:lnSpc>
              <a:buNone/>
            </a:pPr>
            <a:r>
              <a:rPr lang="es-ES" sz="2800" dirty="0">
                <a:solidFill>
                  <a:schemeClr val="bg1"/>
                </a:solidFill>
                <a:latin typeface="Arial" panose="020B0604020202020204" pitchFamily="34" charset="0"/>
                <a:cs typeface="Arial" panose="020B0604020202020204" pitchFamily="34" charset="0"/>
              </a:rPr>
              <a:t>Una resistencia se representa mediante un símbolo especial, que generalmente consiste en un rectángulo con una línea ondulada en su interior. Está compuesta por un material resistivo, como el carbono o el metal, con terminales en ambos extremos para conectarse al circuito.</a:t>
            </a:r>
            <a:endParaRPr lang="en-US" sz="2800" dirty="0">
              <a:solidFill>
                <a:schemeClr val="bg1"/>
              </a:solidFill>
              <a:latin typeface="Arial" panose="020B0604020202020204" pitchFamily="34" charset="0"/>
              <a:cs typeface="Arial" panose="020B0604020202020204" pitchFamily="34" charset="0"/>
            </a:endParaRPr>
          </a:p>
        </p:txBody>
      </p:sp>
      <p:sp>
        <p:nvSpPr>
          <p:cNvPr id="7" name="Shape 3"/>
          <p:cNvSpPr/>
          <p:nvPr/>
        </p:nvSpPr>
        <p:spPr>
          <a:xfrm>
            <a:off x="6319599" y="6011466"/>
            <a:ext cx="355402" cy="355402"/>
          </a:xfrm>
          <a:prstGeom prst="roundRect">
            <a:avLst>
              <a:gd name="adj" fmla="val 25726039"/>
            </a:avLst>
          </a:prstGeom>
          <a:noFill/>
          <a:ln w="7620">
            <a:solidFill>
              <a:srgbClr val="FFFFFF"/>
            </a:solidFill>
            <a:prstDash val="solid"/>
          </a:ln>
        </p:spPr>
      </p:sp>
      <p:pic>
        <p:nvPicPr>
          <p:cNvPr id="8" name="Image 2" descr="preencoded.png"/>
          <p:cNvPicPr>
            <a:picLocks noChangeAspect="1"/>
          </p:cNvPicPr>
          <p:nvPr/>
        </p:nvPicPr>
        <p:blipFill>
          <a:blip r:embed="rId4"/>
          <a:stretch>
            <a:fillRect/>
          </a:stretch>
        </p:blipFill>
        <p:spPr>
          <a:xfrm>
            <a:off x="9522176" y="6975012"/>
            <a:ext cx="340162" cy="340162"/>
          </a:xfrm>
          <a:prstGeom prst="rect">
            <a:avLst/>
          </a:prstGeom>
        </p:spPr>
      </p:pic>
      <p:sp>
        <p:nvSpPr>
          <p:cNvPr id="9" name="Text 4"/>
          <p:cNvSpPr/>
          <p:nvPr/>
        </p:nvSpPr>
        <p:spPr>
          <a:xfrm>
            <a:off x="10326728" y="6813504"/>
            <a:ext cx="4513064" cy="388858"/>
          </a:xfrm>
          <a:prstGeom prst="rect">
            <a:avLst/>
          </a:prstGeom>
          <a:noFill/>
          <a:ln/>
        </p:spPr>
        <p:txBody>
          <a:bodyPr wrap="none" rtlCol="0" anchor="t"/>
          <a:lstStyle/>
          <a:p>
            <a:pPr marL="0" indent="0" algn="l">
              <a:lnSpc>
                <a:spcPts val="3062"/>
              </a:lnSpc>
              <a:buNone/>
            </a:pPr>
            <a:r>
              <a:rPr lang="en-US" sz="2187" b="1" dirty="0">
                <a:solidFill>
                  <a:srgbClr val="CAD6DE"/>
                </a:solidFill>
                <a:latin typeface="Cabin" pitchFamily="34" charset="0"/>
                <a:ea typeface="Cabin" pitchFamily="34" charset="-122"/>
                <a:cs typeface="Cabin" pitchFamily="34" charset="-120"/>
              </a:rPr>
              <a:t>by WALTER VINICIO GARCIA FLORES</a:t>
            </a:r>
            <a:endParaRPr lang="en-US" sz="2187" dirty="0"/>
          </a:p>
        </p:txBody>
      </p:sp>
    </p:spTree>
    <p:extLst>
      <p:ext uri="{BB962C8B-B14F-4D97-AF65-F5344CB8AC3E}">
        <p14:creationId xmlns:p14="http://schemas.microsoft.com/office/powerpoint/2010/main" val="1237235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1" y="0"/>
            <a:ext cx="14630400" cy="8229600"/>
          </a:xfrm>
          <a:prstGeom prst="rect">
            <a:avLst/>
          </a:prstGeom>
          <a:solidFill>
            <a:srgbClr val="112836"/>
          </a:solidFill>
          <a:ln/>
        </p:spPr>
      </p:sp>
      <p:sp>
        <p:nvSpPr>
          <p:cNvPr id="5" name="Text 1"/>
          <p:cNvSpPr/>
          <p:nvPr/>
        </p:nvSpPr>
        <p:spPr>
          <a:xfrm>
            <a:off x="4717018" y="356371"/>
            <a:ext cx="6673793" cy="592591"/>
          </a:xfrm>
          <a:prstGeom prst="rect">
            <a:avLst/>
          </a:prstGeom>
          <a:noFill/>
          <a:ln/>
        </p:spPr>
        <p:txBody>
          <a:bodyPr wrap="square" rtlCol="0" anchor="t"/>
          <a:lstStyle/>
          <a:p>
            <a:pPr marL="0" indent="0">
              <a:lnSpc>
                <a:spcPts val="5468"/>
              </a:lnSpc>
              <a:buNone/>
            </a:pPr>
            <a:r>
              <a:rPr lang="en-US" sz="4374" dirty="0">
                <a:solidFill>
                  <a:srgbClr val="FFFFFF"/>
                </a:solidFill>
                <a:latin typeface="Unbounded" pitchFamily="34" charset="0"/>
                <a:ea typeface="Unbounded" pitchFamily="34" charset="-122"/>
              </a:rPr>
              <a:t>Que es </a:t>
            </a:r>
            <a:r>
              <a:rPr lang="en-US" sz="4374" dirty="0" err="1">
                <a:solidFill>
                  <a:srgbClr val="FFFFFF"/>
                </a:solidFill>
                <a:latin typeface="Unbounded" pitchFamily="34" charset="0"/>
                <a:ea typeface="Unbounded" pitchFamily="34" charset="-122"/>
              </a:rPr>
              <a:t>una</a:t>
            </a:r>
            <a:r>
              <a:rPr lang="en-US" sz="4374" dirty="0">
                <a:solidFill>
                  <a:srgbClr val="FFFFFF"/>
                </a:solidFill>
                <a:latin typeface="Unbounded" pitchFamily="34" charset="0"/>
                <a:ea typeface="Unbounded" pitchFamily="34" charset="-122"/>
              </a:rPr>
              <a:t> </a:t>
            </a:r>
            <a:r>
              <a:rPr lang="en-US" sz="4374" dirty="0" err="1">
                <a:solidFill>
                  <a:srgbClr val="FFFFFF"/>
                </a:solidFill>
                <a:latin typeface="Unbounded" pitchFamily="34" charset="0"/>
                <a:ea typeface="Unbounded" pitchFamily="34" charset="-122"/>
              </a:rPr>
              <a:t>resistencia</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480915" y="1698754"/>
            <a:ext cx="12109270" cy="4832092"/>
          </a:xfrm>
          <a:prstGeom prst="rect">
            <a:avLst/>
          </a:prstGeom>
          <a:noFill/>
        </p:spPr>
        <p:txBody>
          <a:bodyPr wrap="square" rtlCol="0">
            <a:spAutoFit/>
          </a:bodyPr>
          <a:lstStyle/>
          <a:p>
            <a:pPr algn="just"/>
            <a:r>
              <a:rPr lang="es-ES" sz="2200" dirty="0">
                <a:solidFill>
                  <a:schemeClr val="bg1"/>
                </a:solidFill>
                <a:latin typeface="Arial" panose="020B0604020202020204" pitchFamily="34" charset="0"/>
                <a:cs typeface="Arial" panose="020B0604020202020204" pitchFamily="34" charset="0"/>
              </a:rPr>
              <a:t>La propiedad fundamental de una resistencia es su resistencia eléctrica, medida en ohmios (Ω).</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La resistencia se define como la oposición que presenta un material al flujo de corriente eléctrica. Cuanto mayor sea la resistencia, menor será la corriente que fluya en un circuito dado, de acuerdo con la Ley de Ohm (V = I * R), donde V representa la tensión aplicada, I representa la corriente y R es la resistencia.</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Las resistencias se utilizan en una amplia variedad de aplicaciones, como el control de corriente, la división de voltaje, la limitación de corriente en circuitos electrónicos, la protección de componentes sensibles, la generación de calor en dispositivos como calentadores, entre otros. También se utilizan en combinación con otros componentes para formar circuitos más complejos, como filtros, amplificadores y osciladores.</a:t>
            </a:r>
          </a:p>
          <a:p>
            <a:pPr algn="just"/>
            <a:endParaRPr lang="es-ES" sz="2200" dirty="0">
              <a:solidFill>
                <a:schemeClr val="bg1"/>
              </a:solidFill>
              <a:latin typeface="Arial" panose="020B0604020202020204" pitchFamily="34" charset="0"/>
              <a:cs typeface="Arial" panose="020B0604020202020204" pitchFamily="34" charset="0"/>
            </a:endParaRPr>
          </a:p>
          <a:p>
            <a:pPr algn="just"/>
            <a:endParaRPr lang="es-GT"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4" name="Entrada de lápiz 3">
                <a:extLst>
                  <a:ext uri="{FF2B5EF4-FFF2-40B4-BE49-F238E27FC236}">
                    <a16:creationId xmlns:a16="http://schemas.microsoft.com/office/drawing/2014/main" id="{ABD08E01-1B93-8DE7-58BD-C06183C9171C}"/>
                  </a:ext>
                </a:extLst>
              </p14:cNvPr>
              <p14:cNvContentPartPr/>
              <p14:nvPr/>
            </p14:nvContentPartPr>
            <p14:xfrm>
              <a:off x="5905440" y="3124080"/>
              <a:ext cx="2057760" cy="168120"/>
            </p14:xfrm>
          </p:contentPart>
        </mc:Choice>
        <mc:Fallback>
          <p:pic>
            <p:nvPicPr>
              <p:cNvPr id="4" name="Entrada de lápiz 3">
                <a:extLst>
                  <a:ext uri="{FF2B5EF4-FFF2-40B4-BE49-F238E27FC236}">
                    <a16:creationId xmlns:a16="http://schemas.microsoft.com/office/drawing/2014/main" id="{ABD08E01-1B93-8DE7-58BD-C06183C9171C}"/>
                  </a:ext>
                </a:extLst>
              </p:cNvPr>
              <p:cNvPicPr/>
              <p:nvPr/>
            </p:nvPicPr>
            <p:blipFill>
              <a:blip r:embed="rId5"/>
              <a:stretch>
                <a:fillRect/>
              </a:stretch>
            </p:blipFill>
            <p:spPr>
              <a:xfrm>
                <a:off x="5889600" y="3060720"/>
                <a:ext cx="2089080" cy="29484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5944263" y="236390"/>
            <a:ext cx="3643875" cy="592591"/>
          </a:xfrm>
          <a:prstGeom prst="rect">
            <a:avLst/>
          </a:prstGeom>
          <a:noFill/>
          <a:ln/>
        </p:spPr>
        <p:txBody>
          <a:bodyPr wrap="squar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Ley de ohm</a:t>
            </a:r>
          </a:p>
          <a:p>
            <a:pPr marL="0" indent="0">
              <a:lnSpc>
                <a:spcPts val="5468"/>
              </a:lnSpc>
              <a:buNone/>
            </a:pP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260565" y="1051415"/>
            <a:ext cx="12109270" cy="5509200"/>
          </a:xfrm>
          <a:prstGeom prst="rect">
            <a:avLst/>
          </a:prstGeom>
          <a:noFill/>
        </p:spPr>
        <p:txBody>
          <a:bodyPr wrap="square" rtlCol="0">
            <a:spAutoFit/>
          </a:bodyPr>
          <a:lstStyle/>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La Ley de Ohm es una ley fundamental en la física que establece la relación entre la corriente eléctrica, la tensión y la resistencia en un circuito eléctrico. Fue formulada por el físico alemán Georg </a:t>
            </a:r>
            <a:r>
              <a:rPr lang="es-ES" sz="2200" dirty="0" err="1">
                <a:solidFill>
                  <a:schemeClr val="bg1"/>
                </a:solidFill>
                <a:latin typeface="Arial" panose="020B0604020202020204" pitchFamily="34" charset="0"/>
                <a:cs typeface="Arial" panose="020B0604020202020204" pitchFamily="34" charset="0"/>
              </a:rPr>
              <a:t>Simon</a:t>
            </a:r>
            <a:r>
              <a:rPr lang="es-ES" sz="2200" dirty="0">
                <a:solidFill>
                  <a:schemeClr val="bg1"/>
                </a:solidFill>
                <a:latin typeface="Arial" panose="020B0604020202020204" pitchFamily="34" charset="0"/>
                <a:cs typeface="Arial" panose="020B0604020202020204" pitchFamily="34" charset="0"/>
              </a:rPr>
              <a:t> Ohm y se utiliza ampliamente en el estudio y diseño de circuitos eléctricos.</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La Ley de Ohm establece que la corriente (I) que fluye a través de un conductor es directamente proporcional a la tensión (V) aplicada e inversamente proporcional a la resistencia (R) del circuito. Esto se expresa mediante la siguiente ecuación:</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V = I * R</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Donde:</a:t>
            </a:r>
          </a:p>
          <a:p>
            <a:pPr algn="just"/>
            <a:endParaRPr lang="es-ES" sz="22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ES" sz="2200" dirty="0">
                <a:solidFill>
                  <a:schemeClr val="bg1"/>
                </a:solidFill>
                <a:latin typeface="Arial" panose="020B0604020202020204" pitchFamily="34" charset="0"/>
                <a:cs typeface="Arial" panose="020B0604020202020204" pitchFamily="34" charset="0"/>
              </a:rPr>
              <a:t>V es la tensión aplicada en voltios (V).</a:t>
            </a:r>
          </a:p>
          <a:p>
            <a:pPr marL="342900" indent="-342900" algn="just">
              <a:buFont typeface="Arial" panose="020B0604020202020204" pitchFamily="34" charset="0"/>
              <a:buChar char="•"/>
            </a:pPr>
            <a:r>
              <a:rPr lang="es-ES" sz="2200" dirty="0">
                <a:solidFill>
                  <a:schemeClr val="bg1"/>
                </a:solidFill>
                <a:latin typeface="Arial" panose="020B0604020202020204" pitchFamily="34" charset="0"/>
                <a:cs typeface="Arial" panose="020B0604020202020204" pitchFamily="34" charset="0"/>
              </a:rPr>
              <a:t>I es la corriente que fluye a través del circuito en amperios (A).</a:t>
            </a:r>
          </a:p>
          <a:p>
            <a:pPr marL="342900" indent="-342900" algn="just">
              <a:buFont typeface="Arial" panose="020B0604020202020204" pitchFamily="34" charset="0"/>
              <a:buChar char="•"/>
            </a:pPr>
            <a:r>
              <a:rPr lang="es-ES" sz="2200" dirty="0">
                <a:solidFill>
                  <a:schemeClr val="bg1"/>
                </a:solidFill>
                <a:latin typeface="Arial" panose="020B0604020202020204" pitchFamily="34" charset="0"/>
                <a:cs typeface="Arial" panose="020B0604020202020204" pitchFamily="34" charset="0"/>
              </a:rPr>
              <a:t>R es la resistencia del circuito en ohmios (Ω).</a:t>
            </a:r>
            <a:endParaRPr lang="es-GT"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4" name="Entrada de lápiz 3">
                <a:extLst>
                  <a:ext uri="{FF2B5EF4-FFF2-40B4-BE49-F238E27FC236}">
                    <a16:creationId xmlns:a16="http://schemas.microsoft.com/office/drawing/2014/main" id="{3C441BB5-757F-FEA4-A9A1-1E5D451054C4}"/>
                  </a:ext>
                </a:extLst>
              </p14:cNvPr>
              <p14:cNvContentPartPr/>
              <p14:nvPr/>
            </p14:nvContentPartPr>
            <p14:xfrm>
              <a:off x="6918840" y="6210360"/>
              <a:ext cx="495720" cy="167760"/>
            </p14:xfrm>
          </p:contentPart>
        </mc:Choice>
        <mc:Fallback>
          <p:pic>
            <p:nvPicPr>
              <p:cNvPr id="4" name="Entrada de lápiz 3">
                <a:extLst>
                  <a:ext uri="{FF2B5EF4-FFF2-40B4-BE49-F238E27FC236}">
                    <a16:creationId xmlns:a16="http://schemas.microsoft.com/office/drawing/2014/main" id="{3C441BB5-757F-FEA4-A9A1-1E5D451054C4}"/>
                  </a:ext>
                </a:extLst>
              </p:cNvPr>
              <p:cNvPicPr/>
              <p:nvPr/>
            </p:nvPicPr>
            <p:blipFill>
              <a:blip r:embed="rId5"/>
              <a:stretch>
                <a:fillRect/>
              </a:stretch>
            </p:blipFill>
            <p:spPr>
              <a:xfrm>
                <a:off x="6903000" y="6147000"/>
                <a:ext cx="52704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Entrada de lápiz 5">
                <a:extLst>
                  <a:ext uri="{FF2B5EF4-FFF2-40B4-BE49-F238E27FC236}">
                    <a16:creationId xmlns:a16="http://schemas.microsoft.com/office/drawing/2014/main" id="{BC95B5A0-A2B4-0BDE-861E-F24435B9D1C1}"/>
                  </a:ext>
                </a:extLst>
              </p14:cNvPr>
              <p14:cNvContentPartPr/>
              <p14:nvPr/>
            </p14:nvContentPartPr>
            <p14:xfrm>
              <a:off x="5996880" y="5585400"/>
              <a:ext cx="267120" cy="38520"/>
            </p14:xfrm>
          </p:contentPart>
        </mc:Choice>
        <mc:Fallback>
          <p:pic>
            <p:nvPicPr>
              <p:cNvPr id="6" name="Entrada de lápiz 5">
                <a:extLst>
                  <a:ext uri="{FF2B5EF4-FFF2-40B4-BE49-F238E27FC236}">
                    <a16:creationId xmlns:a16="http://schemas.microsoft.com/office/drawing/2014/main" id="{BC95B5A0-A2B4-0BDE-861E-F24435B9D1C1}"/>
                  </a:ext>
                </a:extLst>
              </p:cNvPr>
              <p:cNvPicPr/>
              <p:nvPr/>
            </p:nvPicPr>
            <p:blipFill>
              <a:blip r:embed="rId7"/>
              <a:stretch>
                <a:fillRect/>
              </a:stretch>
            </p:blipFill>
            <p:spPr>
              <a:xfrm>
                <a:off x="5981040" y="5522040"/>
                <a:ext cx="298440" cy="165240"/>
              </a:xfrm>
              <a:prstGeom prst="rect">
                <a:avLst/>
              </a:prstGeom>
            </p:spPr>
          </p:pic>
        </mc:Fallback>
      </mc:AlternateContent>
    </p:spTree>
    <p:extLst>
      <p:ext uri="{BB962C8B-B14F-4D97-AF65-F5344CB8AC3E}">
        <p14:creationId xmlns:p14="http://schemas.microsoft.com/office/powerpoint/2010/main" val="4201004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2940468" y="242955"/>
            <a:ext cx="8463405" cy="592591"/>
          </a:xfrm>
          <a:prstGeom prst="rect">
            <a:avLst/>
          </a:prstGeom>
          <a:noFill/>
          <a:ln/>
        </p:spPr>
        <p:txBody>
          <a:bodyPr wrap="square" rtlCol="0" anchor="t"/>
          <a:lstStyle/>
          <a:p>
            <a:pPr marL="0" indent="0">
              <a:lnSpc>
                <a:spcPts val="5468"/>
              </a:lnSpc>
              <a:buNone/>
            </a:pPr>
            <a:r>
              <a:rPr lang="en-US" sz="4374" b="1" dirty="0">
                <a:solidFill>
                  <a:srgbClr val="FFFFFF"/>
                </a:solidFill>
                <a:latin typeface="Unbounded" pitchFamily="34" charset="0"/>
                <a:ea typeface="Unbounded" pitchFamily="34" charset="-122"/>
              </a:rPr>
              <a:t>Resistencia </a:t>
            </a:r>
            <a:r>
              <a:rPr lang="en-US" sz="4374" b="1" dirty="0" err="1">
                <a:solidFill>
                  <a:srgbClr val="FFFFFF"/>
                </a:solidFill>
                <a:latin typeface="Unbounded" pitchFamily="34" charset="0"/>
                <a:ea typeface="Unbounded" pitchFamily="34" charset="-122"/>
              </a:rPr>
              <a:t>en</a:t>
            </a:r>
            <a:r>
              <a:rPr lang="en-US" sz="4374" b="1" dirty="0">
                <a:solidFill>
                  <a:srgbClr val="FFFFFF"/>
                </a:solidFill>
                <a:latin typeface="Unbounded" pitchFamily="34" charset="0"/>
                <a:ea typeface="Unbounded" pitchFamily="34" charset="-122"/>
              </a:rPr>
              <a:t> un divisor de </a:t>
            </a:r>
            <a:r>
              <a:rPr lang="en-US" sz="4374" b="1" dirty="0" err="1">
                <a:solidFill>
                  <a:srgbClr val="FFFFFF"/>
                </a:solidFill>
                <a:latin typeface="Unbounded" pitchFamily="34" charset="0"/>
                <a:ea typeface="Unbounded" pitchFamily="34" charset="-122"/>
              </a:rPr>
              <a:t>voltaje</a:t>
            </a:r>
            <a:endParaRPr lang="en-US" sz="4374" b="1"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410787" y="1671093"/>
            <a:ext cx="12109270" cy="5847755"/>
          </a:xfrm>
          <a:prstGeom prst="rect">
            <a:avLst/>
          </a:prstGeom>
          <a:noFill/>
        </p:spPr>
        <p:txBody>
          <a:bodyPr wrap="square" rtlCol="0">
            <a:spAutoFit/>
          </a:bodyPr>
          <a:lstStyle/>
          <a:p>
            <a:pPr algn="just"/>
            <a:r>
              <a:rPr lang="es-ES" sz="2200" dirty="0">
                <a:solidFill>
                  <a:schemeClr val="bg1"/>
                </a:solidFill>
                <a:latin typeface="Arial" panose="020B0604020202020204" pitchFamily="34" charset="0"/>
                <a:cs typeface="Arial" panose="020B0604020202020204" pitchFamily="34" charset="0"/>
              </a:rPr>
              <a:t>El cálculo de resistencia en un divisor de voltaje se refiere a determinar los valores de las resistencias necesarias para obtener una división de voltaje específica en un circuito. Un divisor de voltaje es un circuito que utiliza dos o más resistencias en serie para dividir la tensión total aplicada entre ellas.</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El principio básico detrás del divisor de voltaje es que la relación entre las resistencias determina la división proporcional de la tensión. La fórmula general para calcular la tensión en una resistencia específica en un divisor de voltaje es:</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V(</a:t>
            </a:r>
            <a:r>
              <a:rPr lang="es-ES" sz="2200" dirty="0" err="1">
                <a:solidFill>
                  <a:schemeClr val="bg1"/>
                </a:solidFill>
                <a:latin typeface="Arial" panose="020B0604020202020204" pitchFamily="34" charset="0"/>
                <a:cs typeface="Arial" panose="020B0604020202020204" pitchFamily="34" charset="0"/>
              </a:rPr>
              <a:t>Rx</a:t>
            </a:r>
            <a:r>
              <a:rPr lang="es-ES" sz="2200" dirty="0">
                <a:solidFill>
                  <a:schemeClr val="bg1"/>
                </a:solidFill>
                <a:latin typeface="Arial" panose="020B0604020202020204" pitchFamily="34" charset="0"/>
                <a:cs typeface="Arial" panose="020B0604020202020204" pitchFamily="34" charset="0"/>
              </a:rPr>
              <a:t>) = V * (</a:t>
            </a:r>
            <a:r>
              <a:rPr lang="es-ES" sz="2200" dirty="0" err="1">
                <a:solidFill>
                  <a:schemeClr val="bg1"/>
                </a:solidFill>
                <a:latin typeface="Arial" panose="020B0604020202020204" pitchFamily="34" charset="0"/>
                <a:cs typeface="Arial" panose="020B0604020202020204" pitchFamily="34" charset="0"/>
              </a:rPr>
              <a:t>Rx</a:t>
            </a:r>
            <a:r>
              <a:rPr lang="es-ES" sz="2200" dirty="0">
                <a:solidFill>
                  <a:schemeClr val="bg1"/>
                </a:solidFill>
                <a:latin typeface="Arial" panose="020B0604020202020204" pitchFamily="34" charset="0"/>
                <a:cs typeface="Arial" panose="020B0604020202020204" pitchFamily="34" charset="0"/>
              </a:rPr>
              <a:t> / (R1 + R2 + ... + Rn))</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Donde:</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V(</a:t>
            </a:r>
            <a:r>
              <a:rPr lang="es-ES" sz="2200" dirty="0" err="1">
                <a:solidFill>
                  <a:schemeClr val="bg1"/>
                </a:solidFill>
                <a:latin typeface="Arial" panose="020B0604020202020204" pitchFamily="34" charset="0"/>
                <a:cs typeface="Arial" panose="020B0604020202020204" pitchFamily="34" charset="0"/>
              </a:rPr>
              <a:t>Rx</a:t>
            </a:r>
            <a:r>
              <a:rPr lang="es-ES" sz="2200" dirty="0">
                <a:solidFill>
                  <a:schemeClr val="bg1"/>
                </a:solidFill>
                <a:latin typeface="Arial" panose="020B0604020202020204" pitchFamily="34" charset="0"/>
                <a:cs typeface="Arial" panose="020B0604020202020204" pitchFamily="34" charset="0"/>
              </a:rPr>
              <a:t>) es la tensión en la resistencia </a:t>
            </a:r>
            <a:r>
              <a:rPr lang="es-ES" sz="2200" dirty="0" err="1">
                <a:solidFill>
                  <a:schemeClr val="bg1"/>
                </a:solidFill>
                <a:latin typeface="Arial" panose="020B0604020202020204" pitchFamily="34" charset="0"/>
                <a:cs typeface="Arial" panose="020B0604020202020204" pitchFamily="34" charset="0"/>
              </a:rPr>
              <a:t>Rx</a:t>
            </a:r>
            <a:r>
              <a:rPr lang="es-ES" sz="2200" dirty="0">
                <a:solidFill>
                  <a:schemeClr val="bg1"/>
                </a:solidFill>
                <a:latin typeface="Arial" panose="020B0604020202020204" pitchFamily="34" charset="0"/>
                <a:cs typeface="Arial" panose="020B0604020202020204" pitchFamily="34" charset="0"/>
              </a:rPr>
              <a:t>.</a:t>
            </a:r>
          </a:p>
          <a:p>
            <a:pPr algn="just"/>
            <a:r>
              <a:rPr lang="es-ES" sz="2200" dirty="0">
                <a:solidFill>
                  <a:schemeClr val="bg1"/>
                </a:solidFill>
                <a:latin typeface="Arial" panose="020B0604020202020204" pitchFamily="34" charset="0"/>
                <a:cs typeface="Arial" panose="020B0604020202020204" pitchFamily="34" charset="0"/>
              </a:rPr>
              <a:t>V es la tensión total aplicada al divisor de voltaje.</a:t>
            </a:r>
          </a:p>
          <a:p>
            <a:pPr algn="just"/>
            <a:r>
              <a:rPr lang="es-ES" sz="2200" dirty="0" err="1">
                <a:solidFill>
                  <a:schemeClr val="bg1"/>
                </a:solidFill>
                <a:latin typeface="Arial" panose="020B0604020202020204" pitchFamily="34" charset="0"/>
                <a:cs typeface="Arial" panose="020B0604020202020204" pitchFamily="34" charset="0"/>
              </a:rPr>
              <a:t>Rx</a:t>
            </a:r>
            <a:r>
              <a:rPr lang="es-ES" sz="2200" dirty="0">
                <a:solidFill>
                  <a:schemeClr val="bg1"/>
                </a:solidFill>
                <a:latin typeface="Arial" panose="020B0604020202020204" pitchFamily="34" charset="0"/>
                <a:cs typeface="Arial" panose="020B0604020202020204" pitchFamily="34" charset="0"/>
              </a:rPr>
              <a:t> es la resistencia para la cual se desea calcular la tensión.</a:t>
            </a:r>
          </a:p>
          <a:p>
            <a:pPr algn="just"/>
            <a:r>
              <a:rPr lang="es-ES" sz="2200" dirty="0">
                <a:solidFill>
                  <a:schemeClr val="bg1"/>
                </a:solidFill>
                <a:latin typeface="Arial" panose="020B0604020202020204" pitchFamily="34" charset="0"/>
                <a:cs typeface="Arial" panose="020B0604020202020204" pitchFamily="34" charset="0"/>
              </a:rPr>
              <a:t>R1, R2, ..., Rn son las resistencias en serie en el divisor de voltaje.</a:t>
            </a:r>
            <a:endParaRPr lang="es-GT"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4" name="Entrada de lápiz 3">
                <a:extLst>
                  <a:ext uri="{FF2B5EF4-FFF2-40B4-BE49-F238E27FC236}">
                    <a16:creationId xmlns:a16="http://schemas.microsoft.com/office/drawing/2014/main" id="{5EF06B4D-5D49-145F-513D-35E82DF4B814}"/>
                  </a:ext>
                </a:extLst>
              </p14:cNvPr>
              <p14:cNvContentPartPr/>
              <p14:nvPr/>
            </p14:nvContentPartPr>
            <p14:xfrm>
              <a:off x="5554800" y="3520440"/>
              <a:ext cx="3025800" cy="358560"/>
            </p14:xfrm>
          </p:contentPart>
        </mc:Choice>
        <mc:Fallback>
          <p:pic>
            <p:nvPicPr>
              <p:cNvPr id="4" name="Entrada de lápiz 3">
                <a:extLst>
                  <a:ext uri="{FF2B5EF4-FFF2-40B4-BE49-F238E27FC236}">
                    <a16:creationId xmlns:a16="http://schemas.microsoft.com/office/drawing/2014/main" id="{5EF06B4D-5D49-145F-513D-35E82DF4B814}"/>
                  </a:ext>
                </a:extLst>
              </p:cNvPr>
              <p:cNvPicPr/>
              <p:nvPr/>
            </p:nvPicPr>
            <p:blipFill>
              <a:blip r:embed="rId5"/>
              <a:stretch>
                <a:fillRect/>
              </a:stretch>
            </p:blipFill>
            <p:spPr>
              <a:xfrm>
                <a:off x="5538960" y="3457080"/>
                <a:ext cx="3057120" cy="485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Entrada de lápiz 5">
                <a:extLst>
                  <a:ext uri="{FF2B5EF4-FFF2-40B4-BE49-F238E27FC236}">
                    <a16:creationId xmlns:a16="http://schemas.microsoft.com/office/drawing/2014/main" id="{78062664-A2A4-3B37-767F-D6DD2CE78627}"/>
                  </a:ext>
                </a:extLst>
              </p14:cNvPr>
              <p14:cNvContentPartPr/>
              <p14:nvPr/>
            </p14:nvContentPartPr>
            <p14:xfrm>
              <a:off x="6339960" y="3520440"/>
              <a:ext cx="3779640" cy="122400"/>
            </p14:xfrm>
          </p:contentPart>
        </mc:Choice>
        <mc:Fallback>
          <p:pic>
            <p:nvPicPr>
              <p:cNvPr id="6" name="Entrada de lápiz 5">
                <a:extLst>
                  <a:ext uri="{FF2B5EF4-FFF2-40B4-BE49-F238E27FC236}">
                    <a16:creationId xmlns:a16="http://schemas.microsoft.com/office/drawing/2014/main" id="{78062664-A2A4-3B37-767F-D6DD2CE78627}"/>
                  </a:ext>
                </a:extLst>
              </p:cNvPr>
              <p:cNvPicPr/>
              <p:nvPr/>
            </p:nvPicPr>
            <p:blipFill>
              <a:blip r:embed="rId7"/>
              <a:stretch>
                <a:fillRect/>
              </a:stretch>
            </p:blipFill>
            <p:spPr>
              <a:xfrm>
                <a:off x="6324120" y="3457080"/>
                <a:ext cx="381096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Entrada de lápiz 6">
                <a:extLst>
                  <a:ext uri="{FF2B5EF4-FFF2-40B4-BE49-F238E27FC236}">
                    <a16:creationId xmlns:a16="http://schemas.microsoft.com/office/drawing/2014/main" id="{1193680C-87CE-1625-1446-49956CB5D34E}"/>
                  </a:ext>
                </a:extLst>
              </p14:cNvPr>
              <p14:cNvContentPartPr/>
              <p14:nvPr/>
            </p14:nvContentPartPr>
            <p14:xfrm>
              <a:off x="3802320" y="4762440"/>
              <a:ext cx="2271240" cy="206280"/>
            </p14:xfrm>
          </p:contentPart>
        </mc:Choice>
        <mc:Fallback>
          <p:pic>
            <p:nvPicPr>
              <p:cNvPr id="7" name="Entrada de lápiz 6">
                <a:extLst>
                  <a:ext uri="{FF2B5EF4-FFF2-40B4-BE49-F238E27FC236}">
                    <a16:creationId xmlns:a16="http://schemas.microsoft.com/office/drawing/2014/main" id="{1193680C-87CE-1625-1446-49956CB5D34E}"/>
                  </a:ext>
                </a:extLst>
              </p:cNvPr>
              <p:cNvPicPr/>
              <p:nvPr/>
            </p:nvPicPr>
            <p:blipFill>
              <a:blip r:embed="rId9"/>
              <a:stretch>
                <a:fillRect/>
              </a:stretch>
            </p:blipFill>
            <p:spPr>
              <a:xfrm>
                <a:off x="3786480" y="4699080"/>
                <a:ext cx="230256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Entrada de lápiz 8">
                <a:extLst>
                  <a:ext uri="{FF2B5EF4-FFF2-40B4-BE49-F238E27FC236}">
                    <a16:creationId xmlns:a16="http://schemas.microsoft.com/office/drawing/2014/main" id="{60991A6F-690D-556A-B980-48E117B208CD}"/>
                  </a:ext>
                </a:extLst>
              </p14:cNvPr>
              <p14:cNvContentPartPr/>
              <p14:nvPr/>
            </p14:nvContentPartPr>
            <p14:xfrm>
              <a:off x="1562040" y="4914720"/>
              <a:ext cx="792720" cy="129960"/>
            </p14:xfrm>
          </p:contentPart>
        </mc:Choice>
        <mc:Fallback>
          <p:pic>
            <p:nvPicPr>
              <p:cNvPr id="9" name="Entrada de lápiz 8">
                <a:extLst>
                  <a:ext uri="{FF2B5EF4-FFF2-40B4-BE49-F238E27FC236}">
                    <a16:creationId xmlns:a16="http://schemas.microsoft.com/office/drawing/2014/main" id="{60991A6F-690D-556A-B980-48E117B208CD}"/>
                  </a:ext>
                </a:extLst>
              </p:cNvPr>
              <p:cNvPicPr/>
              <p:nvPr/>
            </p:nvPicPr>
            <p:blipFill>
              <a:blip r:embed="rId11"/>
              <a:stretch>
                <a:fillRect/>
              </a:stretch>
            </p:blipFill>
            <p:spPr>
              <a:xfrm>
                <a:off x="1546200" y="4851360"/>
                <a:ext cx="824040" cy="256680"/>
              </a:xfrm>
              <a:prstGeom prst="rect">
                <a:avLst/>
              </a:prstGeom>
            </p:spPr>
          </p:pic>
        </mc:Fallback>
      </mc:AlternateContent>
    </p:spTree>
    <p:extLst>
      <p:ext uri="{BB962C8B-B14F-4D97-AF65-F5344CB8AC3E}">
        <p14:creationId xmlns:p14="http://schemas.microsoft.com/office/powerpoint/2010/main" val="122901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5847993" y="400109"/>
            <a:ext cx="3368891" cy="740909"/>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rPr>
              <a:t>Ejemplos</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260564" y="1868031"/>
            <a:ext cx="12109272" cy="4893647"/>
          </a:xfrm>
          <a:prstGeom prst="rect">
            <a:avLst/>
          </a:prstGeom>
          <a:noFill/>
        </p:spPr>
        <p:txBody>
          <a:bodyPr wrap="square" rtlCol="0">
            <a:spAutoFit/>
          </a:bodyPr>
          <a:lstStyle/>
          <a:p>
            <a:pPr algn="just"/>
            <a:r>
              <a:rPr lang="es-ES" sz="2400" b="1" dirty="0">
                <a:solidFill>
                  <a:schemeClr val="bg1"/>
                </a:solidFill>
                <a:latin typeface="Arial" panose="020B0604020202020204" pitchFamily="34" charset="0"/>
                <a:cs typeface="Arial" panose="020B0604020202020204" pitchFamily="34" charset="0"/>
              </a:rPr>
              <a:t>Ejemplo 1</a:t>
            </a:r>
            <a:r>
              <a:rPr lang="es-ES" sz="2400" dirty="0">
                <a:solidFill>
                  <a:schemeClr val="bg1"/>
                </a:solidFill>
                <a:latin typeface="Arial" panose="020B0604020202020204" pitchFamily="34" charset="0"/>
                <a:cs typeface="Arial" panose="020B0604020202020204" pitchFamily="34" charset="0"/>
              </a:rPr>
              <a:t>: Cálculo de resistencia con la Ley de Ohm</a:t>
            </a:r>
          </a:p>
          <a:p>
            <a:pPr algn="just"/>
            <a:r>
              <a:rPr lang="es-ES" sz="2400" dirty="0">
                <a:solidFill>
                  <a:schemeClr val="bg1"/>
                </a:solidFill>
                <a:latin typeface="Arial" panose="020B0604020202020204" pitchFamily="34" charset="0"/>
                <a:cs typeface="Arial" panose="020B0604020202020204" pitchFamily="34" charset="0"/>
              </a:rPr>
              <a:t>Supongamos que tienes un circuito en el que la corriente (I) es de 2 amperios (A) y la tensión (V) aplicada es de 12 voltios (V). Para calcular el valor de la resistencia (R):</a:t>
            </a:r>
          </a:p>
          <a:p>
            <a:pPr algn="just"/>
            <a:endParaRPr lang="es-ES" sz="2400" dirty="0">
              <a:solidFill>
                <a:schemeClr val="bg1"/>
              </a:solidFill>
              <a:latin typeface="Arial" panose="020B0604020202020204" pitchFamily="34" charset="0"/>
              <a:cs typeface="Arial" panose="020B0604020202020204" pitchFamily="34" charset="0"/>
            </a:endParaRPr>
          </a:p>
          <a:p>
            <a:pPr algn="just"/>
            <a:r>
              <a:rPr lang="es-ES" sz="2400" dirty="0">
                <a:solidFill>
                  <a:schemeClr val="bg1"/>
                </a:solidFill>
                <a:latin typeface="Arial" panose="020B0604020202020204" pitchFamily="34" charset="0"/>
                <a:cs typeface="Arial" panose="020B0604020202020204" pitchFamily="34" charset="0"/>
              </a:rPr>
              <a:t>R = V / I</a:t>
            </a:r>
          </a:p>
          <a:p>
            <a:pPr algn="just"/>
            <a:r>
              <a:rPr lang="es-ES" sz="2400" dirty="0">
                <a:solidFill>
                  <a:schemeClr val="bg1"/>
                </a:solidFill>
                <a:latin typeface="Arial" panose="020B0604020202020204" pitchFamily="34" charset="0"/>
                <a:cs typeface="Arial" panose="020B0604020202020204" pitchFamily="34" charset="0"/>
              </a:rPr>
              <a:t>R = 12 V / 2 A</a:t>
            </a:r>
          </a:p>
          <a:p>
            <a:pPr algn="just"/>
            <a:r>
              <a:rPr lang="es-ES" sz="2400" dirty="0">
                <a:solidFill>
                  <a:schemeClr val="bg1"/>
                </a:solidFill>
                <a:latin typeface="Arial" panose="020B0604020202020204" pitchFamily="34" charset="0"/>
                <a:cs typeface="Arial" panose="020B0604020202020204" pitchFamily="34" charset="0"/>
              </a:rPr>
              <a:t>R = 6 ohmios (Ω)</a:t>
            </a:r>
          </a:p>
          <a:p>
            <a:pPr algn="just"/>
            <a:endParaRPr lang="es-ES" sz="2400" dirty="0">
              <a:solidFill>
                <a:schemeClr val="bg1"/>
              </a:solidFill>
              <a:latin typeface="Arial" panose="020B0604020202020204" pitchFamily="34" charset="0"/>
              <a:cs typeface="Arial" panose="020B0604020202020204" pitchFamily="34" charset="0"/>
            </a:endParaRPr>
          </a:p>
          <a:p>
            <a:pPr algn="just"/>
            <a:r>
              <a:rPr lang="es-ES" sz="2400" dirty="0">
                <a:solidFill>
                  <a:schemeClr val="bg1"/>
                </a:solidFill>
                <a:latin typeface="Arial" panose="020B0604020202020204" pitchFamily="34" charset="0"/>
                <a:cs typeface="Arial" panose="020B0604020202020204" pitchFamily="34" charset="0"/>
              </a:rPr>
              <a:t>Por lo tanto, en este caso, la resistencia tendría un valor de 6 ohmios.</a:t>
            </a:r>
          </a:p>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GT" sz="24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4" name="Entrada de lápiz 3">
                <a:extLst>
                  <a:ext uri="{FF2B5EF4-FFF2-40B4-BE49-F238E27FC236}">
                    <a16:creationId xmlns:a16="http://schemas.microsoft.com/office/drawing/2014/main" id="{AF06258A-9F9E-72B9-6890-58097EFF2D06}"/>
                  </a:ext>
                </a:extLst>
              </p14:cNvPr>
              <p14:cNvContentPartPr/>
              <p14:nvPr/>
            </p14:nvContentPartPr>
            <p14:xfrm>
              <a:off x="1821240" y="4236840"/>
              <a:ext cx="1943280" cy="61200"/>
            </p14:xfrm>
          </p:contentPart>
        </mc:Choice>
        <mc:Fallback>
          <p:pic>
            <p:nvPicPr>
              <p:cNvPr id="4" name="Entrada de lápiz 3">
                <a:extLst>
                  <a:ext uri="{FF2B5EF4-FFF2-40B4-BE49-F238E27FC236}">
                    <a16:creationId xmlns:a16="http://schemas.microsoft.com/office/drawing/2014/main" id="{AF06258A-9F9E-72B9-6890-58097EFF2D06}"/>
                  </a:ext>
                </a:extLst>
              </p:cNvPr>
              <p:cNvPicPr/>
              <p:nvPr/>
            </p:nvPicPr>
            <p:blipFill>
              <a:blip r:embed="rId5"/>
              <a:stretch>
                <a:fillRect/>
              </a:stretch>
            </p:blipFill>
            <p:spPr>
              <a:xfrm>
                <a:off x="1805400" y="4173480"/>
                <a:ext cx="1974600" cy="187920"/>
              </a:xfrm>
              <a:prstGeom prst="rect">
                <a:avLst/>
              </a:prstGeom>
            </p:spPr>
          </p:pic>
        </mc:Fallback>
      </mc:AlternateContent>
    </p:spTree>
    <p:extLst>
      <p:ext uri="{BB962C8B-B14F-4D97-AF65-F5344CB8AC3E}">
        <p14:creationId xmlns:p14="http://schemas.microsoft.com/office/powerpoint/2010/main" val="382363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5847993" y="400109"/>
            <a:ext cx="3368891" cy="740909"/>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rPr>
              <a:t>Ejemplos</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260564" y="1868031"/>
            <a:ext cx="12109272" cy="6001643"/>
          </a:xfrm>
          <a:prstGeom prst="rect">
            <a:avLst/>
          </a:prstGeom>
          <a:noFill/>
        </p:spPr>
        <p:txBody>
          <a:bodyPr wrap="square" rtlCol="0">
            <a:spAutoFit/>
          </a:bodyPr>
          <a:lstStyle/>
          <a:p>
            <a:pPr algn="just"/>
            <a:r>
              <a:rPr lang="es-ES" sz="2400" dirty="0">
                <a:solidFill>
                  <a:schemeClr val="bg1"/>
                </a:solidFill>
                <a:latin typeface="Arial" panose="020B0604020202020204" pitchFamily="34" charset="0"/>
                <a:cs typeface="Arial" panose="020B0604020202020204" pitchFamily="34" charset="0"/>
              </a:rPr>
              <a:t>Ejemplo 2: </a:t>
            </a:r>
          </a:p>
          <a:p>
            <a:pPr algn="just"/>
            <a:r>
              <a:rPr lang="es-ES" sz="2400" dirty="0">
                <a:solidFill>
                  <a:schemeClr val="bg1"/>
                </a:solidFill>
                <a:latin typeface="Arial" panose="020B0604020202020204" pitchFamily="34" charset="0"/>
                <a:cs typeface="Arial" panose="020B0604020202020204" pitchFamily="34" charset="0"/>
              </a:rPr>
              <a:t>Cálculo de resistencia en un divisor de voltaje</a:t>
            </a:r>
          </a:p>
          <a:p>
            <a:pPr algn="just"/>
            <a:r>
              <a:rPr lang="es-ES" sz="2400" dirty="0">
                <a:solidFill>
                  <a:schemeClr val="bg1"/>
                </a:solidFill>
                <a:latin typeface="Arial" panose="020B0604020202020204" pitchFamily="34" charset="0"/>
                <a:cs typeface="Arial" panose="020B0604020202020204" pitchFamily="34" charset="0"/>
              </a:rPr>
              <a:t>Imaginemos que tienes un circuito con un divisor de voltaje compuesto por una resistencia R1 de 2 kilo-ohmios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 y una resistencia R2 de 4 </a:t>
            </a:r>
            <a:r>
              <a:rPr lang="es-ES" sz="2400" dirty="0" err="1">
                <a:solidFill>
                  <a:schemeClr val="bg1"/>
                </a:solidFill>
                <a:latin typeface="Arial" panose="020B0604020202020204" pitchFamily="34" charset="0"/>
                <a:cs typeface="Arial" panose="020B0604020202020204" pitchFamily="34" charset="0"/>
              </a:rPr>
              <a:t>kiloohmios</a:t>
            </a:r>
            <a:r>
              <a:rPr lang="es-ES" sz="2400" dirty="0">
                <a:solidFill>
                  <a:schemeClr val="bg1"/>
                </a:solidFill>
                <a:latin typeface="Arial" panose="020B0604020202020204" pitchFamily="34" charset="0"/>
                <a:cs typeface="Arial" panose="020B0604020202020204" pitchFamily="34" charset="0"/>
              </a:rPr>
              <a:t>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 La fuente de tensión aplicada es de 10 voltios (V). Quieres determinar la tensión en R2 y necesitas calcular el valor de R2 en función de la tensión aplicada:</a:t>
            </a:r>
          </a:p>
          <a:p>
            <a:pPr algn="just"/>
            <a:endParaRPr lang="es-ES" sz="2400" dirty="0">
              <a:solidFill>
                <a:schemeClr val="bg1"/>
              </a:solidFill>
              <a:latin typeface="Arial" panose="020B0604020202020204" pitchFamily="34" charset="0"/>
              <a:cs typeface="Arial" panose="020B0604020202020204" pitchFamily="34" charset="0"/>
            </a:endParaRPr>
          </a:p>
          <a:p>
            <a:pPr algn="just"/>
            <a:r>
              <a:rPr lang="es-ES" sz="2400" dirty="0">
                <a:solidFill>
                  <a:schemeClr val="bg1"/>
                </a:solidFill>
                <a:latin typeface="Arial" panose="020B0604020202020204" pitchFamily="34" charset="0"/>
                <a:cs typeface="Arial" panose="020B0604020202020204" pitchFamily="34" charset="0"/>
              </a:rPr>
              <a:t>V(R2) = V * (R2 / (R1 + R2))</a:t>
            </a:r>
          </a:p>
          <a:p>
            <a:pPr algn="just"/>
            <a:r>
              <a:rPr lang="es-ES" sz="2400" dirty="0">
                <a:solidFill>
                  <a:schemeClr val="bg1"/>
                </a:solidFill>
                <a:latin typeface="Arial" panose="020B0604020202020204" pitchFamily="34" charset="0"/>
                <a:cs typeface="Arial" panose="020B0604020202020204" pitchFamily="34" charset="0"/>
              </a:rPr>
              <a:t>V(R2) = 10 V * (4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 / (2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 + 4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a:t>
            </a:r>
          </a:p>
          <a:p>
            <a:pPr algn="just"/>
            <a:r>
              <a:rPr lang="es-ES" sz="2400" dirty="0">
                <a:solidFill>
                  <a:schemeClr val="bg1"/>
                </a:solidFill>
                <a:latin typeface="Arial" panose="020B0604020202020204" pitchFamily="34" charset="0"/>
                <a:cs typeface="Arial" panose="020B0604020202020204" pitchFamily="34" charset="0"/>
              </a:rPr>
              <a:t>V(R2) = 10 V * (4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 / 6 </a:t>
            </a:r>
            <a:r>
              <a:rPr lang="es-ES" sz="2400" dirty="0" err="1">
                <a:solidFill>
                  <a:schemeClr val="bg1"/>
                </a:solidFill>
                <a:latin typeface="Arial" panose="020B0604020202020204" pitchFamily="34" charset="0"/>
                <a:cs typeface="Arial" panose="020B0604020202020204" pitchFamily="34" charset="0"/>
              </a:rPr>
              <a:t>kΩ</a:t>
            </a:r>
            <a:r>
              <a:rPr lang="es-ES" sz="2400" dirty="0">
                <a:solidFill>
                  <a:schemeClr val="bg1"/>
                </a:solidFill>
                <a:latin typeface="Arial" panose="020B0604020202020204" pitchFamily="34" charset="0"/>
                <a:cs typeface="Arial" panose="020B0604020202020204" pitchFamily="34" charset="0"/>
              </a:rPr>
              <a:t>)</a:t>
            </a:r>
          </a:p>
          <a:p>
            <a:pPr algn="just"/>
            <a:r>
              <a:rPr lang="es-ES" sz="2400" dirty="0">
                <a:solidFill>
                  <a:schemeClr val="bg1"/>
                </a:solidFill>
                <a:latin typeface="Arial" panose="020B0604020202020204" pitchFamily="34" charset="0"/>
                <a:cs typeface="Arial" panose="020B0604020202020204" pitchFamily="34" charset="0"/>
              </a:rPr>
              <a:t>V(R2) ≈ 6.67 V</a:t>
            </a:r>
          </a:p>
          <a:p>
            <a:pPr algn="just"/>
            <a:endParaRPr lang="es-ES" sz="2400" dirty="0">
              <a:solidFill>
                <a:schemeClr val="bg1"/>
              </a:solidFill>
              <a:latin typeface="Arial" panose="020B0604020202020204" pitchFamily="34" charset="0"/>
              <a:cs typeface="Arial" panose="020B0604020202020204" pitchFamily="34" charset="0"/>
            </a:endParaRPr>
          </a:p>
          <a:p>
            <a:pPr algn="just"/>
            <a:r>
              <a:rPr lang="es-ES" sz="2400" dirty="0">
                <a:solidFill>
                  <a:schemeClr val="bg1"/>
                </a:solidFill>
                <a:latin typeface="Arial" panose="020B0604020202020204" pitchFamily="34" charset="0"/>
                <a:cs typeface="Arial" panose="020B0604020202020204" pitchFamily="34" charset="0"/>
              </a:rPr>
              <a:t>En este caso, la tensión en R2 sería aproximadamente 6.67 voltios.</a:t>
            </a:r>
          </a:p>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GT" sz="24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4" name="Entrada de lápiz 3">
                <a:extLst>
                  <a:ext uri="{FF2B5EF4-FFF2-40B4-BE49-F238E27FC236}">
                    <a16:creationId xmlns:a16="http://schemas.microsoft.com/office/drawing/2014/main" id="{BB1073F3-BAB0-7DC9-5B14-4FA6F7DA30D4}"/>
                  </a:ext>
                </a:extLst>
              </p14:cNvPr>
              <p14:cNvContentPartPr/>
              <p14:nvPr/>
            </p14:nvContentPartPr>
            <p14:xfrm>
              <a:off x="3832920" y="4678560"/>
              <a:ext cx="251640" cy="23400"/>
            </p14:xfrm>
          </p:contentPart>
        </mc:Choice>
        <mc:Fallback>
          <p:pic>
            <p:nvPicPr>
              <p:cNvPr id="4" name="Entrada de lápiz 3">
                <a:extLst>
                  <a:ext uri="{FF2B5EF4-FFF2-40B4-BE49-F238E27FC236}">
                    <a16:creationId xmlns:a16="http://schemas.microsoft.com/office/drawing/2014/main" id="{BB1073F3-BAB0-7DC9-5B14-4FA6F7DA30D4}"/>
                  </a:ext>
                </a:extLst>
              </p:cNvPr>
              <p:cNvPicPr/>
              <p:nvPr/>
            </p:nvPicPr>
            <p:blipFill>
              <a:blip r:embed="rId5"/>
              <a:stretch>
                <a:fillRect/>
              </a:stretch>
            </p:blipFill>
            <p:spPr>
              <a:xfrm>
                <a:off x="3817080" y="4615200"/>
                <a:ext cx="28296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Entrada de lápiz 5">
                <a:extLst>
                  <a:ext uri="{FF2B5EF4-FFF2-40B4-BE49-F238E27FC236}">
                    <a16:creationId xmlns:a16="http://schemas.microsoft.com/office/drawing/2014/main" id="{64E09463-1E25-3617-E99B-C872017C4C60}"/>
                  </a:ext>
                </a:extLst>
              </p14:cNvPr>
              <p14:cNvContentPartPr/>
              <p14:nvPr/>
            </p14:nvContentPartPr>
            <p14:xfrm>
              <a:off x="4701600" y="4671000"/>
              <a:ext cx="221400" cy="38520"/>
            </p14:xfrm>
          </p:contentPart>
        </mc:Choice>
        <mc:Fallback>
          <p:pic>
            <p:nvPicPr>
              <p:cNvPr id="6" name="Entrada de lápiz 5">
                <a:extLst>
                  <a:ext uri="{FF2B5EF4-FFF2-40B4-BE49-F238E27FC236}">
                    <a16:creationId xmlns:a16="http://schemas.microsoft.com/office/drawing/2014/main" id="{64E09463-1E25-3617-E99B-C872017C4C60}"/>
                  </a:ext>
                </a:extLst>
              </p:cNvPr>
              <p:cNvPicPr/>
              <p:nvPr/>
            </p:nvPicPr>
            <p:blipFill>
              <a:blip r:embed="rId7"/>
              <a:stretch>
                <a:fillRect/>
              </a:stretch>
            </p:blipFill>
            <p:spPr>
              <a:xfrm>
                <a:off x="4685760" y="4607640"/>
                <a:ext cx="25272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Entrada de lápiz 6">
                <a:extLst>
                  <a:ext uri="{FF2B5EF4-FFF2-40B4-BE49-F238E27FC236}">
                    <a16:creationId xmlns:a16="http://schemas.microsoft.com/office/drawing/2014/main" id="{A962A77E-19DF-B358-61AC-ADEEAFA47DFB}"/>
                  </a:ext>
                </a:extLst>
              </p14:cNvPr>
              <p14:cNvContentPartPr/>
              <p14:nvPr/>
            </p14:nvContentPartPr>
            <p14:xfrm>
              <a:off x="3131640" y="4640400"/>
              <a:ext cx="297720" cy="15840"/>
            </p14:xfrm>
          </p:contentPart>
        </mc:Choice>
        <mc:Fallback>
          <p:pic>
            <p:nvPicPr>
              <p:cNvPr id="7" name="Entrada de lápiz 6">
                <a:extLst>
                  <a:ext uri="{FF2B5EF4-FFF2-40B4-BE49-F238E27FC236}">
                    <a16:creationId xmlns:a16="http://schemas.microsoft.com/office/drawing/2014/main" id="{A962A77E-19DF-B358-61AC-ADEEAFA47DFB}"/>
                  </a:ext>
                </a:extLst>
              </p:cNvPr>
              <p:cNvPicPr/>
              <p:nvPr/>
            </p:nvPicPr>
            <p:blipFill>
              <a:blip r:embed="rId9"/>
              <a:stretch>
                <a:fillRect/>
              </a:stretch>
            </p:blipFill>
            <p:spPr>
              <a:xfrm>
                <a:off x="3115800" y="4577040"/>
                <a:ext cx="32904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Entrada de lápiz 8">
                <a:extLst>
                  <a:ext uri="{FF2B5EF4-FFF2-40B4-BE49-F238E27FC236}">
                    <a16:creationId xmlns:a16="http://schemas.microsoft.com/office/drawing/2014/main" id="{849C2923-1B34-868C-922A-C231331D0E5D}"/>
                  </a:ext>
                </a:extLst>
              </p14:cNvPr>
              <p14:cNvContentPartPr/>
              <p14:nvPr/>
            </p14:nvContentPartPr>
            <p14:xfrm>
              <a:off x="3886200" y="4617720"/>
              <a:ext cx="945360" cy="53640"/>
            </p14:xfrm>
          </p:contentPart>
        </mc:Choice>
        <mc:Fallback>
          <p:pic>
            <p:nvPicPr>
              <p:cNvPr id="9" name="Entrada de lápiz 8">
                <a:extLst>
                  <a:ext uri="{FF2B5EF4-FFF2-40B4-BE49-F238E27FC236}">
                    <a16:creationId xmlns:a16="http://schemas.microsoft.com/office/drawing/2014/main" id="{849C2923-1B34-868C-922A-C231331D0E5D}"/>
                  </a:ext>
                </a:extLst>
              </p:cNvPr>
              <p:cNvPicPr/>
              <p:nvPr/>
            </p:nvPicPr>
            <p:blipFill>
              <a:blip r:embed="rId11"/>
              <a:stretch>
                <a:fillRect/>
              </a:stretch>
            </p:blipFill>
            <p:spPr>
              <a:xfrm>
                <a:off x="3870360" y="4554360"/>
                <a:ext cx="97668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Entrada de lápiz 9">
                <a:extLst>
                  <a:ext uri="{FF2B5EF4-FFF2-40B4-BE49-F238E27FC236}">
                    <a16:creationId xmlns:a16="http://schemas.microsoft.com/office/drawing/2014/main" id="{DD28BBF1-505D-52B3-70F7-C2A40E17B850}"/>
                  </a:ext>
                </a:extLst>
              </p14:cNvPr>
              <p14:cNvContentPartPr/>
              <p14:nvPr/>
            </p14:nvContentPartPr>
            <p14:xfrm>
              <a:off x="4617720" y="5036760"/>
              <a:ext cx="360" cy="360"/>
            </p14:xfrm>
          </p:contentPart>
        </mc:Choice>
        <mc:Fallback>
          <p:pic>
            <p:nvPicPr>
              <p:cNvPr id="10" name="Entrada de lápiz 9">
                <a:extLst>
                  <a:ext uri="{FF2B5EF4-FFF2-40B4-BE49-F238E27FC236}">
                    <a16:creationId xmlns:a16="http://schemas.microsoft.com/office/drawing/2014/main" id="{DD28BBF1-505D-52B3-70F7-C2A40E17B850}"/>
                  </a:ext>
                </a:extLst>
              </p:cNvPr>
              <p:cNvPicPr/>
              <p:nvPr/>
            </p:nvPicPr>
            <p:blipFill>
              <a:blip r:embed="rId13"/>
              <a:stretch>
                <a:fillRect/>
              </a:stretch>
            </p:blipFill>
            <p:spPr>
              <a:xfrm>
                <a:off x="4601880" y="4973400"/>
                <a:ext cx="316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Entrada de lápiz 10">
                <a:extLst>
                  <a:ext uri="{FF2B5EF4-FFF2-40B4-BE49-F238E27FC236}">
                    <a16:creationId xmlns:a16="http://schemas.microsoft.com/office/drawing/2014/main" id="{25A780EB-1536-F4AD-2079-F27CB06D5E02}"/>
                  </a:ext>
                </a:extLst>
              </p14:cNvPr>
              <p14:cNvContentPartPr/>
              <p14:nvPr/>
            </p14:nvContentPartPr>
            <p14:xfrm>
              <a:off x="2613600" y="5730120"/>
              <a:ext cx="899640" cy="38520"/>
            </p14:xfrm>
          </p:contentPart>
        </mc:Choice>
        <mc:Fallback>
          <p:pic>
            <p:nvPicPr>
              <p:cNvPr id="11" name="Entrada de lápiz 10">
                <a:extLst>
                  <a:ext uri="{FF2B5EF4-FFF2-40B4-BE49-F238E27FC236}">
                    <a16:creationId xmlns:a16="http://schemas.microsoft.com/office/drawing/2014/main" id="{25A780EB-1536-F4AD-2079-F27CB06D5E02}"/>
                  </a:ext>
                </a:extLst>
              </p:cNvPr>
              <p:cNvPicPr/>
              <p:nvPr/>
            </p:nvPicPr>
            <p:blipFill>
              <a:blip r:embed="rId15"/>
              <a:stretch>
                <a:fillRect/>
              </a:stretch>
            </p:blipFill>
            <p:spPr>
              <a:xfrm>
                <a:off x="2597760" y="5666760"/>
                <a:ext cx="930960" cy="165240"/>
              </a:xfrm>
              <a:prstGeom prst="rect">
                <a:avLst/>
              </a:prstGeom>
            </p:spPr>
          </p:pic>
        </mc:Fallback>
      </mc:AlternateContent>
    </p:spTree>
    <p:extLst>
      <p:ext uri="{BB962C8B-B14F-4D97-AF65-F5344CB8AC3E}">
        <p14:creationId xmlns:p14="http://schemas.microsoft.com/office/powerpoint/2010/main" val="650614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s-GT" dirty="0"/>
          </a:p>
        </p:txBody>
      </p:sp>
      <p:sp>
        <p:nvSpPr>
          <p:cNvPr id="5" name="Text 1"/>
          <p:cNvSpPr/>
          <p:nvPr/>
        </p:nvSpPr>
        <p:spPr>
          <a:xfrm>
            <a:off x="3444428" y="563561"/>
            <a:ext cx="6300464" cy="740909"/>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rPr>
              <a:t>Colores</a:t>
            </a:r>
            <a:r>
              <a:rPr lang="en-US" sz="4374" dirty="0">
                <a:solidFill>
                  <a:srgbClr val="FFFFFF"/>
                </a:solidFill>
                <a:latin typeface="Unbounded" pitchFamily="34" charset="0"/>
                <a:ea typeface="Unbounded" pitchFamily="34" charset="-122"/>
              </a:rPr>
              <a:t> de las </a:t>
            </a:r>
            <a:r>
              <a:rPr lang="en-US" sz="4374" dirty="0" err="1">
                <a:solidFill>
                  <a:srgbClr val="FFFFFF"/>
                </a:solidFill>
                <a:latin typeface="Unbounded" pitchFamily="34" charset="0"/>
                <a:ea typeface="Unbounded" pitchFamily="34" charset="-122"/>
              </a:rPr>
              <a:t>resistencias</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260564" y="1868031"/>
            <a:ext cx="12109272" cy="1200329"/>
          </a:xfrm>
          <a:prstGeom prst="rect">
            <a:avLst/>
          </a:prstGeom>
          <a:noFill/>
        </p:spPr>
        <p:txBody>
          <a:bodyPr wrap="square" rtlCol="0">
            <a:spAutoFit/>
          </a:bodyPr>
          <a:lstStyle/>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ES" sz="2400" dirty="0">
              <a:solidFill>
                <a:schemeClr val="bg1"/>
              </a:solidFill>
              <a:latin typeface="Arial" panose="020B0604020202020204" pitchFamily="34" charset="0"/>
              <a:cs typeface="Arial" panose="020B0604020202020204" pitchFamily="34" charset="0"/>
            </a:endParaRPr>
          </a:p>
          <a:p>
            <a:pPr algn="just"/>
            <a:endParaRPr lang="es-GT" sz="2400" dirty="0">
              <a:solidFill>
                <a:schemeClr val="bg1"/>
              </a:solidFill>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0AFA91B2-3C75-9685-E2BC-710BA9A29543}"/>
              </a:ext>
            </a:extLst>
          </p:cNvPr>
          <p:cNvPicPr>
            <a:picLocks noChangeAspect="1"/>
          </p:cNvPicPr>
          <p:nvPr/>
        </p:nvPicPr>
        <p:blipFill>
          <a:blip r:embed="rId4"/>
          <a:stretch>
            <a:fillRect/>
          </a:stretch>
        </p:blipFill>
        <p:spPr>
          <a:xfrm>
            <a:off x="2729279" y="1868031"/>
            <a:ext cx="7730762" cy="5506473"/>
          </a:xfrm>
          <a:prstGeom prst="rect">
            <a:avLst/>
          </a:prstGeom>
        </p:spPr>
      </p:pic>
    </p:spTree>
    <p:extLst>
      <p:ext uri="{BB962C8B-B14F-4D97-AF65-F5344CB8AC3E}">
        <p14:creationId xmlns:p14="http://schemas.microsoft.com/office/powerpoint/2010/main" val="2861889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4613124" y="372414"/>
            <a:ext cx="6442472" cy="694373"/>
          </a:xfrm>
          <a:prstGeom prst="rect">
            <a:avLst/>
          </a:prstGeom>
          <a:noFill/>
          <a:ln/>
        </p:spPr>
        <p:txBody>
          <a:bodyPr wrap="none" rtlCol="0" anchor="t"/>
          <a:lstStyle/>
          <a:p>
            <a:pPr marL="0" indent="0">
              <a:lnSpc>
                <a:spcPts val="5468"/>
              </a:lnSpc>
              <a:buNone/>
            </a:pPr>
            <a:r>
              <a:rPr lang="en-US" sz="4374" dirty="0" err="1">
                <a:solidFill>
                  <a:srgbClr val="FFFFFF"/>
                </a:solidFill>
                <a:latin typeface="Unbounded" pitchFamily="34" charset="0"/>
                <a:ea typeface="Unbounded" pitchFamily="34" charset="-122"/>
              </a:rPr>
              <a:t>Ejercicio</a:t>
            </a:r>
            <a:r>
              <a:rPr lang="en-US" sz="4374" dirty="0">
                <a:solidFill>
                  <a:srgbClr val="FFFFFF"/>
                </a:solidFill>
                <a:latin typeface="Unbounded" pitchFamily="34" charset="0"/>
                <a:ea typeface="Unbounded" pitchFamily="34" charset="-122"/>
              </a:rPr>
              <a:t> con </a:t>
            </a:r>
            <a:r>
              <a:rPr lang="en-US" sz="4374" dirty="0" err="1">
                <a:solidFill>
                  <a:srgbClr val="FFFFFF"/>
                </a:solidFill>
                <a:latin typeface="Unbounded" pitchFamily="34" charset="0"/>
                <a:ea typeface="Unbounded" pitchFamily="34" charset="-122"/>
              </a:rPr>
              <a:t>simulador</a:t>
            </a:r>
            <a:r>
              <a:rPr lang="en-US" sz="4374" dirty="0">
                <a:solidFill>
                  <a:srgbClr val="FFFFFF"/>
                </a:solidFill>
                <a:latin typeface="Unbounded" pitchFamily="34" charset="0"/>
                <a:ea typeface="Unbounded" pitchFamily="34" charset="-122"/>
              </a:rPr>
              <a:t> </a:t>
            </a:r>
            <a:endParaRPr lang="en-US" sz="4374" dirty="0"/>
          </a:p>
        </p:txBody>
      </p:sp>
      <p:pic>
        <p:nvPicPr>
          <p:cNvPr id="5" name="Imagen 4">
            <a:extLst>
              <a:ext uri="{FF2B5EF4-FFF2-40B4-BE49-F238E27FC236}">
                <a16:creationId xmlns:a16="http://schemas.microsoft.com/office/drawing/2014/main" id="{8296F113-5961-DD88-0002-3C9657BE7BB5}"/>
              </a:ext>
            </a:extLst>
          </p:cNvPr>
          <p:cNvPicPr>
            <a:picLocks noChangeAspect="1"/>
          </p:cNvPicPr>
          <p:nvPr/>
        </p:nvPicPr>
        <p:blipFill>
          <a:blip r:embed="rId4"/>
          <a:stretch>
            <a:fillRect/>
          </a:stretch>
        </p:blipFill>
        <p:spPr>
          <a:xfrm>
            <a:off x="2416629" y="1609374"/>
            <a:ext cx="8819741" cy="65821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icPr>
            <a:picLocks noChangeAspect="1"/>
          </p:cNvPicPr>
          <p:nvPr/>
        </p:nvPicPr>
        <p:blipFill>
          <a:blip r:embed="rId4"/>
          <a:stretch>
            <a:fillRect/>
          </a:stretch>
        </p:blipFill>
        <p:spPr>
          <a:xfrm>
            <a:off x="0" y="0"/>
            <a:ext cx="3657600" cy="8229600"/>
          </a:xfrm>
          <a:prstGeom prst="rect">
            <a:avLst/>
          </a:prstGeom>
        </p:spPr>
      </p:pic>
      <p:sp>
        <p:nvSpPr>
          <p:cNvPr id="9" name="Text 5"/>
          <p:cNvSpPr/>
          <p:nvPr/>
        </p:nvSpPr>
        <p:spPr>
          <a:xfrm>
            <a:off x="4712970" y="5688092"/>
            <a:ext cx="4097774" cy="710803"/>
          </a:xfrm>
          <a:prstGeom prst="rect">
            <a:avLst/>
          </a:prstGeom>
          <a:noFill/>
          <a:ln/>
        </p:spPr>
        <p:txBody>
          <a:bodyPr wrap="square" rtlCol="0" anchor="t"/>
          <a:lstStyle/>
          <a:p>
            <a:pPr marL="0" indent="0">
              <a:lnSpc>
                <a:spcPts val="2799"/>
              </a:lnSpc>
              <a:buNone/>
            </a:pPr>
            <a:endParaRPr lang="en-US" sz="1750" dirty="0"/>
          </a:p>
        </p:txBody>
      </p:sp>
      <p:pic>
        <p:nvPicPr>
          <p:cNvPr id="6" name="Imagen 5">
            <a:extLst>
              <a:ext uri="{FF2B5EF4-FFF2-40B4-BE49-F238E27FC236}">
                <a16:creationId xmlns:a16="http://schemas.microsoft.com/office/drawing/2014/main" id="{E91946ED-D398-D216-23A6-CA59D04D5A34}"/>
              </a:ext>
            </a:extLst>
          </p:cNvPr>
          <p:cNvPicPr>
            <a:picLocks noChangeAspect="1"/>
          </p:cNvPicPr>
          <p:nvPr/>
        </p:nvPicPr>
        <p:blipFill>
          <a:blip r:embed="rId5"/>
          <a:stretch>
            <a:fillRect/>
          </a:stretch>
        </p:blipFill>
        <p:spPr>
          <a:xfrm>
            <a:off x="6761857" y="1655445"/>
            <a:ext cx="4648200" cy="4743450"/>
          </a:xfrm>
          <a:prstGeom prst="rect">
            <a:avLst/>
          </a:prstGeom>
        </p:spPr>
      </p:pic>
    </p:spTree>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541</TotalTime>
  <Words>871</Words>
  <Application>Microsoft Office PowerPoint</Application>
  <PresentationFormat>Personalizado</PresentationFormat>
  <Paragraphs>81</Paragraphs>
  <Slides>11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Cabin</vt:lpstr>
      <vt:lpstr>Calibri</vt:lpstr>
      <vt:lpstr>Gill Sans MT</vt:lpstr>
      <vt:lpstr>Unbounded</vt:lpstr>
      <vt:lpstr>Galería</vt:lpstr>
      <vt:lpstr>Presentación de PowerPoint</vt:lpstr>
      <vt:lpstr>Temas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Garcia Flores, Walter Vinicio</cp:lastModifiedBy>
  <cp:revision>42</cp:revision>
  <dcterms:created xsi:type="dcterms:W3CDTF">2024-02-23T21:08:24Z</dcterms:created>
  <dcterms:modified xsi:type="dcterms:W3CDTF">2024-03-16T18:31:46Z</dcterms:modified>
</cp:coreProperties>
</file>