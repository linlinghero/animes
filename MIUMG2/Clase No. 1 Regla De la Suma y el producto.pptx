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71" r:id="rId4"/>
    <p:sldId id="260" r:id="rId5"/>
    <p:sldId id="258" r:id="rId6"/>
    <p:sldId id="268" r:id="rId7"/>
    <p:sldId id="274" r:id="rId8"/>
    <p:sldId id="262" r:id="rId9"/>
    <p:sldId id="263" r:id="rId10"/>
    <p:sldId id="269" r:id="rId11"/>
    <p:sldId id="264" r:id="rId12"/>
    <p:sldId id="270" r:id="rId13"/>
    <p:sldId id="276" r:id="rId14"/>
    <p:sldId id="275" r:id="rId15"/>
    <p:sldId id="273" r:id="rId16"/>
    <p:sldId id="265" r:id="rId17"/>
    <p:sldId id="266" r:id="rId18"/>
    <p:sldId id="267" r:id="rId19"/>
    <p:sldId id="277" r:id="rId20"/>
    <p:sldId id="278" r:id="rId21"/>
    <p:sldId id="279" r:id="rId22"/>
    <p:sldId id="28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82" d="100"/>
          <a:sy n="82" d="100"/>
        </p:scale>
        <p:origin x="58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A85F51-673B-4A53-A7CE-46E38B3BB275}" type="doc">
      <dgm:prSet loTypeId="urn:microsoft.com/office/officeart/2005/8/layout/hChevron3" loCatId="process" qsTypeId="urn:microsoft.com/office/officeart/2005/8/quickstyle/simple5" qsCatId="simple" csTypeId="urn:microsoft.com/office/officeart/2005/8/colors/colorful2" csCatId="colorful" phldr="1"/>
      <dgm:spPr/>
      <dgm:t>
        <a:bodyPr/>
        <a:lstStyle/>
        <a:p>
          <a:endParaRPr lang="en-US"/>
        </a:p>
      </dgm:t>
    </dgm:pt>
    <dgm:pt modelId="{ACD299B7-EA51-407B-98DA-6A8DA7AF767A}">
      <dgm:prSet/>
      <dgm:spPr/>
      <dgm:t>
        <a:bodyPr/>
        <a:lstStyle/>
        <a:p>
          <a:r>
            <a:rPr lang="es-GT" dirty="0">
              <a:solidFill>
                <a:schemeClr val="bg1"/>
              </a:solidFill>
              <a:latin typeface="Arial" panose="020B0604020202020204" pitchFamily="34" charset="0"/>
              <a:cs typeface="Arial" panose="020B0604020202020204" pitchFamily="34" charset="0"/>
            </a:rPr>
            <a:t>La investigación en el área se enfoca en el estudio de objetos de naturaleza finita. Un ejemplo típico es el de grafo.</a:t>
          </a:r>
          <a:endParaRPr lang="en-US" dirty="0">
            <a:solidFill>
              <a:schemeClr val="bg1"/>
            </a:solidFill>
            <a:latin typeface="Arial" panose="020B0604020202020204" pitchFamily="34" charset="0"/>
            <a:cs typeface="Arial" panose="020B0604020202020204" pitchFamily="34" charset="0"/>
          </a:endParaRPr>
        </a:p>
      </dgm:t>
    </dgm:pt>
    <dgm:pt modelId="{E19F25F5-3793-40B4-BBF6-A2DCC60B74D8}" type="parTrans" cxnId="{4256E248-1F7E-45B3-8F68-4F2E8FB5A518}">
      <dgm:prSet/>
      <dgm:spPr/>
      <dgm:t>
        <a:bodyPr/>
        <a:lstStyle/>
        <a:p>
          <a:endParaRPr lang="en-US"/>
        </a:p>
      </dgm:t>
    </dgm:pt>
    <dgm:pt modelId="{97C3AC38-2B1D-41C5-9F93-19AC0671957E}" type="sibTrans" cxnId="{4256E248-1F7E-45B3-8F68-4F2E8FB5A518}">
      <dgm:prSet/>
      <dgm:spPr/>
      <dgm:t>
        <a:bodyPr/>
        <a:lstStyle/>
        <a:p>
          <a:endParaRPr lang="en-US"/>
        </a:p>
      </dgm:t>
    </dgm:pt>
    <dgm:pt modelId="{9C19A343-99C3-4A57-BF2F-C14C071AE898}">
      <dgm:prSet/>
      <dgm:spPr/>
      <dgm:t>
        <a:bodyPr/>
        <a:lstStyle/>
        <a:p>
          <a:r>
            <a:rPr lang="es-GT" dirty="0">
              <a:solidFill>
                <a:schemeClr val="bg1"/>
              </a:solidFill>
            </a:rPr>
            <a:t>Los problemas abordados conciernen diversos ámbitos como la informática teórica, la teoría de grafos, estructuras aleatorias, al diseño y análisis de algoritmos, así como la aplicación a problemas particulares de la informática, investigación operativa, ciencias sociales, etc.</a:t>
          </a:r>
          <a:endParaRPr lang="en-US" dirty="0">
            <a:solidFill>
              <a:schemeClr val="bg1"/>
            </a:solidFill>
          </a:endParaRPr>
        </a:p>
      </dgm:t>
    </dgm:pt>
    <dgm:pt modelId="{3DCF01B2-FF33-452C-9188-47FBDD31CC1C}" type="parTrans" cxnId="{0D67FB99-F9A9-4585-B48A-8C5E6393588D}">
      <dgm:prSet/>
      <dgm:spPr/>
      <dgm:t>
        <a:bodyPr/>
        <a:lstStyle/>
        <a:p>
          <a:endParaRPr lang="en-US"/>
        </a:p>
      </dgm:t>
    </dgm:pt>
    <dgm:pt modelId="{4B143565-539D-48B3-B6AC-EA6E0326EDD9}" type="sibTrans" cxnId="{0D67FB99-F9A9-4585-B48A-8C5E6393588D}">
      <dgm:prSet/>
      <dgm:spPr/>
      <dgm:t>
        <a:bodyPr/>
        <a:lstStyle/>
        <a:p>
          <a:endParaRPr lang="en-US"/>
        </a:p>
      </dgm:t>
    </dgm:pt>
    <dgm:pt modelId="{5597250A-FBF0-46B4-B189-68BD1C5245F2}">
      <dgm:prSet custT="1"/>
      <dgm:spPr/>
      <dgm:t>
        <a:bodyPr/>
        <a:lstStyle/>
        <a:p>
          <a:r>
            <a:rPr lang="es-GT" sz="2400" dirty="0">
              <a:solidFill>
                <a:schemeClr val="bg1"/>
              </a:solidFill>
            </a:rPr>
            <a:t>Entre las herramientas utilizadas destacan:</a:t>
          </a:r>
          <a:endParaRPr lang="en-US" sz="2400" dirty="0">
            <a:solidFill>
              <a:schemeClr val="bg1"/>
            </a:solidFill>
          </a:endParaRPr>
        </a:p>
      </dgm:t>
    </dgm:pt>
    <dgm:pt modelId="{765BDB2D-4BA7-4DA8-96E3-B376B2106AF5}" type="parTrans" cxnId="{A2F29208-44B2-4911-89A8-8CE3AB6F86AA}">
      <dgm:prSet/>
      <dgm:spPr/>
      <dgm:t>
        <a:bodyPr/>
        <a:lstStyle/>
        <a:p>
          <a:endParaRPr lang="en-US"/>
        </a:p>
      </dgm:t>
    </dgm:pt>
    <dgm:pt modelId="{7F2CA310-8437-48D2-BC4E-6804429901D4}" type="sibTrans" cxnId="{A2F29208-44B2-4911-89A8-8CE3AB6F86AA}">
      <dgm:prSet/>
      <dgm:spPr/>
      <dgm:t>
        <a:bodyPr/>
        <a:lstStyle/>
        <a:p>
          <a:endParaRPr lang="en-US"/>
        </a:p>
      </dgm:t>
    </dgm:pt>
    <dgm:pt modelId="{8C641860-9AD1-4BBF-9823-895C8D763036}">
      <dgm:prSet custT="1"/>
      <dgm:spPr/>
      <dgm:t>
        <a:bodyPr/>
        <a:lstStyle/>
        <a:p>
          <a:r>
            <a:rPr lang="es-GT" sz="1800" dirty="0">
              <a:solidFill>
                <a:schemeClr val="bg1"/>
              </a:solidFill>
            </a:rPr>
            <a:t>Las combinatorias</a:t>
          </a:r>
          <a:endParaRPr lang="en-US" sz="1800" dirty="0">
            <a:solidFill>
              <a:schemeClr val="bg1"/>
            </a:solidFill>
          </a:endParaRPr>
        </a:p>
      </dgm:t>
    </dgm:pt>
    <dgm:pt modelId="{A6CE9267-54AE-479E-876E-9B5D979803C4}" type="parTrans" cxnId="{C283420C-564D-41D7-99A4-75F45CCE9499}">
      <dgm:prSet/>
      <dgm:spPr/>
      <dgm:t>
        <a:bodyPr/>
        <a:lstStyle/>
        <a:p>
          <a:endParaRPr lang="en-US"/>
        </a:p>
      </dgm:t>
    </dgm:pt>
    <dgm:pt modelId="{46FE7912-730D-4EF7-8E42-EE9B6A2184E1}" type="sibTrans" cxnId="{C283420C-564D-41D7-99A4-75F45CCE9499}">
      <dgm:prSet/>
      <dgm:spPr/>
      <dgm:t>
        <a:bodyPr/>
        <a:lstStyle/>
        <a:p>
          <a:endParaRPr lang="en-US"/>
        </a:p>
      </dgm:t>
    </dgm:pt>
    <dgm:pt modelId="{29186125-FA96-4E44-9051-EA6E0433EA9C}">
      <dgm:prSet custT="1"/>
      <dgm:spPr/>
      <dgm:t>
        <a:bodyPr/>
        <a:lstStyle/>
        <a:p>
          <a:r>
            <a:rPr lang="es-GT" sz="1800" dirty="0">
              <a:solidFill>
                <a:schemeClr val="bg1"/>
              </a:solidFill>
            </a:rPr>
            <a:t>La teoría poliedra y de programación lineal</a:t>
          </a:r>
          <a:endParaRPr lang="en-US" sz="1800" dirty="0">
            <a:solidFill>
              <a:schemeClr val="bg1"/>
            </a:solidFill>
          </a:endParaRPr>
        </a:p>
      </dgm:t>
    </dgm:pt>
    <dgm:pt modelId="{45BCA423-3918-40DE-BED3-EE71DD28796B}" type="parTrans" cxnId="{D64195CF-0581-4DD5-AD52-982D7484C7FB}">
      <dgm:prSet/>
      <dgm:spPr/>
      <dgm:t>
        <a:bodyPr/>
        <a:lstStyle/>
        <a:p>
          <a:endParaRPr lang="en-US"/>
        </a:p>
      </dgm:t>
    </dgm:pt>
    <dgm:pt modelId="{93465205-A75F-48A0-8381-8D0949ECE2F7}" type="sibTrans" cxnId="{D64195CF-0581-4DD5-AD52-982D7484C7FB}">
      <dgm:prSet/>
      <dgm:spPr/>
      <dgm:t>
        <a:bodyPr/>
        <a:lstStyle/>
        <a:p>
          <a:endParaRPr lang="en-US"/>
        </a:p>
      </dgm:t>
    </dgm:pt>
    <dgm:pt modelId="{7285F54D-E3D5-461B-84D8-E0FE8B19BE27}">
      <dgm:prSet custT="1"/>
      <dgm:spPr/>
      <dgm:t>
        <a:bodyPr/>
        <a:lstStyle/>
        <a:p>
          <a:r>
            <a:rPr lang="es-GT" sz="1800" dirty="0">
              <a:solidFill>
                <a:schemeClr val="bg1"/>
              </a:solidFill>
            </a:rPr>
            <a:t>El método probabilista</a:t>
          </a:r>
          <a:endParaRPr lang="en-US" sz="1800" dirty="0">
            <a:solidFill>
              <a:schemeClr val="bg1"/>
            </a:solidFill>
          </a:endParaRPr>
        </a:p>
      </dgm:t>
    </dgm:pt>
    <dgm:pt modelId="{8FFCB1F2-1F95-4348-A907-C1CF424D44BC}" type="parTrans" cxnId="{A1EDEFB6-3C31-48A3-A404-5595040133F8}">
      <dgm:prSet/>
      <dgm:spPr/>
      <dgm:t>
        <a:bodyPr/>
        <a:lstStyle/>
        <a:p>
          <a:endParaRPr lang="en-US"/>
        </a:p>
      </dgm:t>
    </dgm:pt>
    <dgm:pt modelId="{0E85894E-D299-417A-B347-8E3F83C8D8EC}" type="sibTrans" cxnId="{A1EDEFB6-3C31-48A3-A404-5595040133F8}">
      <dgm:prSet/>
      <dgm:spPr/>
      <dgm:t>
        <a:bodyPr/>
        <a:lstStyle/>
        <a:p>
          <a:endParaRPr lang="en-US"/>
        </a:p>
      </dgm:t>
    </dgm:pt>
    <dgm:pt modelId="{BDE4505B-D0F5-41D0-900C-4BAAD3C77711}">
      <dgm:prSet custT="1"/>
      <dgm:spPr/>
      <dgm:t>
        <a:bodyPr/>
        <a:lstStyle/>
        <a:p>
          <a:r>
            <a:rPr lang="es-GT" sz="1800" dirty="0">
              <a:solidFill>
                <a:schemeClr val="bg1"/>
              </a:solidFill>
            </a:rPr>
            <a:t>La teoría de códigos</a:t>
          </a:r>
          <a:endParaRPr lang="en-US" sz="1800" dirty="0">
            <a:solidFill>
              <a:schemeClr val="bg1"/>
            </a:solidFill>
          </a:endParaRPr>
        </a:p>
      </dgm:t>
    </dgm:pt>
    <dgm:pt modelId="{BB561B84-D007-44EA-99EA-C57CAD752F66}" type="parTrans" cxnId="{8EE36DFF-B520-4287-B167-F29A577D8386}">
      <dgm:prSet/>
      <dgm:spPr/>
      <dgm:t>
        <a:bodyPr/>
        <a:lstStyle/>
        <a:p>
          <a:endParaRPr lang="en-US"/>
        </a:p>
      </dgm:t>
    </dgm:pt>
    <dgm:pt modelId="{69462296-301B-48C3-A2E0-502D9B87D21E}" type="sibTrans" cxnId="{8EE36DFF-B520-4287-B167-F29A577D8386}">
      <dgm:prSet/>
      <dgm:spPr/>
      <dgm:t>
        <a:bodyPr/>
        <a:lstStyle/>
        <a:p>
          <a:endParaRPr lang="en-US"/>
        </a:p>
      </dgm:t>
    </dgm:pt>
    <dgm:pt modelId="{6ACEEDFA-DBB7-4CFD-9531-11BCEDB54810}" type="pres">
      <dgm:prSet presAssocID="{B0A85F51-673B-4A53-A7CE-46E38B3BB275}" presName="Name0" presStyleCnt="0">
        <dgm:presLayoutVars>
          <dgm:dir/>
          <dgm:resizeHandles val="exact"/>
        </dgm:presLayoutVars>
      </dgm:prSet>
      <dgm:spPr/>
    </dgm:pt>
    <dgm:pt modelId="{CB409479-D3FF-47C4-B7AD-BFDB1655F81C}" type="pres">
      <dgm:prSet presAssocID="{ACD299B7-EA51-407B-98DA-6A8DA7AF767A}" presName="parAndChTx" presStyleLbl="node1" presStyleIdx="0" presStyleCnt="3">
        <dgm:presLayoutVars>
          <dgm:bulletEnabled val="1"/>
        </dgm:presLayoutVars>
      </dgm:prSet>
      <dgm:spPr/>
    </dgm:pt>
    <dgm:pt modelId="{8CB7EB39-D42C-4D63-A079-C8E7916E0C90}" type="pres">
      <dgm:prSet presAssocID="{97C3AC38-2B1D-41C5-9F93-19AC0671957E}" presName="parAndChSpace" presStyleCnt="0"/>
      <dgm:spPr/>
    </dgm:pt>
    <dgm:pt modelId="{91F93B8A-22AE-4D08-8F77-1D5643C50EBC}" type="pres">
      <dgm:prSet presAssocID="{9C19A343-99C3-4A57-BF2F-C14C071AE898}" presName="parAndChTx" presStyleLbl="node1" presStyleIdx="1" presStyleCnt="3">
        <dgm:presLayoutVars>
          <dgm:bulletEnabled val="1"/>
        </dgm:presLayoutVars>
      </dgm:prSet>
      <dgm:spPr/>
    </dgm:pt>
    <dgm:pt modelId="{DA376606-AB50-4FB0-81E1-F9A53BEEA9FF}" type="pres">
      <dgm:prSet presAssocID="{4B143565-539D-48B3-B6AC-EA6E0326EDD9}" presName="parAndChSpace" presStyleCnt="0"/>
      <dgm:spPr/>
    </dgm:pt>
    <dgm:pt modelId="{77B97031-E5B5-4D9B-A587-1785F89FF2EB}" type="pres">
      <dgm:prSet presAssocID="{5597250A-FBF0-46B4-B189-68BD1C5245F2}" presName="parAndChTx" presStyleLbl="node1" presStyleIdx="2" presStyleCnt="3">
        <dgm:presLayoutVars>
          <dgm:bulletEnabled val="1"/>
        </dgm:presLayoutVars>
      </dgm:prSet>
      <dgm:spPr/>
    </dgm:pt>
  </dgm:ptLst>
  <dgm:cxnLst>
    <dgm:cxn modelId="{A2F29208-44B2-4911-89A8-8CE3AB6F86AA}" srcId="{B0A85F51-673B-4A53-A7CE-46E38B3BB275}" destId="{5597250A-FBF0-46B4-B189-68BD1C5245F2}" srcOrd="2" destOrd="0" parTransId="{765BDB2D-4BA7-4DA8-96E3-B376B2106AF5}" sibTransId="{7F2CA310-8437-48D2-BC4E-6804429901D4}"/>
    <dgm:cxn modelId="{C283420C-564D-41D7-99A4-75F45CCE9499}" srcId="{5597250A-FBF0-46B4-B189-68BD1C5245F2}" destId="{8C641860-9AD1-4BBF-9823-895C8D763036}" srcOrd="0" destOrd="0" parTransId="{A6CE9267-54AE-479E-876E-9B5D979803C4}" sibTransId="{46FE7912-730D-4EF7-8E42-EE9B6A2184E1}"/>
    <dgm:cxn modelId="{B1E99717-5A8A-4AE7-9091-899F2B2F8F86}" type="presOf" srcId="{7285F54D-E3D5-461B-84D8-E0FE8B19BE27}" destId="{77B97031-E5B5-4D9B-A587-1785F89FF2EB}" srcOrd="0" destOrd="3" presId="urn:microsoft.com/office/officeart/2005/8/layout/hChevron3"/>
    <dgm:cxn modelId="{1E03BA31-92FD-4151-A471-E934F0D54CD4}" type="presOf" srcId="{8C641860-9AD1-4BBF-9823-895C8D763036}" destId="{77B97031-E5B5-4D9B-A587-1785F89FF2EB}" srcOrd="0" destOrd="1" presId="urn:microsoft.com/office/officeart/2005/8/layout/hChevron3"/>
    <dgm:cxn modelId="{1E2F5535-7C7F-46C8-9246-97DE8C08D91D}" type="presOf" srcId="{29186125-FA96-4E44-9051-EA6E0433EA9C}" destId="{77B97031-E5B5-4D9B-A587-1785F89FF2EB}" srcOrd="0" destOrd="2" presId="urn:microsoft.com/office/officeart/2005/8/layout/hChevron3"/>
    <dgm:cxn modelId="{EB8CA964-84B1-45F5-86AA-DF5E5CE388AC}" type="presOf" srcId="{9C19A343-99C3-4A57-BF2F-C14C071AE898}" destId="{91F93B8A-22AE-4D08-8F77-1D5643C50EBC}" srcOrd="0" destOrd="0" presId="urn:microsoft.com/office/officeart/2005/8/layout/hChevron3"/>
    <dgm:cxn modelId="{4256E248-1F7E-45B3-8F68-4F2E8FB5A518}" srcId="{B0A85F51-673B-4A53-A7CE-46E38B3BB275}" destId="{ACD299B7-EA51-407B-98DA-6A8DA7AF767A}" srcOrd="0" destOrd="0" parTransId="{E19F25F5-3793-40B4-BBF6-A2DCC60B74D8}" sibTransId="{97C3AC38-2B1D-41C5-9F93-19AC0671957E}"/>
    <dgm:cxn modelId="{FE404C6E-2543-4852-9A68-5CD9AA4C0C22}" type="presOf" srcId="{5597250A-FBF0-46B4-B189-68BD1C5245F2}" destId="{77B97031-E5B5-4D9B-A587-1785F89FF2EB}" srcOrd="0" destOrd="0" presId="urn:microsoft.com/office/officeart/2005/8/layout/hChevron3"/>
    <dgm:cxn modelId="{E772A090-E327-4632-8F44-6ED1EBA662EF}" type="presOf" srcId="{ACD299B7-EA51-407B-98DA-6A8DA7AF767A}" destId="{CB409479-D3FF-47C4-B7AD-BFDB1655F81C}" srcOrd="0" destOrd="0" presId="urn:microsoft.com/office/officeart/2005/8/layout/hChevron3"/>
    <dgm:cxn modelId="{0D67FB99-F9A9-4585-B48A-8C5E6393588D}" srcId="{B0A85F51-673B-4A53-A7CE-46E38B3BB275}" destId="{9C19A343-99C3-4A57-BF2F-C14C071AE898}" srcOrd="1" destOrd="0" parTransId="{3DCF01B2-FF33-452C-9188-47FBDD31CC1C}" sibTransId="{4B143565-539D-48B3-B6AC-EA6E0326EDD9}"/>
    <dgm:cxn modelId="{1B254AB1-A2D3-44FE-9E0F-8708F4D7EFBA}" type="presOf" srcId="{B0A85F51-673B-4A53-A7CE-46E38B3BB275}" destId="{6ACEEDFA-DBB7-4CFD-9531-11BCEDB54810}" srcOrd="0" destOrd="0" presId="urn:microsoft.com/office/officeart/2005/8/layout/hChevron3"/>
    <dgm:cxn modelId="{A1EDEFB6-3C31-48A3-A404-5595040133F8}" srcId="{5597250A-FBF0-46B4-B189-68BD1C5245F2}" destId="{7285F54D-E3D5-461B-84D8-E0FE8B19BE27}" srcOrd="2" destOrd="0" parTransId="{8FFCB1F2-1F95-4348-A907-C1CF424D44BC}" sibTransId="{0E85894E-D299-417A-B347-8E3F83C8D8EC}"/>
    <dgm:cxn modelId="{D64195CF-0581-4DD5-AD52-982D7484C7FB}" srcId="{5597250A-FBF0-46B4-B189-68BD1C5245F2}" destId="{29186125-FA96-4E44-9051-EA6E0433EA9C}" srcOrd="1" destOrd="0" parTransId="{45BCA423-3918-40DE-BED3-EE71DD28796B}" sibTransId="{93465205-A75F-48A0-8381-8D0949ECE2F7}"/>
    <dgm:cxn modelId="{280041D2-070F-4137-9AB8-C886A0AF1551}" type="presOf" srcId="{BDE4505B-D0F5-41D0-900C-4BAAD3C77711}" destId="{77B97031-E5B5-4D9B-A587-1785F89FF2EB}" srcOrd="0" destOrd="4" presId="urn:microsoft.com/office/officeart/2005/8/layout/hChevron3"/>
    <dgm:cxn modelId="{8EE36DFF-B520-4287-B167-F29A577D8386}" srcId="{5597250A-FBF0-46B4-B189-68BD1C5245F2}" destId="{BDE4505B-D0F5-41D0-900C-4BAAD3C77711}" srcOrd="3" destOrd="0" parTransId="{BB561B84-D007-44EA-99EA-C57CAD752F66}" sibTransId="{69462296-301B-48C3-A2E0-502D9B87D21E}"/>
    <dgm:cxn modelId="{9EA7D1DD-8530-4BEF-A8E6-D2FCD1E53AC4}" type="presParOf" srcId="{6ACEEDFA-DBB7-4CFD-9531-11BCEDB54810}" destId="{CB409479-D3FF-47C4-B7AD-BFDB1655F81C}" srcOrd="0" destOrd="0" presId="urn:microsoft.com/office/officeart/2005/8/layout/hChevron3"/>
    <dgm:cxn modelId="{F77F8BA5-3418-4B95-BB07-6B9C542447D8}" type="presParOf" srcId="{6ACEEDFA-DBB7-4CFD-9531-11BCEDB54810}" destId="{8CB7EB39-D42C-4D63-A079-C8E7916E0C90}" srcOrd="1" destOrd="0" presId="urn:microsoft.com/office/officeart/2005/8/layout/hChevron3"/>
    <dgm:cxn modelId="{EC8E07FB-706E-4B9F-9C49-E4123E247EBF}" type="presParOf" srcId="{6ACEEDFA-DBB7-4CFD-9531-11BCEDB54810}" destId="{91F93B8A-22AE-4D08-8F77-1D5643C50EBC}" srcOrd="2" destOrd="0" presId="urn:microsoft.com/office/officeart/2005/8/layout/hChevron3"/>
    <dgm:cxn modelId="{F5BC54E7-711B-476F-9506-2A721F515EDC}" type="presParOf" srcId="{6ACEEDFA-DBB7-4CFD-9531-11BCEDB54810}" destId="{DA376606-AB50-4FB0-81E1-F9A53BEEA9FF}" srcOrd="3" destOrd="0" presId="urn:microsoft.com/office/officeart/2005/8/layout/hChevron3"/>
    <dgm:cxn modelId="{B7D8E716-EC54-404B-8D9C-DC474D1BEC1C}" type="presParOf" srcId="{6ACEEDFA-DBB7-4CFD-9531-11BCEDB54810}" destId="{77B97031-E5B5-4D9B-A587-1785F89FF2EB}"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5AF015-2988-44B6-BCFE-8BBFC07F70DA}"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F0C88C9E-7A1E-41D2-8276-767C41E07BB6}">
      <dgm:prSet custT="1"/>
      <dgm:spPr/>
      <dgm:t>
        <a:bodyPr/>
        <a:lstStyle/>
        <a:p>
          <a:pPr algn="just"/>
          <a:r>
            <a:rPr lang="es-GT" sz="2400" dirty="0">
              <a:solidFill>
                <a:schemeClr val="tx1"/>
              </a:solidFill>
            </a:rPr>
            <a:t>El principio fundamental del conteo  se puede utilizar para determinar la cantidad total de resultados cuando hay dos o mas características que puedan variar al realizar distintos procedimientos de forma secuencial.</a:t>
          </a:r>
          <a:endParaRPr lang="en-US" sz="2400" dirty="0">
            <a:solidFill>
              <a:schemeClr val="tx1"/>
            </a:solidFill>
          </a:endParaRPr>
        </a:p>
      </dgm:t>
    </dgm:pt>
    <dgm:pt modelId="{BECF17A4-DECA-4EB2-9321-669768D5132A}" type="parTrans" cxnId="{D471132D-2530-4DB2-B3E5-5868777828F0}">
      <dgm:prSet/>
      <dgm:spPr/>
      <dgm:t>
        <a:bodyPr/>
        <a:lstStyle/>
        <a:p>
          <a:endParaRPr lang="en-US"/>
        </a:p>
      </dgm:t>
    </dgm:pt>
    <dgm:pt modelId="{5BE2FB91-6645-40B2-993A-0B8610C175A4}" type="sibTrans" cxnId="{D471132D-2530-4DB2-B3E5-5868777828F0}">
      <dgm:prSet/>
      <dgm:spPr/>
      <dgm:t>
        <a:bodyPr/>
        <a:lstStyle/>
        <a:p>
          <a:endParaRPr lang="en-US"/>
        </a:p>
      </dgm:t>
    </dgm:pt>
    <dgm:pt modelId="{77909DE3-B32A-48AA-99E0-7FCBE52CE9BC}">
      <dgm:prSet custT="1"/>
      <dgm:spPr/>
      <dgm:t>
        <a:bodyPr/>
        <a:lstStyle/>
        <a:p>
          <a:pPr algn="just"/>
          <a:r>
            <a:rPr lang="es-GT" sz="2400" dirty="0">
              <a:solidFill>
                <a:schemeClr val="tx1"/>
              </a:solidFill>
            </a:rPr>
            <a:t>El principio fundamental en el proceso de contar ofrece un método general para contar el numero de posibles arreglos de objetos dentro de un solo conjunto o entre varios conjuntos. Las técnicas de conteo son aquellas que son usadas para enumerar eventos difíciles de cuantificar.</a:t>
          </a:r>
          <a:endParaRPr lang="en-US" sz="2400" dirty="0">
            <a:solidFill>
              <a:schemeClr val="tx1"/>
            </a:solidFill>
          </a:endParaRPr>
        </a:p>
      </dgm:t>
    </dgm:pt>
    <dgm:pt modelId="{19870F3A-0A83-4BC1-BE1E-766948967993}" type="parTrans" cxnId="{B9E47108-008B-409D-8556-86656F63FFA1}">
      <dgm:prSet/>
      <dgm:spPr/>
      <dgm:t>
        <a:bodyPr/>
        <a:lstStyle/>
        <a:p>
          <a:endParaRPr lang="en-US"/>
        </a:p>
      </dgm:t>
    </dgm:pt>
    <dgm:pt modelId="{0762EC6C-7516-48AE-B3D5-B4D6FF4C7F43}" type="sibTrans" cxnId="{B9E47108-008B-409D-8556-86656F63FFA1}">
      <dgm:prSet/>
      <dgm:spPr/>
      <dgm:t>
        <a:bodyPr/>
        <a:lstStyle/>
        <a:p>
          <a:endParaRPr lang="en-US"/>
        </a:p>
      </dgm:t>
    </dgm:pt>
    <dgm:pt modelId="{2F9E9779-87A3-421B-96BF-46C844FE20E8}" type="pres">
      <dgm:prSet presAssocID="{8E5AF015-2988-44B6-BCFE-8BBFC07F70DA}" presName="linear" presStyleCnt="0">
        <dgm:presLayoutVars>
          <dgm:animLvl val="lvl"/>
          <dgm:resizeHandles val="exact"/>
        </dgm:presLayoutVars>
      </dgm:prSet>
      <dgm:spPr/>
    </dgm:pt>
    <dgm:pt modelId="{D27D2AC0-D427-4261-A5ED-D0E9D42B37F7}" type="pres">
      <dgm:prSet presAssocID="{F0C88C9E-7A1E-41D2-8276-767C41E07BB6}" presName="parentText" presStyleLbl="node1" presStyleIdx="0" presStyleCnt="2">
        <dgm:presLayoutVars>
          <dgm:chMax val="0"/>
          <dgm:bulletEnabled val="1"/>
        </dgm:presLayoutVars>
      </dgm:prSet>
      <dgm:spPr/>
    </dgm:pt>
    <dgm:pt modelId="{E6646352-FDF6-4F64-9016-122B6636E7FE}" type="pres">
      <dgm:prSet presAssocID="{5BE2FB91-6645-40B2-993A-0B8610C175A4}" presName="spacer" presStyleCnt="0"/>
      <dgm:spPr/>
    </dgm:pt>
    <dgm:pt modelId="{D68FF46E-745B-4707-BF53-4498BCEA3562}" type="pres">
      <dgm:prSet presAssocID="{77909DE3-B32A-48AA-99E0-7FCBE52CE9BC}" presName="parentText" presStyleLbl="node1" presStyleIdx="1" presStyleCnt="2">
        <dgm:presLayoutVars>
          <dgm:chMax val="0"/>
          <dgm:bulletEnabled val="1"/>
        </dgm:presLayoutVars>
      </dgm:prSet>
      <dgm:spPr/>
    </dgm:pt>
  </dgm:ptLst>
  <dgm:cxnLst>
    <dgm:cxn modelId="{B9E47108-008B-409D-8556-86656F63FFA1}" srcId="{8E5AF015-2988-44B6-BCFE-8BBFC07F70DA}" destId="{77909DE3-B32A-48AA-99E0-7FCBE52CE9BC}" srcOrd="1" destOrd="0" parTransId="{19870F3A-0A83-4BC1-BE1E-766948967993}" sibTransId="{0762EC6C-7516-48AE-B3D5-B4D6FF4C7F43}"/>
    <dgm:cxn modelId="{D471132D-2530-4DB2-B3E5-5868777828F0}" srcId="{8E5AF015-2988-44B6-BCFE-8BBFC07F70DA}" destId="{F0C88C9E-7A1E-41D2-8276-767C41E07BB6}" srcOrd="0" destOrd="0" parTransId="{BECF17A4-DECA-4EB2-9321-669768D5132A}" sibTransId="{5BE2FB91-6645-40B2-993A-0B8610C175A4}"/>
    <dgm:cxn modelId="{BC5D233E-7F0F-4FE9-B492-734D1DFBABB0}" type="presOf" srcId="{77909DE3-B32A-48AA-99E0-7FCBE52CE9BC}" destId="{D68FF46E-745B-4707-BF53-4498BCEA3562}" srcOrd="0" destOrd="0" presId="urn:microsoft.com/office/officeart/2005/8/layout/vList2"/>
    <dgm:cxn modelId="{51FD0242-4C6A-426A-8FE7-408D131E96DC}" type="presOf" srcId="{8E5AF015-2988-44B6-BCFE-8BBFC07F70DA}" destId="{2F9E9779-87A3-421B-96BF-46C844FE20E8}" srcOrd="0" destOrd="0" presId="urn:microsoft.com/office/officeart/2005/8/layout/vList2"/>
    <dgm:cxn modelId="{7BDA0ED1-D56B-4134-A350-8FACB2F8E0E4}" type="presOf" srcId="{F0C88C9E-7A1E-41D2-8276-767C41E07BB6}" destId="{D27D2AC0-D427-4261-A5ED-D0E9D42B37F7}" srcOrd="0" destOrd="0" presId="urn:microsoft.com/office/officeart/2005/8/layout/vList2"/>
    <dgm:cxn modelId="{890F012C-A5EA-4166-892D-5FEBC6584E81}" type="presParOf" srcId="{2F9E9779-87A3-421B-96BF-46C844FE20E8}" destId="{D27D2AC0-D427-4261-A5ED-D0E9D42B37F7}" srcOrd="0" destOrd="0" presId="urn:microsoft.com/office/officeart/2005/8/layout/vList2"/>
    <dgm:cxn modelId="{1B39670D-8AE3-4110-B421-C755A49F4D8C}" type="presParOf" srcId="{2F9E9779-87A3-421B-96BF-46C844FE20E8}" destId="{E6646352-FDF6-4F64-9016-122B6636E7FE}" srcOrd="1" destOrd="0" presId="urn:microsoft.com/office/officeart/2005/8/layout/vList2"/>
    <dgm:cxn modelId="{6155EADF-AE73-4C96-BDF9-EF573DA8E08A}" type="presParOf" srcId="{2F9E9779-87A3-421B-96BF-46C844FE20E8}" destId="{D68FF46E-745B-4707-BF53-4498BCEA356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C2298-499B-4E1E-83E8-DC1BF1C7CC30}" type="doc">
      <dgm:prSet loTypeId="urn:microsoft.com/office/officeart/2005/8/layout/process4" loCatId="process" qsTypeId="urn:microsoft.com/office/officeart/2005/8/quickstyle/simple4" qsCatId="simple" csTypeId="urn:microsoft.com/office/officeart/2005/8/colors/colorful1" csCatId="colorful"/>
      <dgm:spPr/>
      <dgm:t>
        <a:bodyPr/>
        <a:lstStyle/>
        <a:p>
          <a:endParaRPr lang="en-US"/>
        </a:p>
      </dgm:t>
    </dgm:pt>
    <dgm:pt modelId="{CF1AFADB-B05E-4184-95FD-0D968DF9C88C}">
      <dgm:prSet custT="1"/>
      <dgm:spPr/>
      <dgm:t>
        <a:bodyPr/>
        <a:lstStyle/>
        <a:p>
          <a:pPr algn="just"/>
          <a:r>
            <a:rPr lang="es-GT" sz="1800" b="1" dirty="0">
              <a:solidFill>
                <a:schemeClr val="tx1"/>
              </a:solidFill>
            </a:rPr>
            <a:t>Regla de la Suma:</a:t>
          </a:r>
          <a:r>
            <a:rPr lang="es-GT" sz="1600" b="1" dirty="0">
              <a:solidFill>
                <a:schemeClr val="tx1"/>
              </a:solidFill>
            </a:rPr>
            <a:t>  </a:t>
          </a:r>
          <a:endParaRPr lang="en-US" sz="1600" b="1" dirty="0">
            <a:solidFill>
              <a:schemeClr val="tx1"/>
            </a:solidFill>
          </a:endParaRPr>
        </a:p>
      </dgm:t>
    </dgm:pt>
    <dgm:pt modelId="{7E25DEF6-BEE7-4761-88A5-9627BE91A9A5}" type="parTrans" cxnId="{3D05516F-CD02-4D7B-AEC2-93AE2E9C5D58}">
      <dgm:prSet/>
      <dgm:spPr/>
      <dgm:t>
        <a:bodyPr/>
        <a:lstStyle/>
        <a:p>
          <a:endParaRPr lang="en-US"/>
        </a:p>
      </dgm:t>
    </dgm:pt>
    <dgm:pt modelId="{CA766A39-C87B-4633-A2DE-81EF4DFBDA20}" type="sibTrans" cxnId="{3D05516F-CD02-4D7B-AEC2-93AE2E9C5D58}">
      <dgm:prSet/>
      <dgm:spPr/>
      <dgm:t>
        <a:bodyPr/>
        <a:lstStyle/>
        <a:p>
          <a:endParaRPr lang="en-US"/>
        </a:p>
      </dgm:t>
    </dgm:pt>
    <dgm:pt modelId="{D606CF04-6619-4D62-996F-47596136BDD6}">
      <dgm:prSet custT="1"/>
      <dgm:spPr/>
      <dgm:t>
        <a:bodyPr/>
        <a:lstStyle/>
        <a:p>
          <a:pPr algn="just"/>
          <a:r>
            <a:rPr lang="es-GT" sz="1800" b="1" dirty="0">
              <a:solidFill>
                <a:schemeClr val="tx1"/>
              </a:solidFill>
            </a:rPr>
            <a:t>Si una Primera tarea puede realizarse de m formas, mientras que una segunda tarea puede realzarse de n formas, y no es posible realizar ambas tareas de manera simultanea, entonces para llevar a cabo cualquiera de ellas pueden utilizarse m + n formas</a:t>
          </a:r>
          <a:r>
            <a:rPr lang="es-GT" sz="1800" dirty="0"/>
            <a:t>.</a:t>
          </a:r>
          <a:endParaRPr lang="en-US" sz="1800" dirty="0"/>
        </a:p>
      </dgm:t>
    </dgm:pt>
    <dgm:pt modelId="{75A2E2FA-79E0-4BCA-B8B1-531699BD083F}" type="parTrans" cxnId="{48147F68-F0FB-491B-B137-05D5AE5BFE6A}">
      <dgm:prSet/>
      <dgm:spPr/>
      <dgm:t>
        <a:bodyPr/>
        <a:lstStyle/>
        <a:p>
          <a:endParaRPr lang="en-US"/>
        </a:p>
      </dgm:t>
    </dgm:pt>
    <dgm:pt modelId="{05358D0C-99B0-41E8-909E-92BD9C306AEE}" type="sibTrans" cxnId="{48147F68-F0FB-491B-B137-05D5AE5BFE6A}">
      <dgm:prSet/>
      <dgm:spPr/>
      <dgm:t>
        <a:bodyPr/>
        <a:lstStyle/>
        <a:p>
          <a:endParaRPr lang="en-US"/>
        </a:p>
      </dgm:t>
    </dgm:pt>
    <dgm:pt modelId="{A1B82E0F-11D6-4EF9-AD4C-1259D098D4DD}">
      <dgm:prSet custT="1"/>
      <dgm:spPr/>
      <dgm:t>
        <a:bodyPr/>
        <a:lstStyle/>
        <a:p>
          <a:pPr algn="just"/>
          <a:r>
            <a:rPr lang="es-GT" sz="1800" b="1" dirty="0">
              <a:solidFill>
                <a:schemeClr val="tx1"/>
              </a:solidFill>
            </a:rPr>
            <a:t>Observar que cuando se dice que una ocurrencia en particular, como una primera tarea puede realizarse de m formas, se supone que estas m formas son distintas, a menos que se indique lo contrario.</a:t>
          </a:r>
          <a:endParaRPr lang="en-US" sz="1800" b="1" dirty="0">
            <a:solidFill>
              <a:schemeClr val="tx1"/>
            </a:solidFill>
          </a:endParaRPr>
        </a:p>
      </dgm:t>
    </dgm:pt>
    <dgm:pt modelId="{3852407C-A715-43C4-88DA-6670AD8E5769}" type="parTrans" cxnId="{57C69F2D-83D8-4613-AB6D-8FD616D2E698}">
      <dgm:prSet/>
      <dgm:spPr/>
      <dgm:t>
        <a:bodyPr/>
        <a:lstStyle/>
        <a:p>
          <a:endParaRPr lang="en-US"/>
        </a:p>
      </dgm:t>
    </dgm:pt>
    <dgm:pt modelId="{F4E66E91-97CF-4CF3-9660-EC887FEE94F1}" type="sibTrans" cxnId="{57C69F2D-83D8-4613-AB6D-8FD616D2E698}">
      <dgm:prSet/>
      <dgm:spPr/>
      <dgm:t>
        <a:bodyPr/>
        <a:lstStyle/>
        <a:p>
          <a:endParaRPr lang="en-US"/>
        </a:p>
      </dgm:t>
    </dgm:pt>
    <dgm:pt modelId="{9E827661-5538-44C1-95C5-11864C03500D}">
      <dgm:prSet custT="1"/>
      <dgm:spPr/>
      <dgm:t>
        <a:bodyPr/>
        <a:lstStyle/>
        <a:p>
          <a:pPr algn="just"/>
          <a:r>
            <a:rPr lang="es-GT" sz="1800" b="1" dirty="0">
              <a:solidFill>
                <a:schemeClr val="tx1"/>
              </a:solidFill>
            </a:rPr>
            <a:t>La regla puede ampliarse a mas de dos tareas a la vez, siempre que ninguna pareja de tareas pueda incurrir en forma simultanea.</a:t>
          </a:r>
          <a:endParaRPr lang="en-US" sz="1800" b="1" dirty="0">
            <a:solidFill>
              <a:schemeClr val="tx1"/>
            </a:solidFill>
          </a:endParaRPr>
        </a:p>
      </dgm:t>
    </dgm:pt>
    <dgm:pt modelId="{2DE25C06-E64F-460E-ACFC-1527AF03F89A}" type="parTrans" cxnId="{BEC7B2B5-9DA0-484B-AB44-2821779D88AA}">
      <dgm:prSet/>
      <dgm:spPr/>
      <dgm:t>
        <a:bodyPr/>
        <a:lstStyle/>
        <a:p>
          <a:endParaRPr lang="en-US"/>
        </a:p>
      </dgm:t>
    </dgm:pt>
    <dgm:pt modelId="{DB5C826A-0044-4116-A57C-7993EB39F714}" type="sibTrans" cxnId="{BEC7B2B5-9DA0-484B-AB44-2821779D88AA}">
      <dgm:prSet/>
      <dgm:spPr/>
      <dgm:t>
        <a:bodyPr/>
        <a:lstStyle/>
        <a:p>
          <a:endParaRPr lang="en-US"/>
        </a:p>
      </dgm:t>
    </dgm:pt>
    <dgm:pt modelId="{602E16A8-DE8A-425F-BCDB-2C407F782A75}" type="pres">
      <dgm:prSet presAssocID="{E15C2298-499B-4E1E-83E8-DC1BF1C7CC30}" presName="Name0" presStyleCnt="0">
        <dgm:presLayoutVars>
          <dgm:dir/>
          <dgm:animLvl val="lvl"/>
          <dgm:resizeHandles val="exact"/>
        </dgm:presLayoutVars>
      </dgm:prSet>
      <dgm:spPr/>
    </dgm:pt>
    <dgm:pt modelId="{AD0C8429-27EA-44DF-9D9A-899DBC4F5BDB}" type="pres">
      <dgm:prSet presAssocID="{9E827661-5538-44C1-95C5-11864C03500D}" presName="boxAndChildren" presStyleCnt="0"/>
      <dgm:spPr/>
    </dgm:pt>
    <dgm:pt modelId="{237BDF77-D241-4493-8FFB-AFD9455E1A25}" type="pres">
      <dgm:prSet presAssocID="{9E827661-5538-44C1-95C5-11864C03500D}" presName="parentTextBox" presStyleLbl="node1" presStyleIdx="0" presStyleCnt="4"/>
      <dgm:spPr/>
    </dgm:pt>
    <dgm:pt modelId="{98D69577-B3C1-4D93-B308-B1B9A12DDFAC}" type="pres">
      <dgm:prSet presAssocID="{F4E66E91-97CF-4CF3-9660-EC887FEE94F1}" presName="sp" presStyleCnt="0"/>
      <dgm:spPr/>
    </dgm:pt>
    <dgm:pt modelId="{F3B16C5A-6392-47E9-AF0F-A5D3C45E74AB}" type="pres">
      <dgm:prSet presAssocID="{A1B82E0F-11D6-4EF9-AD4C-1259D098D4DD}" presName="arrowAndChildren" presStyleCnt="0"/>
      <dgm:spPr/>
    </dgm:pt>
    <dgm:pt modelId="{626BC1B7-A5E1-4C73-A1FA-688486B88AC3}" type="pres">
      <dgm:prSet presAssocID="{A1B82E0F-11D6-4EF9-AD4C-1259D098D4DD}" presName="parentTextArrow" presStyleLbl="node1" presStyleIdx="1" presStyleCnt="4"/>
      <dgm:spPr/>
    </dgm:pt>
    <dgm:pt modelId="{8A767C9F-75AE-4668-A2F5-E39714B62C94}" type="pres">
      <dgm:prSet presAssocID="{05358D0C-99B0-41E8-909E-92BD9C306AEE}" presName="sp" presStyleCnt="0"/>
      <dgm:spPr/>
    </dgm:pt>
    <dgm:pt modelId="{28D291EE-98DC-48A9-8EBC-BF5C4286AE8B}" type="pres">
      <dgm:prSet presAssocID="{D606CF04-6619-4D62-996F-47596136BDD6}" presName="arrowAndChildren" presStyleCnt="0"/>
      <dgm:spPr/>
    </dgm:pt>
    <dgm:pt modelId="{A55FF3E8-F7F4-4103-9667-6E6865F3B7FD}" type="pres">
      <dgm:prSet presAssocID="{D606CF04-6619-4D62-996F-47596136BDD6}" presName="parentTextArrow" presStyleLbl="node1" presStyleIdx="2" presStyleCnt="4"/>
      <dgm:spPr/>
    </dgm:pt>
    <dgm:pt modelId="{BD4346BF-ABC0-4CEC-9D04-B68D0D1D200D}" type="pres">
      <dgm:prSet presAssocID="{CA766A39-C87B-4633-A2DE-81EF4DFBDA20}" presName="sp" presStyleCnt="0"/>
      <dgm:spPr/>
    </dgm:pt>
    <dgm:pt modelId="{C5FCB68B-0986-4662-B68F-4E809C37207D}" type="pres">
      <dgm:prSet presAssocID="{CF1AFADB-B05E-4184-95FD-0D968DF9C88C}" presName="arrowAndChildren" presStyleCnt="0"/>
      <dgm:spPr/>
    </dgm:pt>
    <dgm:pt modelId="{CBC546DD-BF00-4FA3-A63C-596D2F4EEBE9}" type="pres">
      <dgm:prSet presAssocID="{CF1AFADB-B05E-4184-95FD-0D968DF9C88C}" presName="parentTextArrow" presStyleLbl="node1" presStyleIdx="3" presStyleCnt="4"/>
      <dgm:spPr/>
    </dgm:pt>
  </dgm:ptLst>
  <dgm:cxnLst>
    <dgm:cxn modelId="{57C69F2D-83D8-4613-AB6D-8FD616D2E698}" srcId="{E15C2298-499B-4E1E-83E8-DC1BF1C7CC30}" destId="{A1B82E0F-11D6-4EF9-AD4C-1259D098D4DD}" srcOrd="2" destOrd="0" parTransId="{3852407C-A715-43C4-88DA-6670AD8E5769}" sibTransId="{F4E66E91-97CF-4CF3-9660-EC887FEE94F1}"/>
    <dgm:cxn modelId="{C734CF34-A2E0-40CB-85D6-3D9B95B9F5DD}" type="presOf" srcId="{D606CF04-6619-4D62-996F-47596136BDD6}" destId="{A55FF3E8-F7F4-4103-9667-6E6865F3B7FD}" srcOrd="0" destOrd="0" presId="urn:microsoft.com/office/officeart/2005/8/layout/process4"/>
    <dgm:cxn modelId="{48147F68-F0FB-491B-B137-05D5AE5BFE6A}" srcId="{E15C2298-499B-4E1E-83E8-DC1BF1C7CC30}" destId="{D606CF04-6619-4D62-996F-47596136BDD6}" srcOrd="1" destOrd="0" parTransId="{75A2E2FA-79E0-4BCA-B8B1-531699BD083F}" sibTransId="{05358D0C-99B0-41E8-909E-92BD9C306AEE}"/>
    <dgm:cxn modelId="{F6FAE569-1A06-4DB2-A7FB-883B6137D086}" type="presOf" srcId="{A1B82E0F-11D6-4EF9-AD4C-1259D098D4DD}" destId="{626BC1B7-A5E1-4C73-A1FA-688486B88AC3}" srcOrd="0" destOrd="0" presId="urn:microsoft.com/office/officeart/2005/8/layout/process4"/>
    <dgm:cxn modelId="{3D05516F-CD02-4D7B-AEC2-93AE2E9C5D58}" srcId="{E15C2298-499B-4E1E-83E8-DC1BF1C7CC30}" destId="{CF1AFADB-B05E-4184-95FD-0D968DF9C88C}" srcOrd="0" destOrd="0" parTransId="{7E25DEF6-BEE7-4761-88A5-9627BE91A9A5}" sibTransId="{CA766A39-C87B-4633-A2DE-81EF4DFBDA20}"/>
    <dgm:cxn modelId="{5A435D82-4DB0-4B4D-A136-ADD5634A5E26}" type="presOf" srcId="{CF1AFADB-B05E-4184-95FD-0D968DF9C88C}" destId="{CBC546DD-BF00-4FA3-A63C-596D2F4EEBE9}" srcOrd="0" destOrd="0" presId="urn:microsoft.com/office/officeart/2005/8/layout/process4"/>
    <dgm:cxn modelId="{BEC7B2B5-9DA0-484B-AB44-2821779D88AA}" srcId="{E15C2298-499B-4E1E-83E8-DC1BF1C7CC30}" destId="{9E827661-5538-44C1-95C5-11864C03500D}" srcOrd="3" destOrd="0" parTransId="{2DE25C06-E64F-460E-ACFC-1527AF03F89A}" sibTransId="{DB5C826A-0044-4116-A57C-7993EB39F714}"/>
    <dgm:cxn modelId="{F7A598E6-B051-4B13-95B2-FDD70549707D}" type="presOf" srcId="{E15C2298-499B-4E1E-83E8-DC1BF1C7CC30}" destId="{602E16A8-DE8A-425F-BCDB-2C407F782A75}" srcOrd="0" destOrd="0" presId="urn:microsoft.com/office/officeart/2005/8/layout/process4"/>
    <dgm:cxn modelId="{DF4CE2F5-0CAB-40E0-93A5-8B0AF0F24112}" type="presOf" srcId="{9E827661-5538-44C1-95C5-11864C03500D}" destId="{237BDF77-D241-4493-8FFB-AFD9455E1A25}" srcOrd="0" destOrd="0" presId="urn:microsoft.com/office/officeart/2005/8/layout/process4"/>
    <dgm:cxn modelId="{792D7A95-8774-4A0A-AC26-476E50319501}" type="presParOf" srcId="{602E16A8-DE8A-425F-BCDB-2C407F782A75}" destId="{AD0C8429-27EA-44DF-9D9A-899DBC4F5BDB}" srcOrd="0" destOrd="0" presId="urn:microsoft.com/office/officeart/2005/8/layout/process4"/>
    <dgm:cxn modelId="{214ECB66-E703-4524-99A4-D2F5111F7912}" type="presParOf" srcId="{AD0C8429-27EA-44DF-9D9A-899DBC4F5BDB}" destId="{237BDF77-D241-4493-8FFB-AFD9455E1A25}" srcOrd="0" destOrd="0" presId="urn:microsoft.com/office/officeart/2005/8/layout/process4"/>
    <dgm:cxn modelId="{7A096801-145D-419D-B7F7-FFEC40CD4485}" type="presParOf" srcId="{602E16A8-DE8A-425F-BCDB-2C407F782A75}" destId="{98D69577-B3C1-4D93-B308-B1B9A12DDFAC}" srcOrd="1" destOrd="0" presId="urn:microsoft.com/office/officeart/2005/8/layout/process4"/>
    <dgm:cxn modelId="{D329966E-1B68-4475-BBB2-E6AD235B31E3}" type="presParOf" srcId="{602E16A8-DE8A-425F-BCDB-2C407F782A75}" destId="{F3B16C5A-6392-47E9-AF0F-A5D3C45E74AB}" srcOrd="2" destOrd="0" presId="urn:microsoft.com/office/officeart/2005/8/layout/process4"/>
    <dgm:cxn modelId="{FCCDA41D-0DAD-4844-B860-693D2B4340AB}" type="presParOf" srcId="{F3B16C5A-6392-47E9-AF0F-A5D3C45E74AB}" destId="{626BC1B7-A5E1-4C73-A1FA-688486B88AC3}" srcOrd="0" destOrd="0" presId="urn:microsoft.com/office/officeart/2005/8/layout/process4"/>
    <dgm:cxn modelId="{9EF5C338-EA6E-4BA8-B333-A8E5C5203583}" type="presParOf" srcId="{602E16A8-DE8A-425F-BCDB-2C407F782A75}" destId="{8A767C9F-75AE-4668-A2F5-E39714B62C94}" srcOrd="3" destOrd="0" presId="urn:microsoft.com/office/officeart/2005/8/layout/process4"/>
    <dgm:cxn modelId="{7A8EE1C5-8BAC-4F74-B517-5B3FA91F919D}" type="presParOf" srcId="{602E16A8-DE8A-425F-BCDB-2C407F782A75}" destId="{28D291EE-98DC-48A9-8EBC-BF5C4286AE8B}" srcOrd="4" destOrd="0" presId="urn:microsoft.com/office/officeart/2005/8/layout/process4"/>
    <dgm:cxn modelId="{3A82C745-AB79-4E53-998A-51E29F08453C}" type="presParOf" srcId="{28D291EE-98DC-48A9-8EBC-BF5C4286AE8B}" destId="{A55FF3E8-F7F4-4103-9667-6E6865F3B7FD}" srcOrd="0" destOrd="0" presId="urn:microsoft.com/office/officeart/2005/8/layout/process4"/>
    <dgm:cxn modelId="{228AD380-B315-4600-A3B1-36D574741CCE}" type="presParOf" srcId="{602E16A8-DE8A-425F-BCDB-2C407F782A75}" destId="{BD4346BF-ABC0-4CEC-9D04-B68D0D1D200D}" srcOrd="5" destOrd="0" presId="urn:microsoft.com/office/officeart/2005/8/layout/process4"/>
    <dgm:cxn modelId="{B578F58A-21CD-4879-8855-A51B871A76E7}" type="presParOf" srcId="{602E16A8-DE8A-425F-BCDB-2C407F782A75}" destId="{C5FCB68B-0986-4662-B68F-4E809C37207D}" srcOrd="6" destOrd="0" presId="urn:microsoft.com/office/officeart/2005/8/layout/process4"/>
    <dgm:cxn modelId="{8F925B9F-4AF4-4CA0-83F6-CB22B0A54D3E}" type="presParOf" srcId="{C5FCB68B-0986-4662-B68F-4E809C37207D}" destId="{CBC546DD-BF00-4FA3-A63C-596D2F4EEBE9}"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409479-D3FF-47C4-B7AD-BFDB1655F81C}">
      <dsp:nvSpPr>
        <dsp:cNvPr id="0" name=""/>
        <dsp:cNvSpPr/>
      </dsp:nvSpPr>
      <dsp:spPr>
        <a:xfrm>
          <a:off x="4968" y="671419"/>
          <a:ext cx="4344880" cy="3475904"/>
        </a:xfrm>
        <a:prstGeom prst="homePlate">
          <a:avLst>
            <a:gd name="adj" fmla="val 25000"/>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3278" tIns="48260" rIns="613111" bIns="48260" numCol="1" spcCol="1270" anchor="ctr" anchorCtr="0">
          <a:noAutofit/>
        </a:bodyPr>
        <a:lstStyle/>
        <a:p>
          <a:pPr marL="0" lvl="0" indent="0" algn="ctr" defTabSz="844550">
            <a:lnSpc>
              <a:spcPct val="90000"/>
            </a:lnSpc>
            <a:spcBef>
              <a:spcPct val="0"/>
            </a:spcBef>
            <a:spcAft>
              <a:spcPct val="35000"/>
            </a:spcAft>
            <a:buNone/>
          </a:pPr>
          <a:r>
            <a:rPr lang="es-GT" sz="1900" kern="1200" dirty="0">
              <a:solidFill>
                <a:schemeClr val="bg1"/>
              </a:solidFill>
              <a:latin typeface="Arial" panose="020B0604020202020204" pitchFamily="34" charset="0"/>
              <a:cs typeface="Arial" panose="020B0604020202020204" pitchFamily="34" charset="0"/>
            </a:rPr>
            <a:t>La investigación en el área se enfoca en el estudio de objetos de naturaleza finita. Un ejemplo típico es el de grafo.</a:t>
          </a:r>
          <a:endParaRPr lang="en-US" sz="1900" kern="1200" dirty="0">
            <a:solidFill>
              <a:schemeClr val="bg1"/>
            </a:solidFill>
            <a:latin typeface="Arial" panose="020B0604020202020204" pitchFamily="34" charset="0"/>
            <a:cs typeface="Arial" panose="020B0604020202020204" pitchFamily="34" charset="0"/>
          </a:endParaRPr>
        </a:p>
      </dsp:txBody>
      <dsp:txXfrm>
        <a:off x="4968" y="671419"/>
        <a:ext cx="3910392" cy="3475904"/>
      </dsp:txXfrm>
    </dsp:sp>
    <dsp:sp modelId="{91F93B8A-22AE-4D08-8F77-1D5643C50EBC}">
      <dsp:nvSpPr>
        <dsp:cNvPr id="0" name=""/>
        <dsp:cNvSpPr/>
      </dsp:nvSpPr>
      <dsp:spPr>
        <a:xfrm>
          <a:off x="3480873" y="671419"/>
          <a:ext cx="4344880" cy="3475904"/>
        </a:xfrm>
        <a:prstGeom prst="chevron">
          <a:avLst>
            <a:gd name="adj" fmla="val 25000"/>
          </a:avLst>
        </a:prstGeom>
        <a:gradFill rotWithShape="0">
          <a:gsLst>
            <a:gs pos="0">
              <a:schemeClr val="accent2">
                <a:hueOff val="2394041"/>
                <a:satOff val="-7276"/>
                <a:lumOff val="-98"/>
                <a:alphaOff val="0"/>
                <a:tint val="94000"/>
                <a:satMod val="105000"/>
                <a:lumMod val="102000"/>
              </a:schemeClr>
            </a:gs>
            <a:gs pos="100000">
              <a:schemeClr val="accent2">
                <a:hueOff val="2394041"/>
                <a:satOff val="-7276"/>
                <a:lumOff val="-98"/>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3278" tIns="48260" rIns="153278" bIns="48260" numCol="1" spcCol="1270" anchor="ctr" anchorCtr="0">
          <a:noAutofit/>
        </a:bodyPr>
        <a:lstStyle/>
        <a:p>
          <a:pPr marL="0" lvl="0" indent="0" algn="ctr" defTabSz="844550">
            <a:lnSpc>
              <a:spcPct val="90000"/>
            </a:lnSpc>
            <a:spcBef>
              <a:spcPct val="0"/>
            </a:spcBef>
            <a:spcAft>
              <a:spcPct val="35000"/>
            </a:spcAft>
            <a:buNone/>
          </a:pPr>
          <a:r>
            <a:rPr lang="es-GT" sz="1900" kern="1200" dirty="0">
              <a:solidFill>
                <a:schemeClr val="bg1"/>
              </a:solidFill>
            </a:rPr>
            <a:t>Los problemas abordados conciernen diversos ámbitos como la informática teórica, la teoría de grafos, estructuras aleatorias, al diseño y análisis de algoritmos, así como la aplicación a problemas particulares de la informática, investigación operativa, ciencias sociales, etc.</a:t>
          </a:r>
          <a:endParaRPr lang="en-US" sz="1900" kern="1200" dirty="0">
            <a:solidFill>
              <a:schemeClr val="bg1"/>
            </a:solidFill>
          </a:endParaRPr>
        </a:p>
      </dsp:txBody>
      <dsp:txXfrm>
        <a:off x="4349849" y="671419"/>
        <a:ext cx="2606928" cy="3475904"/>
      </dsp:txXfrm>
    </dsp:sp>
    <dsp:sp modelId="{77B97031-E5B5-4D9B-A587-1785F89FF2EB}">
      <dsp:nvSpPr>
        <dsp:cNvPr id="0" name=""/>
        <dsp:cNvSpPr/>
      </dsp:nvSpPr>
      <dsp:spPr>
        <a:xfrm>
          <a:off x="6956778" y="671419"/>
          <a:ext cx="4344880" cy="3475904"/>
        </a:xfrm>
        <a:prstGeom prst="chevron">
          <a:avLst>
            <a:gd name="adj" fmla="val 25000"/>
          </a:avLst>
        </a:prstGeom>
        <a:gradFill rotWithShape="0">
          <a:gsLst>
            <a:gs pos="0">
              <a:schemeClr val="accent2">
                <a:hueOff val="4788082"/>
                <a:satOff val="-14551"/>
                <a:lumOff val="-196"/>
                <a:alphaOff val="0"/>
                <a:tint val="94000"/>
                <a:satMod val="105000"/>
                <a:lumMod val="102000"/>
              </a:schemeClr>
            </a:gs>
            <a:gs pos="100000">
              <a:schemeClr val="accent2">
                <a:hueOff val="4788082"/>
                <a:satOff val="-14551"/>
                <a:lumOff val="-196"/>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3278" tIns="60960" rIns="153278" bIns="60960" numCol="1" spcCol="1270" anchor="t" anchorCtr="0">
          <a:noAutofit/>
        </a:bodyPr>
        <a:lstStyle/>
        <a:p>
          <a:pPr marL="0" lvl="0" indent="0" algn="l" defTabSz="1066800">
            <a:lnSpc>
              <a:spcPct val="90000"/>
            </a:lnSpc>
            <a:spcBef>
              <a:spcPct val="0"/>
            </a:spcBef>
            <a:spcAft>
              <a:spcPct val="35000"/>
            </a:spcAft>
            <a:buNone/>
          </a:pPr>
          <a:r>
            <a:rPr lang="es-GT" sz="2400" kern="1200" dirty="0">
              <a:solidFill>
                <a:schemeClr val="bg1"/>
              </a:solidFill>
            </a:rPr>
            <a:t>Entre las herramientas utilizadas destacan:</a:t>
          </a:r>
          <a:endParaRPr lang="en-US" sz="2400" kern="1200" dirty="0">
            <a:solidFill>
              <a:schemeClr val="bg1"/>
            </a:solidFill>
          </a:endParaRPr>
        </a:p>
        <a:p>
          <a:pPr marL="171450" lvl="1" indent="-171450" algn="l" defTabSz="800100">
            <a:lnSpc>
              <a:spcPct val="90000"/>
            </a:lnSpc>
            <a:spcBef>
              <a:spcPct val="0"/>
            </a:spcBef>
            <a:spcAft>
              <a:spcPct val="15000"/>
            </a:spcAft>
            <a:buChar char="•"/>
          </a:pPr>
          <a:r>
            <a:rPr lang="es-GT" sz="1800" kern="1200" dirty="0">
              <a:solidFill>
                <a:schemeClr val="bg1"/>
              </a:solidFill>
            </a:rPr>
            <a:t>Las combinatorias</a:t>
          </a:r>
          <a:endParaRPr lang="en-US" sz="1800" kern="1200" dirty="0">
            <a:solidFill>
              <a:schemeClr val="bg1"/>
            </a:solidFill>
          </a:endParaRPr>
        </a:p>
        <a:p>
          <a:pPr marL="171450" lvl="1" indent="-171450" algn="l" defTabSz="800100">
            <a:lnSpc>
              <a:spcPct val="90000"/>
            </a:lnSpc>
            <a:spcBef>
              <a:spcPct val="0"/>
            </a:spcBef>
            <a:spcAft>
              <a:spcPct val="15000"/>
            </a:spcAft>
            <a:buChar char="•"/>
          </a:pPr>
          <a:r>
            <a:rPr lang="es-GT" sz="1800" kern="1200" dirty="0">
              <a:solidFill>
                <a:schemeClr val="bg1"/>
              </a:solidFill>
            </a:rPr>
            <a:t>La teoría poliedra y de programación lineal</a:t>
          </a:r>
          <a:endParaRPr lang="en-US" sz="1800" kern="1200" dirty="0">
            <a:solidFill>
              <a:schemeClr val="bg1"/>
            </a:solidFill>
          </a:endParaRPr>
        </a:p>
        <a:p>
          <a:pPr marL="171450" lvl="1" indent="-171450" algn="l" defTabSz="800100">
            <a:lnSpc>
              <a:spcPct val="90000"/>
            </a:lnSpc>
            <a:spcBef>
              <a:spcPct val="0"/>
            </a:spcBef>
            <a:spcAft>
              <a:spcPct val="15000"/>
            </a:spcAft>
            <a:buChar char="•"/>
          </a:pPr>
          <a:r>
            <a:rPr lang="es-GT" sz="1800" kern="1200" dirty="0">
              <a:solidFill>
                <a:schemeClr val="bg1"/>
              </a:solidFill>
            </a:rPr>
            <a:t>El método probabilista</a:t>
          </a:r>
          <a:endParaRPr lang="en-US" sz="1800" kern="1200" dirty="0">
            <a:solidFill>
              <a:schemeClr val="bg1"/>
            </a:solidFill>
          </a:endParaRPr>
        </a:p>
        <a:p>
          <a:pPr marL="171450" lvl="1" indent="-171450" algn="l" defTabSz="800100">
            <a:lnSpc>
              <a:spcPct val="90000"/>
            </a:lnSpc>
            <a:spcBef>
              <a:spcPct val="0"/>
            </a:spcBef>
            <a:spcAft>
              <a:spcPct val="15000"/>
            </a:spcAft>
            <a:buChar char="•"/>
          </a:pPr>
          <a:r>
            <a:rPr lang="es-GT" sz="1800" kern="1200" dirty="0">
              <a:solidFill>
                <a:schemeClr val="bg1"/>
              </a:solidFill>
            </a:rPr>
            <a:t>La teoría de códigos</a:t>
          </a:r>
          <a:endParaRPr lang="en-US" sz="1800" kern="1200" dirty="0">
            <a:solidFill>
              <a:schemeClr val="bg1"/>
            </a:solidFill>
          </a:endParaRPr>
        </a:p>
      </dsp:txBody>
      <dsp:txXfrm>
        <a:off x="7825754" y="671419"/>
        <a:ext cx="2606928" cy="3475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7D2AC0-D427-4261-A5ED-D0E9D42B37F7}">
      <dsp:nvSpPr>
        <dsp:cNvPr id="0" name=""/>
        <dsp:cNvSpPr/>
      </dsp:nvSpPr>
      <dsp:spPr>
        <a:xfrm>
          <a:off x="0" y="1852"/>
          <a:ext cx="6692748" cy="2118796"/>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s-GT" sz="2400" kern="1200" dirty="0">
              <a:solidFill>
                <a:schemeClr val="tx1"/>
              </a:solidFill>
            </a:rPr>
            <a:t>El principio fundamental del conteo  se puede utilizar para determinar la cantidad total de resultados cuando hay dos o mas características que puedan variar al realizar distintos procedimientos de forma secuencial.</a:t>
          </a:r>
          <a:endParaRPr lang="en-US" sz="2400" kern="1200" dirty="0">
            <a:solidFill>
              <a:schemeClr val="tx1"/>
            </a:solidFill>
          </a:endParaRPr>
        </a:p>
      </dsp:txBody>
      <dsp:txXfrm>
        <a:off x="103431" y="105283"/>
        <a:ext cx="6485886" cy="1911934"/>
      </dsp:txXfrm>
    </dsp:sp>
    <dsp:sp modelId="{D68FF46E-745B-4707-BF53-4498BCEA3562}">
      <dsp:nvSpPr>
        <dsp:cNvPr id="0" name=""/>
        <dsp:cNvSpPr/>
      </dsp:nvSpPr>
      <dsp:spPr>
        <a:xfrm>
          <a:off x="0" y="2134374"/>
          <a:ext cx="6692748" cy="2118796"/>
        </a:xfrm>
        <a:prstGeom prst="roundRect">
          <a:avLst/>
        </a:prstGeom>
        <a:gradFill rotWithShape="0">
          <a:gsLst>
            <a:gs pos="0">
              <a:schemeClr val="accent2">
                <a:hueOff val="4788082"/>
                <a:satOff val="-14551"/>
                <a:lumOff val="-196"/>
                <a:alphaOff val="0"/>
                <a:tint val="94000"/>
                <a:satMod val="105000"/>
                <a:lumMod val="102000"/>
              </a:schemeClr>
            </a:gs>
            <a:gs pos="100000">
              <a:schemeClr val="accent2">
                <a:hueOff val="4788082"/>
                <a:satOff val="-14551"/>
                <a:lumOff val="-196"/>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s-GT" sz="2400" kern="1200" dirty="0">
              <a:solidFill>
                <a:schemeClr val="tx1"/>
              </a:solidFill>
            </a:rPr>
            <a:t>El principio fundamental en el proceso de contar ofrece un método general para contar el numero de posibles arreglos de objetos dentro de un solo conjunto o entre varios conjuntos. Las técnicas de conteo son aquellas que son usadas para enumerar eventos difíciles de cuantificar.</a:t>
          </a:r>
          <a:endParaRPr lang="en-US" sz="2400" kern="1200" dirty="0">
            <a:solidFill>
              <a:schemeClr val="tx1"/>
            </a:solidFill>
          </a:endParaRPr>
        </a:p>
      </dsp:txBody>
      <dsp:txXfrm>
        <a:off x="103431" y="2237805"/>
        <a:ext cx="6485886" cy="19119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BDF77-D241-4493-8FFB-AFD9455E1A25}">
      <dsp:nvSpPr>
        <dsp:cNvPr id="0" name=""/>
        <dsp:cNvSpPr/>
      </dsp:nvSpPr>
      <dsp:spPr>
        <a:xfrm>
          <a:off x="0" y="4971469"/>
          <a:ext cx="7604315" cy="1087635"/>
        </a:xfrm>
        <a:prstGeom prst="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just" defTabSz="800100">
            <a:lnSpc>
              <a:spcPct val="90000"/>
            </a:lnSpc>
            <a:spcBef>
              <a:spcPct val="0"/>
            </a:spcBef>
            <a:spcAft>
              <a:spcPct val="35000"/>
            </a:spcAft>
            <a:buNone/>
          </a:pPr>
          <a:r>
            <a:rPr lang="es-GT" sz="1800" b="1" kern="1200" dirty="0">
              <a:solidFill>
                <a:schemeClr val="tx1"/>
              </a:solidFill>
            </a:rPr>
            <a:t>La regla puede ampliarse a mas de dos tareas a la vez, siempre que ninguna pareja de tareas pueda incurrir en forma simultanea.</a:t>
          </a:r>
          <a:endParaRPr lang="en-US" sz="1800" b="1" kern="1200" dirty="0">
            <a:solidFill>
              <a:schemeClr val="tx1"/>
            </a:solidFill>
          </a:endParaRPr>
        </a:p>
      </dsp:txBody>
      <dsp:txXfrm>
        <a:off x="0" y="4971469"/>
        <a:ext cx="7604315" cy="1087635"/>
      </dsp:txXfrm>
    </dsp:sp>
    <dsp:sp modelId="{626BC1B7-A5E1-4C73-A1FA-688486B88AC3}">
      <dsp:nvSpPr>
        <dsp:cNvPr id="0" name=""/>
        <dsp:cNvSpPr/>
      </dsp:nvSpPr>
      <dsp:spPr>
        <a:xfrm rot="10800000">
          <a:off x="0" y="3314999"/>
          <a:ext cx="7604315" cy="1672784"/>
        </a:xfrm>
        <a:prstGeom prst="upArrowCallout">
          <a:avLst/>
        </a:prstGeom>
        <a:gradFill rotWithShape="0">
          <a:gsLst>
            <a:gs pos="0">
              <a:schemeClr val="accent3">
                <a:hueOff val="0"/>
                <a:satOff val="0"/>
                <a:lumOff val="0"/>
                <a:alphaOff val="0"/>
                <a:tint val="94000"/>
                <a:satMod val="105000"/>
                <a:lumMod val="102000"/>
              </a:schemeClr>
            </a:gs>
            <a:gs pos="100000">
              <a:schemeClr val="accent3">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just" defTabSz="800100">
            <a:lnSpc>
              <a:spcPct val="90000"/>
            </a:lnSpc>
            <a:spcBef>
              <a:spcPct val="0"/>
            </a:spcBef>
            <a:spcAft>
              <a:spcPct val="35000"/>
            </a:spcAft>
            <a:buNone/>
          </a:pPr>
          <a:r>
            <a:rPr lang="es-GT" sz="1800" b="1" kern="1200" dirty="0">
              <a:solidFill>
                <a:schemeClr val="tx1"/>
              </a:solidFill>
            </a:rPr>
            <a:t>Observar que cuando se dice que una ocurrencia en particular, como una primera tarea puede realizarse de m formas, se supone que estas m formas son distintas, a menos que se indique lo contrario.</a:t>
          </a:r>
          <a:endParaRPr lang="en-US" sz="1800" b="1" kern="1200" dirty="0">
            <a:solidFill>
              <a:schemeClr val="tx1"/>
            </a:solidFill>
          </a:endParaRPr>
        </a:p>
      </dsp:txBody>
      <dsp:txXfrm rot="10800000">
        <a:off x="0" y="3314999"/>
        <a:ext cx="7604315" cy="1086925"/>
      </dsp:txXfrm>
    </dsp:sp>
    <dsp:sp modelId="{A55FF3E8-F7F4-4103-9667-6E6865F3B7FD}">
      <dsp:nvSpPr>
        <dsp:cNvPr id="0" name=""/>
        <dsp:cNvSpPr/>
      </dsp:nvSpPr>
      <dsp:spPr>
        <a:xfrm rot="10800000">
          <a:off x="0" y="1658530"/>
          <a:ext cx="7604315" cy="1672784"/>
        </a:xfrm>
        <a:prstGeom prst="upArrowCallout">
          <a:avLst/>
        </a:prstGeom>
        <a:gradFill rotWithShape="0">
          <a:gsLst>
            <a:gs pos="0">
              <a:schemeClr val="accent4">
                <a:hueOff val="0"/>
                <a:satOff val="0"/>
                <a:lumOff val="0"/>
                <a:alphaOff val="0"/>
                <a:tint val="94000"/>
                <a:satMod val="105000"/>
                <a:lumMod val="102000"/>
              </a:schemeClr>
            </a:gs>
            <a:gs pos="100000">
              <a:schemeClr val="accent4">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just" defTabSz="800100">
            <a:lnSpc>
              <a:spcPct val="90000"/>
            </a:lnSpc>
            <a:spcBef>
              <a:spcPct val="0"/>
            </a:spcBef>
            <a:spcAft>
              <a:spcPct val="35000"/>
            </a:spcAft>
            <a:buNone/>
          </a:pPr>
          <a:r>
            <a:rPr lang="es-GT" sz="1800" b="1" kern="1200" dirty="0">
              <a:solidFill>
                <a:schemeClr val="tx1"/>
              </a:solidFill>
            </a:rPr>
            <a:t>Si una Primera tarea puede realizarse de m formas, mientras que una segunda tarea puede realzarse de n formas, y no es posible realizar ambas tareas de manera simultanea, entonces para llevar a cabo cualquiera de ellas pueden utilizarse m + n formas</a:t>
          </a:r>
          <a:r>
            <a:rPr lang="es-GT" sz="1800" kern="1200" dirty="0"/>
            <a:t>.</a:t>
          </a:r>
          <a:endParaRPr lang="en-US" sz="1800" kern="1200" dirty="0"/>
        </a:p>
      </dsp:txBody>
      <dsp:txXfrm rot="10800000">
        <a:off x="0" y="1658530"/>
        <a:ext cx="7604315" cy="1086925"/>
      </dsp:txXfrm>
    </dsp:sp>
    <dsp:sp modelId="{CBC546DD-BF00-4FA3-A63C-596D2F4EEBE9}">
      <dsp:nvSpPr>
        <dsp:cNvPr id="0" name=""/>
        <dsp:cNvSpPr/>
      </dsp:nvSpPr>
      <dsp:spPr>
        <a:xfrm rot="10800000">
          <a:off x="0" y="2060"/>
          <a:ext cx="7604315" cy="1672784"/>
        </a:xfrm>
        <a:prstGeom prst="upArrowCallou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just" defTabSz="800100">
            <a:lnSpc>
              <a:spcPct val="90000"/>
            </a:lnSpc>
            <a:spcBef>
              <a:spcPct val="0"/>
            </a:spcBef>
            <a:spcAft>
              <a:spcPct val="35000"/>
            </a:spcAft>
            <a:buNone/>
          </a:pPr>
          <a:r>
            <a:rPr lang="es-GT" sz="1800" b="1" kern="1200" dirty="0">
              <a:solidFill>
                <a:schemeClr val="tx1"/>
              </a:solidFill>
            </a:rPr>
            <a:t>Regla de la Suma:</a:t>
          </a:r>
          <a:r>
            <a:rPr lang="es-GT" sz="1600" b="1" kern="1200" dirty="0">
              <a:solidFill>
                <a:schemeClr val="tx1"/>
              </a:solidFill>
            </a:rPr>
            <a:t>  </a:t>
          </a:r>
          <a:endParaRPr lang="en-US" sz="1600" b="1" kern="1200" dirty="0">
            <a:solidFill>
              <a:schemeClr val="tx1"/>
            </a:solidFill>
          </a:endParaRPr>
        </a:p>
      </dsp:txBody>
      <dsp:txXfrm rot="10800000">
        <a:off x="0" y="2060"/>
        <a:ext cx="7604315" cy="108692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s-GT"/>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s-GT"/>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s-GT"/>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s-GT"/>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7/11/2026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57289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2156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220441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583780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492745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673629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666613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66037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474306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406256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4516799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07619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83479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93426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693960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794249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07148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s-GT"/>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s-GT"/>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s-GT"/>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s-GT"/>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7/11/2026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601822454"/>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20" name="Rectangle 19">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sp>
        <p:nvSpPr>
          <p:cNvPr id="23"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26"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27"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28"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29"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0"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1"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2"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3"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4"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5"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6"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7"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8"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39"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40"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41"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42"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43"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44"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sp>
          <p:nvSpPr>
            <p:cNvPr id="45"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s-GT"/>
            </a:p>
          </p:txBody>
        </p:sp>
      </p:grpSp>
      <p:sp>
        <p:nvSpPr>
          <p:cNvPr id="4" name="Título 3"/>
          <p:cNvSpPr>
            <a:spLocks noGrp="1"/>
          </p:cNvSpPr>
          <p:nvPr>
            <p:ph type="ctrTitle"/>
          </p:nvPr>
        </p:nvSpPr>
        <p:spPr>
          <a:xfrm>
            <a:off x="2667000" y="2328334"/>
            <a:ext cx="6858000" cy="1367896"/>
          </a:xfrm>
        </p:spPr>
        <p:txBody>
          <a:bodyPr>
            <a:normAutofit/>
          </a:bodyPr>
          <a:lstStyle/>
          <a:p>
            <a:pPr algn="ctr"/>
            <a:r>
              <a:rPr lang="es-GT" sz="3000">
                <a:solidFill>
                  <a:srgbClr val="FFFFFF"/>
                </a:solidFill>
                <a:latin typeface="Arial" panose="020B0604020202020204" pitchFamily="34" charset="0"/>
                <a:cs typeface="Arial" panose="020B0604020202020204" pitchFamily="34" charset="0"/>
              </a:rPr>
              <a:t>Regla De la Suma y el producto Método de Conteo</a:t>
            </a:r>
          </a:p>
        </p:txBody>
      </p:sp>
      <p:sp>
        <p:nvSpPr>
          <p:cNvPr id="5" name="Subtítulo 4"/>
          <p:cNvSpPr>
            <a:spLocks noGrp="1"/>
          </p:cNvSpPr>
          <p:nvPr>
            <p:ph type="subTitle" idx="1"/>
          </p:nvPr>
        </p:nvSpPr>
        <p:spPr>
          <a:xfrm>
            <a:off x="605895" y="5127626"/>
            <a:ext cx="11165191" cy="1404408"/>
          </a:xfrm>
        </p:spPr>
        <p:txBody>
          <a:bodyPr>
            <a:normAutofit fontScale="25000" lnSpcReduction="20000"/>
          </a:bodyPr>
          <a:lstStyle/>
          <a:p>
            <a:pPr algn="ctr">
              <a:lnSpc>
                <a:spcPct val="110000"/>
              </a:lnSpc>
            </a:pPr>
            <a:endParaRPr lang="es-GT" sz="500" dirty="0">
              <a:solidFill>
                <a:schemeClr val="bg2"/>
              </a:solidFill>
              <a:latin typeface="Arial" panose="020B0604020202020204" pitchFamily="34" charset="0"/>
              <a:cs typeface="Arial" panose="020B0604020202020204" pitchFamily="34" charset="0"/>
            </a:endParaRPr>
          </a:p>
          <a:p>
            <a:pPr algn="ctr">
              <a:lnSpc>
                <a:spcPct val="110000"/>
              </a:lnSpc>
            </a:pPr>
            <a:r>
              <a:rPr lang="es-GT" sz="8000" b="1" dirty="0">
                <a:solidFill>
                  <a:schemeClr val="tx1"/>
                </a:solidFill>
                <a:latin typeface="Arial" panose="020B0604020202020204" pitchFamily="34" charset="0"/>
                <a:cs typeface="Arial" panose="020B0604020202020204" pitchFamily="34" charset="0"/>
              </a:rPr>
              <a:t>Universidad Mariano Gálvez de Guatemala</a:t>
            </a:r>
          </a:p>
          <a:p>
            <a:pPr algn="ctr">
              <a:lnSpc>
                <a:spcPct val="110000"/>
              </a:lnSpc>
            </a:pPr>
            <a:r>
              <a:rPr lang="es-GT" sz="8000" b="1" dirty="0">
                <a:solidFill>
                  <a:schemeClr val="tx1"/>
                </a:solidFill>
                <a:latin typeface="Arial" panose="020B0604020202020204" pitchFamily="34" charset="0"/>
                <a:cs typeface="Arial" panose="020B0604020202020204" pitchFamily="34" charset="0"/>
              </a:rPr>
              <a:t>San Juan Sacatepéquez</a:t>
            </a:r>
          </a:p>
          <a:p>
            <a:pPr algn="ctr">
              <a:lnSpc>
                <a:spcPct val="110000"/>
              </a:lnSpc>
            </a:pPr>
            <a:r>
              <a:rPr lang="es-GT" sz="8000" b="1" dirty="0">
                <a:solidFill>
                  <a:schemeClr val="tx1"/>
                </a:solidFill>
                <a:latin typeface="Arial" panose="020B0604020202020204" pitchFamily="34" charset="0"/>
                <a:cs typeface="Arial" panose="020B0604020202020204" pitchFamily="34" charset="0"/>
              </a:rPr>
              <a:t>Julio </a:t>
            </a:r>
          </a:p>
        </p:txBody>
      </p:sp>
    </p:spTree>
    <p:extLst>
      <p:ext uri="{BB962C8B-B14F-4D97-AF65-F5344CB8AC3E}">
        <p14:creationId xmlns:p14="http://schemas.microsoft.com/office/powerpoint/2010/main" val="126346093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E9B448F0-DA06-4165-AB5F-4330A20E0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Picture 2">
            <a:extLst>
              <a:ext uri="{FF2B5EF4-FFF2-40B4-BE49-F238E27FC236}">
                <a16:creationId xmlns:a16="http://schemas.microsoft.com/office/drawing/2014/main" id="{92D83638-A467-411A-9C31-FE9A111CD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72" name="Group 71">
            <a:extLst>
              <a:ext uri="{FF2B5EF4-FFF2-40B4-BE49-F238E27FC236}">
                <a16:creationId xmlns:a16="http://schemas.microsoft.com/office/drawing/2014/main" id="{2576BCDF-119F-4EB5-83D7-ED823C93EB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solidFill>
            <a:schemeClr val="tx2">
              <a:alpha val="45000"/>
            </a:schemeClr>
          </a:solidFill>
        </p:grpSpPr>
        <p:sp>
          <p:nvSpPr>
            <p:cNvPr id="73" name="Rectangle 5">
              <a:extLst>
                <a:ext uri="{FF2B5EF4-FFF2-40B4-BE49-F238E27FC236}">
                  <a16:creationId xmlns:a16="http://schemas.microsoft.com/office/drawing/2014/main" id="{43D63E8F-FD8A-4CE3-B7C9-3E9E2B66B5F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sp>
          <p:nvSpPr>
            <p:cNvPr id="74" name="Freeform 6">
              <a:extLst>
                <a:ext uri="{FF2B5EF4-FFF2-40B4-BE49-F238E27FC236}">
                  <a16:creationId xmlns:a16="http://schemas.microsoft.com/office/drawing/2014/main" id="{D107D890-1831-46D8-90FB-F2FC0B2884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5" name="Freeform 7">
              <a:extLst>
                <a:ext uri="{FF2B5EF4-FFF2-40B4-BE49-F238E27FC236}">
                  <a16:creationId xmlns:a16="http://schemas.microsoft.com/office/drawing/2014/main" id="{02440904-A4EC-4F72-8E22-AAF4D9DB5C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6" name="Freeform 8">
              <a:extLst>
                <a:ext uri="{FF2B5EF4-FFF2-40B4-BE49-F238E27FC236}">
                  <a16:creationId xmlns:a16="http://schemas.microsoft.com/office/drawing/2014/main" id="{625E9C1F-1569-416B-A85C-FA1434872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7" name="Freeform 9">
              <a:extLst>
                <a:ext uri="{FF2B5EF4-FFF2-40B4-BE49-F238E27FC236}">
                  <a16:creationId xmlns:a16="http://schemas.microsoft.com/office/drawing/2014/main" id="{3A186C77-43BF-4B1B-8170-48944F3057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8" name="Freeform 10">
              <a:extLst>
                <a:ext uri="{FF2B5EF4-FFF2-40B4-BE49-F238E27FC236}">
                  <a16:creationId xmlns:a16="http://schemas.microsoft.com/office/drawing/2014/main" id="{FA8D72C1-8526-44B4-9333-5E0057ECC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9" name="Freeform 11">
              <a:extLst>
                <a:ext uri="{FF2B5EF4-FFF2-40B4-BE49-F238E27FC236}">
                  <a16:creationId xmlns:a16="http://schemas.microsoft.com/office/drawing/2014/main" id="{790E4BA0-9C47-48B6-AA4A-8FC22DA95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0" name="Freeform 12">
              <a:extLst>
                <a:ext uri="{FF2B5EF4-FFF2-40B4-BE49-F238E27FC236}">
                  <a16:creationId xmlns:a16="http://schemas.microsoft.com/office/drawing/2014/main" id="{FD051475-431F-4B9D-94C6-7B49A69582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1" name="Freeform 13">
              <a:extLst>
                <a:ext uri="{FF2B5EF4-FFF2-40B4-BE49-F238E27FC236}">
                  <a16:creationId xmlns:a16="http://schemas.microsoft.com/office/drawing/2014/main" id="{82255D2F-85A1-4A19-8BC4-EB2715F36C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2" name="Freeform 14">
              <a:extLst>
                <a:ext uri="{FF2B5EF4-FFF2-40B4-BE49-F238E27FC236}">
                  <a16:creationId xmlns:a16="http://schemas.microsoft.com/office/drawing/2014/main" id="{EBC3A004-9794-4EFA-83F0-989248797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3" name="Freeform 15">
              <a:extLst>
                <a:ext uri="{FF2B5EF4-FFF2-40B4-BE49-F238E27FC236}">
                  <a16:creationId xmlns:a16="http://schemas.microsoft.com/office/drawing/2014/main" id="{6EFD9FC3-E11A-44E3-BCAC-A07F3C601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4" name="Line 16">
              <a:extLst>
                <a:ext uri="{FF2B5EF4-FFF2-40B4-BE49-F238E27FC236}">
                  <a16:creationId xmlns:a16="http://schemas.microsoft.com/office/drawing/2014/main" id="{AB6AB6F7-6592-4028-B349-1C0E53A29C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85" name="Freeform 17">
              <a:extLst>
                <a:ext uri="{FF2B5EF4-FFF2-40B4-BE49-F238E27FC236}">
                  <a16:creationId xmlns:a16="http://schemas.microsoft.com/office/drawing/2014/main" id="{6C2415E6-F914-4C11-B48B-4910AA6CA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6" name="Freeform 18">
              <a:extLst>
                <a:ext uri="{FF2B5EF4-FFF2-40B4-BE49-F238E27FC236}">
                  <a16:creationId xmlns:a16="http://schemas.microsoft.com/office/drawing/2014/main" id="{2412013C-072A-489E-851A-CFEF91A9A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7" name="Freeform 19">
              <a:extLst>
                <a:ext uri="{FF2B5EF4-FFF2-40B4-BE49-F238E27FC236}">
                  <a16:creationId xmlns:a16="http://schemas.microsoft.com/office/drawing/2014/main" id="{DE93DF9F-296F-4DE4-8813-D8C04DE4C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8" name="Freeform 20">
              <a:extLst>
                <a:ext uri="{FF2B5EF4-FFF2-40B4-BE49-F238E27FC236}">
                  <a16:creationId xmlns:a16="http://schemas.microsoft.com/office/drawing/2014/main" id="{F440D966-5030-460C-9916-BF9B915421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9" name="Rectangle 21">
              <a:extLst>
                <a:ext uri="{FF2B5EF4-FFF2-40B4-BE49-F238E27FC236}">
                  <a16:creationId xmlns:a16="http://schemas.microsoft.com/office/drawing/2014/main" id="{1EFE245D-BA05-4F4D-A6E8-40739F48E76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sp>
          <p:nvSpPr>
            <p:cNvPr id="90" name="Freeform 22">
              <a:extLst>
                <a:ext uri="{FF2B5EF4-FFF2-40B4-BE49-F238E27FC236}">
                  <a16:creationId xmlns:a16="http://schemas.microsoft.com/office/drawing/2014/main" id="{ED67811C-F735-441C-98A6-2517EC099A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1" name="Freeform 23">
              <a:extLst>
                <a:ext uri="{FF2B5EF4-FFF2-40B4-BE49-F238E27FC236}">
                  <a16:creationId xmlns:a16="http://schemas.microsoft.com/office/drawing/2014/main" id="{3070FC44-32F9-470F-A131-868F3F1DB7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2" name="Freeform 24">
              <a:extLst>
                <a:ext uri="{FF2B5EF4-FFF2-40B4-BE49-F238E27FC236}">
                  <a16:creationId xmlns:a16="http://schemas.microsoft.com/office/drawing/2014/main" id="{95FB52C7-C779-4E3F-978C-4595FEF86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3" name="Freeform 25">
              <a:extLst>
                <a:ext uri="{FF2B5EF4-FFF2-40B4-BE49-F238E27FC236}">
                  <a16:creationId xmlns:a16="http://schemas.microsoft.com/office/drawing/2014/main" id="{D4EB1759-62AC-4B24-9DC6-E4F8737E89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4" name="Freeform 26">
              <a:extLst>
                <a:ext uri="{FF2B5EF4-FFF2-40B4-BE49-F238E27FC236}">
                  <a16:creationId xmlns:a16="http://schemas.microsoft.com/office/drawing/2014/main" id="{7BF6FB39-864B-4F58-86E8-790E16FB3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5" name="Freeform 27">
              <a:extLst>
                <a:ext uri="{FF2B5EF4-FFF2-40B4-BE49-F238E27FC236}">
                  <a16:creationId xmlns:a16="http://schemas.microsoft.com/office/drawing/2014/main" id="{5FE4FA46-B51C-43DA-87FC-2644ED117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6" name="Freeform 28">
              <a:extLst>
                <a:ext uri="{FF2B5EF4-FFF2-40B4-BE49-F238E27FC236}">
                  <a16:creationId xmlns:a16="http://schemas.microsoft.com/office/drawing/2014/main" id="{25DD1322-2D3A-4E7B-B23B-B4F96E02C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7" name="Freeform 29">
              <a:extLst>
                <a:ext uri="{FF2B5EF4-FFF2-40B4-BE49-F238E27FC236}">
                  <a16:creationId xmlns:a16="http://schemas.microsoft.com/office/drawing/2014/main" id="{6E4FFBEB-52BB-494D-AD99-A0F072AB6F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8" name="Freeform 30">
              <a:extLst>
                <a:ext uri="{FF2B5EF4-FFF2-40B4-BE49-F238E27FC236}">
                  <a16:creationId xmlns:a16="http://schemas.microsoft.com/office/drawing/2014/main" id="{7DE92406-3F65-4333-BAAA-A9A7B5AEE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99" name="Freeform 31">
              <a:extLst>
                <a:ext uri="{FF2B5EF4-FFF2-40B4-BE49-F238E27FC236}">
                  <a16:creationId xmlns:a16="http://schemas.microsoft.com/office/drawing/2014/main" id="{B8B0FFC4-D1BB-4BB9-A224-BB78BFD338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grpSp>
      <p:sp>
        <p:nvSpPr>
          <p:cNvPr id="2" name="Título 1"/>
          <p:cNvSpPr>
            <a:spLocks noGrp="1"/>
          </p:cNvSpPr>
          <p:nvPr>
            <p:ph type="title"/>
          </p:nvPr>
        </p:nvSpPr>
        <p:spPr>
          <a:xfrm>
            <a:off x="1141411" y="748240"/>
            <a:ext cx="9906000" cy="1117073"/>
          </a:xfrm>
        </p:spPr>
        <p:txBody>
          <a:bodyPr>
            <a:normAutofit/>
          </a:bodyPr>
          <a:lstStyle/>
          <a:p>
            <a:pPr algn="ctr"/>
            <a:r>
              <a:rPr lang="es-GT" sz="4000">
                <a:latin typeface="Arial" panose="020B0604020202020204" pitchFamily="34" charset="0"/>
                <a:cs typeface="Arial" panose="020B0604020202020204" pitchFamily="34" charset="0"/>
              </a:rPr>
              <a:t>Matemáticas Discretas.</a:t>
            </a:r>
          </a:p>
        </p:txBody>
      </p:sp>
      <p:sp>
        <p:nvSpPr>
          <p:cNvPr id="5" name="Marcador de contenido 4">
            <a:extLst>
              <a:ext uri="{FF2B5EF4-FFF2-40B4-BE49-F238E27FC236}">
                <a16:creationId xmlns:a16="http://schemas.microsoft.com/office/drawing/2014/main" id="{1B0A5382-83A8-41CE-8EE7-07A4EE62F4E1}"/>
              </a:ext>
            </a:extLst>
          </p:cNvPr>
          <p:cNvSpPr>
            <a:spLocks noGrp="1"/>
          </p:cNvSpPr>
          <p:nvPr>
            <p:ph idx="1"/>
          </p:nvPr>
        </p:nvSpPr>
        <p:spPr>
          <a:xfrm>
            <a:off x="960437" y="1706562"/>
            <a:ext cx="10660062" cy="4733926"/>
          </a:xfrm>
        </p:spPr>
        <p:txBody>
          <a:bodyPr anchor="t">
            <a:normAutofit lnSpcReduction="10000"/>
          </a:bodyPr>
          <a:lstStyle/>
          <a:p>
            <a:pPr marL="0" indent="0" algn="just">
              <a:lnSpc>
                <a:spcPct val="110000"/>
              </a:lnSpc>
              <a:buNone/>
            </a:pPr>
            <a:r>
              <a:rPr lang="es-ES" sz="1800" dirty="0">
                <a:latin typeface="Arial" panose="020B0604020202020204" pitchFamily="34" charset="0"/>
                <a:cs typeface="Arial" panose="020B0604020202020204" pitchFamily="34" charset="0"/>
              </a:rPr>
              <a:t>En oposición a las matemáticas continuas, que se encargan del estudio de conceptos como la continuidad y el cambio continuo, la matemáticas discretas estudian estructuras cuyos elementos pueden contarse uno por uno separadamente. Es decir, los procesos en matemáticas discretas son contables, como por ejemplo, los números enteros, grafos y sentencias de lógica.</a:t>
            </a:r>
            <a:endParaRPr lang="es-GT" sz="1800" dirty="0">
              <a:latin typeface="Arial" panose="020B0604020202020204" pitchFamily="34" charset="0"/>
              <a:cs typeface="Arial" panose="020B0604020202020204" pitchFamily="34" charset="0"/>
            </a:endParaRPr>
          </a:p>
          <a:p>
            <a:pPr marL="0" indent="0" algn="just">
              <a:lnSpc>
                <a:spcPct val="110000"/>
              </a:lnSpc>
              <a:buNone/>
            </a:pPr>
            <a:r>
              <a:rPr lang="es-ES" sz="1800" dirty="0">
                <a:latin typeface="Arial" panose="020B0604020202020204" pitchFamily="34" charset="0"/>
                <a:cs typeface="Arial" panose="020B0604020202020204" pitchFamily="34" charset="0"/>
              </a:rPr>
              <a:t>Mientras que el cálculo infinitesimal está fundado en los números reales que no son numerables, la matemática discreta es la base de todo lo relacionado con los números naturales o conjuntos numerables.</a:t>
            </a:r>
          </a:p>
          <a:p>
            <a:pPr marL="0" indent="0" algn="just">
              <a:lnSpc>
                <a:spcPct val="110000"/>
              </a:lnSpc>
              <a:buNone/>
            </a:pPr>
            <a:r>
              <a:rPr lang="es-ES" sz="1800" dirty="0">
                <a:latin typeface="Arial" panose="020B0604020202020204" pitchFamily="34" charset="0"/>
                <a:cs typeface="Arial" panose="020B0604020202020204" pitchFamily="34" charset="0"/>
              </a:rPr>
              <a:t>Son fundamentales para la ciencia de la computación, porque sólo son computables las funciones de conjuntos numerables.</a:t>
            </a:r>
            <a:endParaRPr lang="es-GT" sz="1800" dirty="0">
              <a:latin typeface="Arial" panose="020B0604020202020204" pitchFamily="34" charset="0"/>
              <a:cs typeface="Arial" panose="020B0604020202020204" pitchFamily="34" charset="0"/>
            </a:endParaRPr>
          </a:p>
          <a:p>
            <a:pPr marL="0" indent="0" algn="just">
              <a:lnSpc>
                <a:spcPct val="110000"/>
              </a:lnSpc>
              <a:buNone/>
            </a:pPr>
            <a:r>
              <a:rPr lang="es-ES" sz="1800" dirty="0">
                <a:latin typeface="Arial" panose="020B0604020202020204" pitchFamily="34" charset="0"/>
                <a:cs typeface="Arial" panose="020B0604020202020204" pitchFamily="34" charset="0"/>
              </a:rPr>
              <a:t>La clave en matemáticas discretas es que no es posible manejar las ideas de proximidad o límite y suavidad en las curvas, como se puede en el cálculo. Por ejemplo, en matemáticas discretas una incógnita puede ser 2 </a:t>
            </a:r>
            <a:r>
              <a:rPr lang="es-ES" sz="1800" dirty="0" err="1">
                <a:latin typeface="Arial" panose="020B0604020202020204" pitchFamily="34" charset="0"/>
                <a:cs typeface="Arial" panose="020B0604020202020204" pitchFamily="34" charset="0"/>
              </a:rPr>
              <a:t>ó</a:t>
            </a:r>
            <a:r>
              <a:rPr lang="es-ES" sz="1800" dirty="0">
                <a:latin typeface="Arial" panose="020B0604020202020204" pitchFamily="34" charset="0"/>
                <a:cs typeface="Arial" panose="020B0604020202020204" pitchFamily="34" charset="0"/>
              </a:rPr>
              <a:t> 3, pero nunca se aproximará a 3 por la izquierda con 2.9, 2.99, 2.999, etc. Las gráficas en matemáticas discretas vienen dadas por un conjunto finito de puntos que se pueden contar por separado; es decir, sus variables son discretas o digitales, mientras que las gráficas en cálculo son trazos continuos de rectas o curvas; es decir, sus variables son continuas o analógicas.</a:t>
            </a:r>
            <a:endParaRPr lang="es-GT" sz="1800" dirty="0">
              <a:latin typeface="Arial" panose="020B0604020202020204" pitchFamily="34" charset="0"/>
              <a:cs typeface="Arial" panose="020B0604020202020204" pitchFamily="34" charset="0"/>
            </a:endParaRPr>
          </a:p>
          <a:p>
            <a:pPr>
              <a:lnSpc>
                <a:spcPct val="110000"/>
              </a:lnSpc>
            </a:pPr>
            <a:endParaRPr lang="es-GT" sz="1300" dirty="0"/>
          </a:p>
        </p:txBody>
      </p:sp>
      <p:grpSp>
        <p:nvGrpSpPr>
          <p:cNvPr id="101" name="Group 100">
            <a:extLst>
              <a:ext uri="{FF2B5EF4-FFF2-40B4-BE49-F238E27FC236}">
                <a16:creationId xmlns:a16="http://schemas.microsoft.com/office/drawing/2014/main" id="{8DB4BB99-C854-45F9-BED1-63D15E3A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2">
              <a:alpha val="45000"/>
            </a:schemeClr>
          </a:solidFill>
        </p:grpSpPr>
        <p:sp>
          <p:nvSpPr>
            <p:cNvPr id="102" name="Freeform 32">
              <a:extLst>
                <a:ext uri="{FF2B5EF4-FFF2-40B4-BE49-F238E27FC236}">
                  <a16:creationId xmlns:a16="http://schemas.microsoft.com/office/drawing/2014/main" id="{5D1CCC4C-284C-4BF6-97D9-D97467463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03" name="Freeform 33">
              <a:extLst>
                <a:ext uri="{FF2B5EF4-FFF2-40B4-BE49-F238E27FC236}">
                  <a16:creationId xmlns:a16="http://schemas.microsoft.com/office/drawing/2014/main" id="{35D82D1B-EB09-4028-9107-D60B547C7B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04" name="Freeform 34">
              <a:extLst>
                <a:ext uri="{FF2B5EF4-FFF2-40B4-BE49-F238E27FC236}">
                  <a16:creationId xmlns:a16="http://schemas.microsoft.com/office/drawing/2014/main" id="{1389EE93-8059-437E-8507-7557AD68FB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05" name="Freeform 35">
              <a:extLst>
                <a:ext uri="{FF2B5EF4-FFF2-40B4-BE49-F238E27FC236}">
                  <a16:creationId xmlns:a16="http://schemas.microsoft.com/office/drawing/2014/main" id="{377C05DC-75FF-4426-A34F-DBF0C7E7B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06" name="Freeform 36">
              <a:extLst>
                <a:ext uri="{FF2B5EF4-FFF2-40B4-BE49-F238E27FC236}">
                  <a16:creationId xmlns:a16="http://schemas.microsoft.com/office/drawing/2014/main" id="{03D385C8-866D-437D-91B1-2E3ECDD88E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07" name="Freeform 37">
              <a:extLst>
                <a:ext uri="{FF2B5EF4-FFF2-40B4-BE49-F238E27FC236}">
                  <a16:creationId xmlns:a16="http://schemas.microsoft.com/office/drawing/2014/main" id="{3F649CBB-748F-4C79-A14F-C531C40B0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08" name="Freeform 38">
              <a:extLst>
                <a:ext uri="{FF2B5EF4-FFF2-40B4-BE49-F238E27FC236}">
                  <a16:creationId xmlns:a16="http://schemas.microsoft.com/office/drawing/2014/main" id="{7F4622C0-84AF-41F1-9128-FE73CADD36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09" name="Freeform 39">
              <a:extLst>
                <a:ext uri="{FF2B5EF4-FFF2-40B4-BE49-F238E27FC236}">
                  <a16:creationId xmlns:a16="http://schemas.microsoft.com/office/drawing/2014/main" id="{CC6F29C1-A471-4CDE-8C21-E4B15C5E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0" name="Freeform 40">
              <a:extLst>
                <a:ext uri="{FF2B5EF4-FFF2-40B4-BE49-F238E27FC236}">
                  <a16:creationId xmlns:a16="http://schemas.microsoft.com/office/drawing/2014/main" id="{67F5B7DA-86C7-4AE0-96B6-D7F5AA51E2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1" name="Rectangle 41">
              <a:extLst>
                <a:ext uri="{FF2B5EF4-FFF2-40B4-BE49-F238E27FC236}">
                  <a16:creationId xmlns:a16="http://schemas.microsoft.com/office/drawing/2014/main" id="{0FA481E3-0439-484A-AC9B-19D58B98E4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grpSp>
    </p:spTree>
    <p:extLst>
      <p:ext uri="{BB962C8B-B14F-4D97-AF65-F5344CB8AC3E}">
        <p14:creationId xmlns:p14="http://schemas.microsoft.com/office/powerpoint/2010/main" val="261567744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01F67CC9-D773-4B4B-8A55-D5DAEC341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54442" y="44487"/>
            <a:ext cx="9905998" cy="1478570"/>
          </a:xfrm>
        </p:spPr>
        <p:txBody>
          <a:bodyPr>
            <a:normAutofit/>
          </a:bodyPr>
          <a:lstStyle/>
          <a:p>
            <a:r>
              <a:rPr lang="es-GT" dirty="0">
                <a:latin typeface="Arial" panose="020B0604020202020204" pitchFamily="34" charset="0"/>
                <a:cs typeface="Arial" panose="020B0604020202020204" pitchFamily="34" charset="0"/>
              </a:rPr>
              <a:t>Matemáticas Discretas.</a:t>
            </a:r>
          </a:p>
        </p:txBody>
      </p:sp>
      <p:graphicFrame>
        <p:nvGraphicFramePr>
          <p:cNvPr id="7" name="Marcador de contenido 4">
            <a:extLst>
              <a:ext uri="{FF2B5EF4-FFF2-40B4-BE49-F238E27FC236}">
                <a16:creationId xmlns:a16="http://schemas.microsoft.com/office/drawing/2014/main" id="{422B6399-F7F4-4AAB-9243-4E1A3A012181}"/>
              </a:ext>
            </a:extLst>
          </p:cNvPr>
          <p:cNvGraphicFramePr>
            <a:graphicFrameLocks noGrp="1"/>
          </p:cNvGraphicFramePr>
          <p:nvPr>
            <p:ph idx="1"/>
            <p:extLst>
              <p:ext uri="{D42A27DB-BD31-4B8C-83A1-F6EECF244321}">
                <p14:modId xmlns:p14="http://schemas.microsoft.com/office/powerpoint/2010/main" val="506364220"/>
              </p:ext>
            </p:extLst>
          </p:nvPr>
        </p:nvGraphicFramePr>
        <p:xfrm>
          <a:off x="493486" y="1567543"/>
          <a:ext cx="11306628" cy="48187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93946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4E5D51F4-4B2C-4E92-AD42-C0F8079BD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B90ADF90-29DF-49C2-92C5-E75C306EDE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60" name="Rectangle 5">
              <a:extLst>
                <a:ext uri="{FF2B5EF4-FFF2-40B4-BE49-F238E27FC236}">
                  <a16:creationId xmlns:a16="http://schemas.microsoft.com/office/drawing/2014/main" id="{8D94EBD0-9E98-49B5-BCBB-C0E75E6599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s-GT"/>
            </a:p>
          </p:txBody>
        </p:sp>
        <p:sp>
          <p:nvSpPr>
            <p:cNvPr id="61" name="Freeform 6">
              <a:extLst>
                <a:ext uri="{FF2B5EF4-FFF2-40B4-BE49-F238E27FC236}">
                  <a16:creationId xmlns:a16="http://schemas.microsoft.com/office/drawing/2014/main" id="{D234D58E-884C-476F-9B2D-7E6C29BCDC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2" name="Freeform 7">
              <a:extLst>
                <a:ext uri="{FF2B5EF4-FFF2-40B4-BE49-F238E27FC236}">
                  <a16:creationId xmlns:a16="http://schemas.microsoft.com/office/drawing/2014/main" id="{6146033F-CB0A-44E4-A16A-95C026C900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3" name="Freeform 8">
              <a:extLst>
                <a:ext uri="{FF2B5EF4-FFF2-40B4-BE49-F238E27FC236}">
                  <a16:creationId xmlns:a16="http://schemas.microsoft.com/office/drawing/2014/main" id="{22004D0A-5BA4-4D6F-AE5B-BCCF1CDBD6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4" name="Freeform 9">
              <a:extLst>
                <a:ext uri="{FF2B5EF4-FFF2-40B4-BE49-F238E27FC236}">
                  <a16:creationId xmlns:a16="http://schemas.microsoft.com/office/drawing/2014/main" id="{19D61DD8-7030-4EF7-974E-9F87E80553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5" name="Freeform 10">
              <a:extLst>
                <a:ext uri="{FF2B5EF4-FFF2-40B4-BE49-F238E27FC236}">
                  <a16:creationId xmlns:a16="http://schemas.microsoft.com/office/drawing/2014/main" id="{79CE806A-0577-41E9-8F07-B6A7EFB4E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6" name="Freeform 11">
              <a:extLst>
                <a:ext uri="{FF2B5EF4-FFF2-40B4-BE49-F238E27FC236}">
                  <a16:creationId xmlns:a16="http://schemas.microsoft.com/office/drawing/2014/main" id="{6F58E8F2-EAC5-477C-93D6-1AC0E034F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7" name="Freeform 12">
              <a:extLst>
                <a:ext uri="{FF2B5EF4-FFF2-40B4-BE49-F238E27FC236}">
                  <a16:creationId xmlns:a16="http://schemas.microsoft.com/office/drawing/2014/main" id="{E90C5478-265D-4D73-8259-A0369435CE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8" name="Freeform 13">
              <a:extLst>
                <a:ext uri="{FF2B5EF4-FFF2-40B4-BE49-F238E27FC236}">
                  <a16:creationId xmlns:a16="http://schemas.microsoft.com/office/drawing/2014/main" id="{AB688B6B-CD3A-4D50-B661-3BFFEE2D3C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69" name="Freeform 14">
              <a:extLst>
                <a:ext uri="{FF2B5EF4-FFF2-40B4-BE49-F238E27FC236}">
                  <a16:creationId xmlns:a16="http://schemas.microsoft.com/office/drawing/2014/main" id="{222BB8A2-A9CF-40A0-92DC-F2456B8B7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0" name="Freeform 15">
              <a:extLst>
                <a:ext uri="{FF2B5EF4-FFF2-40B4-BE49-F238E27FC236}">
                  <a16:creationId xmlns:a16="http://schemas.microsoft.com/office/drawing/2014/main" id="{E920BBCC-C237-4B3E-B2DA-B8172A392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1" name="Line 16">
              <a:extLst>
                <a:ext uri="{FF2B5EF4-FFF2-40B4-BE49-F238E27FC236}">
                  <a16:creationId xmlns:a16="http://schemas.microsoft.com/office/drawing/2014/main" id="{8A6B29A0-A4F7-448E-88D5-26F690D81F1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72" name="Freeform 17">
              <a:extLst>
                <a:ext uri="{FF2B5EF4-FFF2-40B4-BE49-F238E27FC236}">
                  <a16:creationId xmlns:a16="http://schemas.microsoft.com/office/drawing/2014/main" id="{B52A6476-E345-40C8-AE07-B93E8A7EC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3" name="Freeform 18">
              <a:extLst>
                <a:ext uri="{FF2B5EF4-FFF2-40B4-BE49-F238E27FC236}">
                  <a16:creationId xmlns:a16="http://schemas.microsoft.com/office/drawing/2014/main" id="{518D32FD-7EA1-4C43-AA4B-B9E10B684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4" name="Freeform 19">
              <a:extLst>
                <a:ext uri="{FF2B5EF4-FFF2-40B4-BE49-F238E27FC236}">
                  <a16:creationId xmlns:a16="http://schemas.microsoft.com/office/drawing/2014/main" id="{4AA62115-722D-4045-AE1B-771314CA2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5" name="Freeform 20">
              <a:extLst>
                <a:ext uri="{FF2B5EF4-FFF2-40B4-BE49-F238E27FC236}">
                  <a16:creationId xmlns:a16="http://schemas.microsoft.com/office/drawing/2014/main" id="{2C94E681-7784-4E31-B5B5-DDBF9C6143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6" name="Rectangle 21">
              <a:extLst>
                <a:ext uri="{FF2B5EF4-FFF2-40B4-BE49-F238E27FC236}">
                  <a16:creationId xmlns:a16="http://schemas.microsoft.com/office/drawing/2014/main" id="{9578B6A7-2499-4CFF-A6E5-0FDB1B8A274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s-GT"/>
            </a:p>
          </p:txBody>
        </p:sp>
        <p:sp>
          <p:nvSpPr>
            <p:cNvPr id="77" name="Freeform 22">
              <a:extLst>
                <a:ext uri="{FF2B5EF4-FFF2-40B4-BE49-F238E27FC236}">
                  <a16:creationId xmlns:a16="http://schemas.microsoft.com/office/drawing/2014/main" id="{16B8D001-28C9-49CB-9B96-4D67E218C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8" name="Freeform 23">
              <a:extLst>
                <a:ext uri="{FF2B5EF4-FFF2-40B4-BE49-F238E27FC236}">
                  <a16:creationId xmlns:a16="http://schemas.microsoft.com/office/drawing/2014/main" id="{90576248-23CA-477D-A630-4EA4F06F86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79" name="Freeform 24">
              <a:extLst>
                <a:ext uri="{FF2B5EF4-FFF2-40B4-BE49-F238E27FC236}">
                  <a16:creationId xmlns:a16="http://schemas.microsoft.com/office/drawing/2014/main" id="{29F00424-4DC1-4DD5-B429-EB428628A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80" name="Freeform 25">
              <a:extLst>
                <a:ext uri="{FF2B5EF4-FFF2-40B4-BE49-F238E27FC236}">
                  <a16:creationId xmlns:a16="http://schemas.microsoft.com/office/drawing/2014/main" id="{4D03BC62-061A-46A3-AEB3-75C125F3A4C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81" name="Freeform 26">
              <a:extLst>
                <a:ext uri="{FF2B5EF4-FFF2-40B4-BE49-F238E27FC236}">
                  <a16:creationId xmlns:a16="http://schemas.microsoft.com/office/drawing/2014/main" id="{7C0B4D4C-7EC6-47E0-8F9C-E0C4BCCE1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82" name="Freeform 27">
              <a:extLst>
                <a:ext uri="{FF2B5EF4-FFF2-40B4-BE49-F238E27FC236}">
                  <a16:creationId xmlns:a16="http://schemas.microsoft.com/office/drawing/2014/main" id="{346BF759-C964-4656-9724-9F6B9E75F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83" name="Freeform 28">
              <a:extLst>
                <a:ext uri="{FF2B5EF4-FFF2-40B4-BE49-F238E27FC236}">
                  <a16:creationId xmlns:a16="http://schemas.microsoft.com/office/drawing/2014/main" id="{21A41F6C-9A3A-4A88-8369-173CEC967E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84" name="Freeform 29">
              <a:extLst>
                <a:ext uri="{FF2B5EF4-FFF2-40B4-BE49-F238E27FC236}">
                  <a16:creationId xmlns:a16="http://schemas.microsoft.com/office/drawing/2014/main" id="{C7719558-E4BA-41E1-AE9B-8B7C2826D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85" name="Freeform 30">
              <a:extLst>
                <a:ext uri="{FF2B5EF4-FFF2-40B4-BE49-F238E27FC236}">
                  <a16:creationId xmlns:a16="http://schemas.microsoft.com/office/drawing/2014/main" id="{685AD44B-443D-473E-BBE4-6877C1AF7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86" name="Freeform 31">
              <a:extLst>
                <a:ext uri="{FF2B5EF4-FFF2-40B4-BE49-F238E27FC236}">
                  <a16:creationId xmlns:a16="http://schemas.microsoft.com/office/drawing/2014/main" id="{59D25FFB-6A08-4A00-8BE1-8C987B3D91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grpSp>
      <p:pic>
        <p:nvPicPr>
          <p:cNvPr id="88" name="Picture 2">
            <a:extLst>
              <a:ext uri="{FF2B5EF4-FFF2-40B4-BE49-F238E27FC236}">
                <a16:creationId xmlns:a16="http://schemas.microsoft.com/office/drawing/2014/main" id="{E642A42B-C95B-433E-9A81-2174F72875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dgm="http://schemas.openxmlformats.org/drawingml/2006/diagram" xmlns:a14="http://schemas.microsoft.com/office/drawing/2010/main">
                <a:solidFill>
                  <a:srgbClr val="FFFFFF"/>
                </a:solidFill>
              </a14:hiddenFill>
            </a:ext>
          </a:extLst>
        </p:spPr>
      </p:pic>
      <p:sp>
        <p:nvSpPr>
          <p:cNvPr id="90" name="Rectangle 89">
            <a:extLst>
              <a:ext uri="{FF2B5EF4-FFF2-40B4-BE49-F238E27FC236}">
                <a16:creationId xmlns:a16="http://schemas.microsoft.com/office/drawing/2014/main" id="{4C3D77CC-6916-4BF8-8CDF-71E4BF2E6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92" name="Group 91">
            <a:extLst>
              <a:ext uri="{FF2B5EF4-FFF2-40B4-BE49-F238E27FC236}">
                <a16:creationId xmlns:a16="http://schemas.microsoft.com/office/drawing/2014/main" id="{96E8897B-113F-4BE0-A8B0-6467E5A2E0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93" name="Rectangle 5">
              <a:extLst>
                <a:ext uri="{FF2B5EF4-FFF2-40B4-BE49-F238E27FC236}">
                  <a16:creationId xmlns:a16="http://schemas.microsoft.com/office/drawing/2014/main" id="{8C790BB1-DB5D-4D11-ACA1-045F7B5DBE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s-GT"/>
            </a:p>
          </p:txBody>
        </p:sp>
        <p:sp>
          <p:nvSpPr>
            <p:cNvPr id="94" name="Freeform 6">
              <a:extLst>
                <a:ext uri="{FF2B5EF4-FFF2-40B4-BE49-F238E27FC236}">
                  <a16:creationId xmlns:a16="http://schemas.microsoft.com/office/drawing/2014/main" id="{14E82C3E-2BBF-4E7A-A4F1-B092898AF9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95" name="Freeform 7">
              <a:extLst>
                <a:ext uri="{FF2B5EF4-FFF2-40B4-BE49-F238E27FC236}">
                  <a16:creationId xmlns:a16="http://schemas.microsoft.com/office/drawing/2014/main" id="{BBD9DCED-205F-40C0-A8F6-09CA8AC21E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96" name="Freeform 8">
              <a:extLst>
                <a:ext uri="{FF2B5EF4-FFF2-40B4-BE49-F238E27FC236}">
                  <a16:creationId xmlns:a16="http://schemas.microsoft.com/office/drawing/2014/main" id="{3E6B6536-B16B-44C8-BF75-0B51F159AA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97" name="Freeform 9">
              <a:extLst>
                <a:ext uri="{FF2B5EF4-FFF2-40B4-BE49-F238E27FC236}">
                  <a16:creationId xmlns:a16="http://schemas.microsoft.com/office/drawing/2014/main" id="{08673EBA-802C-469A-80AB-14A951A75A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98" name="Freeform 10">
              <a:extLst>
                <a:ext uri="{FF2B5EF4-FFF2-40B4-BE49-F238E27FC236}">
                  <a16:creationId xmlns:a16="http://schemas.microsoft.com/office/drawing/2014/main" id="{75BB5611-2E78-4C27-8778-E8A39B157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99" name="Freeform 11">
              <a:extLst>
                <a:ext uri="{FF2B5EF4-FFF2-40B4-BE49-F238E27FC236}">
                  <a16:creationId xmlns:a16="http://schemas.microsoft.com/office/drawing/2014/main" id="{DCA85219-9A72-4256-A50C-799C0D0AE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0" name="Freeform 12">
              <a:extLst>
                <a:ext uri="{FF2B5EF4-FFF2-40B4-BE49-F238E27FC236}">
                  <a16:creationId xmlns:a16="http://schemas.microsoft.com/office/drawing/2014/main" id="{46E28662-9979-4ACD-9DB1-9E4B1814FC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1" name="Freeform 13">
              <a:extLst>
                <a:ext uri="{FF2B5EF4-FFF2-40B4-BE49-F238E27FC236}">
                  <a16:creationId xmlns:a16="http://schemas.microsoft.com/office/drawing/2014/main" id="{A057C9FB-3B25-4A5E-A20E-B7773732EF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2" name="Freeform 14">
              <a:extLst>
                <a:ext uri="{FF2B5EF4-FFF2-40B4-BE49-F238E27FC236}">
                  <a16:creationId xmlns:a16="http://schemas.microsoft.com/office/drawing/2014/main" id="{596D5A52-895F-4C7B-BCEC-E4AB25C7E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3" name="Freeform 15">
              <a:extLst>
                <a:ext uri="{FF2B5EF4-FFF2-40B4-BE49-F238E27FC236}">
                  <a16:creationId xmlns:a16="http://schemas.microsoft.com/office/drawing/2014/main" id="{A3BFF1E9-0954-48E0-A32B-0664144673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4" name="Line 16">
              <a:extLst>
                <a:ext uri="{FF2B5EF4-FFF2-40B4-BE49-F238E27FC236}">
                  <a16:creationId xmlns:a16="http://schemas.microsoft.com/office/drawing/2014/main" id="{40592818-8A9B-429B-8166-22A0893CB2E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105" name="Freeform 17">
              <a:extLst>
                <a:ext uri="{FF2B5EF4-FFF2-40B4-BE49-F238E27FC236}">
                  <a16:creationId xmlns:a16="http://schemas.microsoft.com/office/drawing/2014/main" id="{F52399E8-91EF-4363-81C4-4EBE3790A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6" name="Freeform 18">
              <a:extLst>
                <a:ext uri="{FF2B5EF4-FFF2-40B4-BE49-F238E27FC236}">
                  <a16:creationId xmlns:a16="http://schemas.microsoft.com/office/drawing/2014/main" id="{0DE18992-35FF-4D27-AAB7-88D9A7881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7" name="Freeform 19">
              <a:extLst>
                <a:ext uri="{FF2B5EF4-FFF2-40B4-BE49-F238E27FC236}">
                  <a16:creationId xmlns:a16="http://schemas.microsoft.com/office/drawing/2014/main" id="{162D7313-86C3-45AF-AC7A-C5429A228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8" name="Freeform 20">
              <a:extLst>
                <a:ext uri="{FF2B5EF4-FFF2-40B4-BE49-F238E27FC236}">
                  <a16:creationId xmlns:a16="http://schemas.microsoft.com/office/drawing/2014/main" id="{4033A1EE-166E-4246-AB00-AA91D7B800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09" name="Rectangle 21">
              <a:extLst>
                <a:ext uri="{FF2B5EF4-FFF2-40B4-BE49-F238E27FC236}">
                  <a16:creationId xmlns:a16="http://schemas.microsoft.com/office/drawing/2014/main" id="{9F5BA15F-D1CD-44A2-B643-2905763175F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s-GT"/>
            </a:p>
          </p:txBody>
        </p:sp>
        <p:sp>
          <p:nvSpPr>
            <p:cNvPr id="110" name="Freeform 22">
              <a:extLst>
                <a:ext uri="{FF2B5EF4-FFF2-40B4-BE49-F238E27FC236}">
                  <a16:creationId xmlns:a16="http://schemas.microsoft.com/office/drawing/2014/main" id="{673D8FDD-D165-4834-B9F4-E15C5EBD5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1" name="Freeform 23">
              <a:extLst>
                <a:ext uri="{FF2B5EF4-FFF2-40B4-BE49-F238E27FC236}">
                  <a16:creationId xmlns:a16="http://schemas.microsoft.com/office/drawing/2014/main" id="{314E2D52-365D-407E-A832-01E0F86049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2" name="Freeform 24">
              <a:extLst>
                <a:ext uri="{FF2B5EF4-FFF2-40B4-BE49-F238E27FC236}">
                  <a16:creationId xmlns:a16="http://schemas.microsoft.com/office/drawing/2014/main" id="{299BE646-A2B8-42AB-8DE3-9E38BF21D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3" name="Freeform 25">
              <a:extLst>
                <a:ext uri="{FF2B5EF4-FFF2-40B4-BE49-F238E27FC236}">
                  <a16:creationId xmlns:a16="http://schemas.microsoft.com/office/drawing/2014/main" id="{B6CBF7F9-54D6-418C-B679-4A03F1AF11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4" name="Freeform 26">
              <a:extLst>
                <a:ext uri="{FF2B5EF4-FFF2-40B4-BE49-F238E27FC236}">
                  <a16:creationId xmlns:a16="http://schemas.microsoft.com/office/drawing/2014/main" id="{2B8FDD23-E511-4B50-8A45-E25C8EBFB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5" name="Freeform 27">
              <a:extLst>
                <a:ext uri="{FF2B5EF4-FFF2-40B4-BE49-F238E27FC236}">
                  <a16:creationId xmlns:a16="http://schemas.microsoft.com/office/drawing/2014/main" id="{B04AC64C-ACEE-462D-95F2-3D82FF090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6" name="Freeform 28">
              <a:extLst>
                <a:ext uri="{FF2B5EF4-FFF2-40B4-BE49-F238E27FC236}">
                  <a16:creationId xmlns:a16="http://schemas.microsoft.com/office/drawing/2014/main" id="{9E0086A8-06D1-484E-805F-460346EB5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7" name="Freeform 29">
              <a:extLst>
                <a:ext uri="{FF2B5EF4-FFF2-40B4-BE49-F238E27FC236}">
                  <a16:creationId xmlns:a16="http://schemas.microsoft.com/office/drawing/2014/main" id="{1952C3C6-3706-447A-A721-81155E748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8" name="Freeform 30">
              <a:extLst>
                <a:ext uri="{FF2B5EF4-FFF2-40B4-BE49-F238E27FC236}">
                  <a16:creationId xmlns:a16="http://schemas.microsoft.com/office/drawing/2014/main" id="{F264C83C-EFE0-4E45-A20F-4A437FC28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sp>
          <p:nvSpPr>
            <p:cNvPr id="119" name="Freeform 31">
              <a:extLst>
                <a:ext uri="{FF2B5EF4-FFF2-40B4-BE49-F238E27FC236}">
                  <a16:creationId xmlns:a16="http://schemas.microsoft.com/office/drawing/2014/main" id="{7E1F77A7-8C12-430E-A0C7-386E9FECC9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s-GT"/>
            </a:p>
          </p:txBody>
        </p:sp>
      </p:grpSp>
      <p:pic>
        <p:nvPicPr>
          <p:cNvPr id="121" name="Picture 2">
            <a:extLst>
              <a:ext uri="{FF2B5EF4-FFF2-40B4-BE49-F238E27FC236}">
                <a16:creationId xmlns:a16="http://schemas.microsoft.com/office/drawing/2014/main" id="{B9535DE4-FAFA-446C-A46C-F06D18D305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 xmlns:a16="http://schemas.microsoft.com/office/drawing/2014/main" xmlns:p14="http://schemas.microsoft.com/office/powerpoint/2010/main" xmlns:dgm="http://schemas.openxmlformats.org/drawingml/2006/diagram" xmlns:a14="http://schemas.microsoft.com/office/drawing/2010/main">
                <a:solidFill>
                  <a:srgbClr val="FFFFFF"/>
                </a:solidFill>
              </a14:hiddenFill>
            </a:ext>
          </a:extLst>
        </p:spPr>
      </p:pic>
      <p:sp>
        <p:nvSpPr>
          <p:cNvPr id="2" name="Título 1"/>
          <p:cNvSpPr>
            <a:spLocks noGrp="1"/>
          </p:cNvSpPr>
          <p:nvPr>
            <p:ph type="title"/>
          </p:nvPr>
        </p:nvSpPr>
        <p:spPr>
          <a:xfrm>
            <a:off x="853330" y="1134683"/>
            <a:ext cx="2743310" cy="4255024"/>
          </a:xfrm>
        </p:spPr>
        <p:txBody>
          <a:bodyPr>
            <a:normAutofit/>
          </a:bodyPr>
          <a:lstStyle/>
          <a:p>
            <a:r>
              <a:rPr lang="es-GT" sz="2500">
                <a:solidFill>
                  <a:srgbClr val="FFFFFF"/>
                </a:solidFill>
                <a:latin typeface="Arial" panose="020B0604020202020204" pitchFamily="34" charset="0"/>
                <a:cs typeface="Arial" panose="020B0604020202020204" pitchFamily="34" charset="0"/>
              </a:rPr>
              <a:t>Unidad 1. Fundamentos del Conteo.</a:t>
            </a:r>
          </a:p>
        </p:txBody>
      </p:sp>
      <p:graphicFrame>
        <p:nvGraphicFramePr>
          <p:cNvPr id="53" name="Marcador de contenido 2">
            <a:extLst>
              <a:ext uri="{FF2B5EF4-FFF2-40B4-BE49-F238E27FC236}">
                <a16:creationId xmlns:a16="http://schemas.microsoft.com/office/drawing/2014/main" id="{8565F3BE-D6A9-1EF4-C422-5AF2475994E0}"/>
              </a:ext>
            </a:extLst>
          </p:cNvPr>
          <p:cNvGraphicFramePr>
            <a:graphicFrameLocks noGrp="1"/>
          </p:cNvGraphicFramePr>
          <p:nvPr>
            <p:ph idx="1"/>
            <p:extLst>
              <p:ext uri="{D42A27DB-BD31-4B8C-83A1-F6EECF244321}">
                <p14:modId xmlns:p14="http://schemas.microsoft.com/office/powerpoint/2010/main" val="1542308515"/>
              </p:ext>
            </p:extLst>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3937694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5D51F4-4B2C-4E92-AD42-C0F8079BD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90ADF90-29DF-49C2-92C5-E75C306EDE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3" name="Rectangle 5">
              <a:extLst>
                <a:ext uri="{FF2B5EF4-FFF2-40B4-BE49-F238E27FC236}">
                  <a16:creationId xmlns:a16="http://schemas.microsoft.com/office/drawing/2014/main" id="{8D94EBD0-9E98-49B5-BCBB-C0E75E6599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14" name="Freeform 6">
              <a:extLst>
                <a:ext uri="{FF2B5EF4-FFF2-40B4-BE49-F238E27FC236}">
                  <a16:creationId xmlns:a16="http://schemas.microsoft.com/office/drawing/2014/main" id="{D234D58E-884C-476F-9B2D-7E6C29BCDC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15" name="Freeform 7">
              <a:extLst>
                <a:ext uri="{FF2B5EF4-FFF2-40B4-BE49-F238E27FC236}">
                  <a16:creationId xmlns:a16="http://schemas.microsoft.com/office/drawing/2014/main" id="{6146033F-CB0A-44E4-A16A-95C026C900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16" name="Freeform 8">
              <a:extLst>
                <a:ext uri="{FF2B5EF4-FFF2-40B4-BE49-F238E27FC236}">
                  <a16:creationId xmlns:a16="http://schemas.microsoft.com/office/drawing/2014/main" id="{22004D0A-5BA4-4D6F-AE5B-BCCF1CDBD6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17" name="Freeform 9">
              <a:extLst>
                <a:ext uri="{FF2B5EF4-FFF2-40B4-BE49-F238E27FC236}">
                  <a16:creationId xmlns:a16="http://schemas.microsoft.com/office/drawing/2014/main" id="{19D61DD8-7030-4EF7-974E-9F87E80553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18" name="Freeform 10">
              <a:extLst>
                <a:ext uri="{FF2B5EF4-FFF2-40B4-BE49-F238E27FC236}">
                  <a16:creationId xmlns:a16="http://schemas.microsoft.com/office/drawing/2014/main" id="{79CE806A-0577-41E9-8F07-B6A7EFB4E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19" name="Freeform 11">
              <a:extLst>
                <a:ext uri="{FF2B5EF4-FFF2-40B4-BE49-F238E27FC236}">
                  <a16:creationId xmlns:a16="http://schemas.microsoft.com/office/drawing/2014/main" id="{6F58E8F2-EAC5-477C-93D6-1AC0E034F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0" name="Freeform 12">
              <a:extLst>
                <a:ext uri="{FF2B5EF4-FFF2-40B4-BE49-F238E27FC236}">
                  <a16:creationId xmlns:a16="http://schemas.microsoft.com/office/drawing/2014/main" id="{E90C5478-265D-4D73-8259-A0369435CE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1" name="Freeform 13">
              <a:extLst>
                <a:ext uri="{FF2B5EF4-FFF2-40B4-BE49-F238E27FC236}">
                  <a16:creationId xmlns:a16="http://schemas.microsoft.com/office/drawing/2014/main" id="{AB688B6B-CD3A-4D50-B661-3BFFEE2D3C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2" name="Freeform 14">
              <a:extLst>
                <a:ext uri="{FF2B5EF4-FFF2-40B4-BE49-F238E27FC236}">
                  <a16:creationId xmlns:a16="http://schemas.microsoft.com/office/drawing/2014/main" id="{222BB8A2-A9CF-40A0-92DC-F2456B8B7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3" name="Freeform 15">
              <a:extLst>
                <a:ext uri="{FF2B5EF4-FFF2-40B4-BE49-F238E27FC236}">
                  <a16:creationId xmlns:a16="http://schemas.microsoft.com/office/drawing/2014/main" id="{E920BBCC-C237-4B3E-B2DA-B8172A392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4" name="Line 16">
              <a:extLst>
                <a:ext uri="{FF2B5EF4-FFF2-40B4-BE49-F238E27FC236}">
                  <a16:creationId xmlns:a16="http://schemas.microsoft.com/office/drawing/2014/main" id="{8A6B29A0-A4F7-448E-88D5-26F690D81F1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25" name="Freeform 17">
              <a:extLst>
                <a:ext uri="{FF2B5EF4-FFF2-40B4-BE49-F238E27FC236}">
                  <a16:creationId xmlns:a16="http://schemas.microsoft.com/office/drawing/2014/main" id="{B52A6476-E345-40C8-AE07-B93E8A7EC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6" name="Freeform 18">
              <a:extLst>
                <a:ext uri="{FF2B5EF4-FFF2-40B4-BE49-F238E27FC236}">
                  <a16:creationId xmlns:a16="http://schemas.microsoft.com/office/drawing/2014/main" id="{518D32FD-7EA1-4C43-AA4B-B9E10B684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7" name="Freeform 19">
              <a:extLst>
                <a:ext uri="{FF2B5EF4-FFF2-40B4-BE49-F238E27FC236}">
                  <a16:creationId xmlns:a16="http://schemas.microsoft.com/office/drawing/2014/main" id="{4AA62115-722D-4045-AE1B-771314CA2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8" name="Freeform 20">
              <a:extLst>
                <a:ext uri="{FF2B5EF4-FFF2-40B4-BE49-F238E27FC236}">
                  <a16:creationId xmlns:a16="http://schemas.microsoft.com/office/drawing/2014/main" id="{2C94E681-7784-4E31-B5B5-DDBF9C6143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29" name="Rectangle 21">
              <a:extLst>
                <a:ext uri="{FF2B5EF4-FFF2-40B4-BE49-F238E27FC236}">
                  <a16:creationId xmlns:a16="http://schemas.microsoft.com/office/drawing/2014/main" id="{9578B6A7-2499-4CFF-A6E5-0FDB1B8A274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30" name="Freeform 22">
              <a:extLst>
                <a:ext uri="{FF2B5EF4-FFF2-40B4-BE49-F238E27FC236}">
                  <a16:creationId xmlns:a16="http://schemas.microsoft.com/office/drawing/2014/main" id="{16B8D001-28C9-49CB-9B96-4D67E218C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1" name="Freeform 23">
              <a:extLst>
                <a:ext uri="{FF2B5EF4-FFF2-40B4-BE49-F238E27FC236}">
                  <a16:creationId xmlns:a16="http://schemas.microsoft.com/office/drawing/2014/main" id="{90576248-23CA-477D-A630-4EA4F06F86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2" name="Freeform 24">
              <a:extLst>
                <a:ext uri="{FF2B5EF4-FFF2-40B4-BE49-F238E27FC236}">
                  <a16:creationId xmlns:a16="http://schemas.microsoft.com/office/drawing/2014/main" id="{29F00424-4DC1-4DD5-B429-EB428628A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3" name="Freeform 25">
              <a:extLst>
                <a:ext uri="{FF2B5EF4-FFF2-40B4-BE49-F238E27FC236}">
                  <a16:creationId xmlns:a16="http://schemas.microsoft.com/office/drawing/2014/main" id="{4D03BC62-061A-46A3-AEB3-75C125F3A4C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4" name="Freeform 26">
              <a:extLst>
                <a:ext uri="{FF2B5EF4-FFF2-40B4-BE49-F238E27FC236}">
                  <a16:creationId xmlns:a16="http://schemas.microsoft.com/office/drawing/2014/main" id="{7C0B4D4C-7EC6-47E0-8F9C-E0C4BCCE1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5" name="Freeform 27">
              <a:extLst>
                <a:ext uri="{FF2B5EF4-FFF2-40B4-BE49-F238E27FC236}">
                  <a16:creationId xmlns:a16="http://schemas.microsoft.com/office/drawing/2014/main" id="{346BF759-C964-4656-9724-9F6B9E75F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6" name="Freeform 28">
              <a:extLst>
                <a:ext uri="{FF2B5EF4-FFF2-40B4-BE49-F238E27FC236}">
                  <a16:creationId xmlns:a16="http://schemas.microsoft.com/office/drawing/2014/main" id="{21A41F6C-9A3A-4A88-8369-173CEC967E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7" name="Freeform 29">
              <a:extLst>
                <a:ext uri="{FF2B5EF4-FFF2-40B4-BE49-F238E27FC236}">
                  <a16:creationId xmlns:a16="http://schemas.microsoft.com/office/drawing/2014/main" id="{C7719558-E4BA-41E1-AE9B-8B7C2826D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8" name="Freeform 30">
              <a:extLst>
                <a:ext uri="{FF2B5EF4-FFF2-40B4-BE49-F238E27FC236}">
                  <a16:creationId xmlns:a16="http://schemas.microsoft.com/office/drawing/2014/main" id="{685AD44B-443D-473E-BBE4-6877C1AF7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39" name="Freeform 31">
              <a:extLst>
                <a:ext uri="{FF2B5EF4-FFF2-40B4-BE49-F238E27FC236}">
                  <a16:creationId xmlns:a16="http://schemas.microsoft.com/office/drawing/2014/main" id="{59D25FFB-6A08-4A00-8BE1-8C987B3D91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grpSp>
      <p:pic>
        <p:nvPicPr>
          <p:cNvPr id="41" name="Picture 2">
            <a:extLst>
              <a:ext uri="{FF2B5EF4-FFF2-40B4-BE49-F238E27FC236}">
                <a16:creationId xmlns:a16="http://schemas.microsoft.com/office/drawing/2014/main" id="{E642A42B-C95B-433E-9A81-2174F72875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43" name="Rectangle 42">
            <a:extLst>
              <a:ext uri="{FF2B5EF4-FFF2-40B4-BE49-F238E27FC236}">
                <a16:creationId xmlns:a16="http://schemas.microsoft.com/office/drawing/2014/main" id="{4C3D77CC-6916-4BF8-8CDF-71E4BF2E6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96E8897B-113F-4BE0-A8B0-6467E5A2E0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46" name="Rectangle 5">
              <a:extLst>
                <a:ext uri="{FF2B5EF4-FFF2-40B4-BE49-F238E27FC236}">
                  <a16:creationId xmlns:a16="http://schemas.microsoft.com/office/drawing/2014/main" id="{8C790BB1-DB5D-4D11-ACA1-045F7B5DBE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47" name="Freeform 6">
              <a:extLst>
                <a:ext uri="{FF2B5EF4-FFF2-40B4-BE49-F238E27FC236}">
                  <a16:creationId xmlns:a16="http://schemas.microsoft.com/office/drawing/2014/main" id="{14E82C3E-2BBF-4E7A-A4F1-B092898AF9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48" name="Freeform 7">
              <a:extLst>
                <a:ext uri="{FF2B5EF4-FFF2-40B4-BE49-F238E27FC236}">
                  <a16:creationId xmlns:a16="http://schemas.microsoft.com/office/drawing/2014/main" id="{BBD9DCED-205F-40C0-A8F6-09CA8AC21E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49" name="Freeform 8">
              <a:extLst>
                <a:ext uri="{FF2B5EF4-FFF2-40B4-BE49-F238E27FC236}">
                  <a16:creationId xmlns:a16="http://schemas.microsoft.com/office/drawing/2014/main" id="{3E6B6536-B16B-44C8-BF75-0B51F159AA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0" name="Freeform 9">
              <a:extLst>
                <a:ext uri="{FF2B5EF4-FFF2-40B4-BE49-F238E27FC236}">
                  <a16:creationId xmlns:a16="http://schemas.microsoft.com/office/drawing/2014/main" id="{08673EBA-802C-469A-80AB-14A951A75A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1" name="Freeform 10">
              <a:extLst>
                <a:ext uri="{FF2B5EF4-FFF2-40B4-BE49-F238E27FC236}">
                  <a16:creationId xmlns:a16="http://schemas.microsoft.com/office/drawing/2014/main" id="{75BB5611-2E78-4C27-8778-E8A39B1573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2" name="Freeform 11">
              <a:extLst>
                <a:ext uri="{FF2B5EF4-FFF2-40B4-BE49-F238E27FC236}">
                  <a16:creationId xmlns:a16="http://schemas.microsoft.com/office/drawing/2014/main" id="{DCA85219-9A72-4256-A50C-799C0D0AE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3" name="Freeform 12">
              <a:extLst>
                <a:ext uri="{FF2B5EF4-FFF2-40B4-BE49-F238E27FC236}">
                  <a16:creationId xmlns:a16="http://schemas.microsoft.com/office/drawing/2014/main" id="{46E28662-9979-4ACD-9DB1-9E4B1814FC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4" name="Freeform 13">
              <a:extLst>
                <a:ext uri="{FF2B5EF4-FFF2-40B4-BE49-F238E27FC236}">
                  <a16:creationId xmlns:a16="http://schemas.microsoft.com/office/drawing/2014/main" id="{A057C9FB-3B25-4A5E-A20E-B7773732EF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5" name="Freeform 14">
              <a:extLst>
                <a:ext uri="{FF2B5EF4-FFF2-40B4-BE49-F238E27FC236}">
                  <a16:creationId xmlns:a16="http://schemas.microsoft.com/office/drawing/2014/main" id="{596D5A52-895F-4C7B-BCEC-E4AB25C7E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6" name="Freeform 15">
              <a:extLst>
                <a:ext uri="{FF2B5EF4-FFF2-40B4-BE49-F238E27FC236}">
                  <a16:creationId xmlns:a16="http://schemas.microsoft.com/office/drawing/2014/main" id="{A3BFF1E9-0954-48E0-A32B-0664144673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7" name="Line 16">
              <a:extLst>
                <a:ext uri="{FF2B5EF4-FFF2-40B4-BE49-F238E27FC236}">
                  <a16:creationId xmlns:a16="http://schemas.microsoft.com/office/drawing/2014/main" id="{40592818-8A9B-429B-8166-22A0893CB2E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58" name="Freeform 17">
              <a:extLst>
                <a:ext uri="{FF2B5EF4-FFF2-40B4-BE49-F238E27FC236}">
                  <a16:creationId xmlns:a16="http://schemas.microsoft.com/office/drawing/2014/main" id="{F52399E8-91EF-4363-81C4-4EBE3790A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9" name="Freeform 18">
              <a:extLst>
                <a:ext uri="{FF2B5EF4-FFF2-40B4-BE49-F238E27FC236}">
                  <a16:creationId xmlns:a16="http://schemas.microsoft.com/office/drawing/2014/main" id="{0DE18992-35FF-4D27-AAB7-88D9A7881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0" name="Freeform 19">
              <a:extLst>
                <a:ext uri="{FF2B5EF4-FFF2-40B4-BE49-F238E27FC236}">
                  <a16:creationId xmlns:a16="http://schemas.microsoft.com/office/drawing/2014/main" id="{162D7313-86C3-45AF-AC7A-C5429A228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1" name="Freeform 20">
              <a:extLst>
                <a:ext uri="{FF2B5EF4-FFF2-40B4-BE49-F238E27FC236}">
                  <a16:creationId xmlns:a16="http://schemas.microsoft.com/office/drawing/2014/main" id="{4033A1EE-166E-4246-AB00-AA91D7B800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2" name="Rectangle 21">
              <a:extLst>
                <a:ext uri="{FF2B5EF4-FFF2-40B4-BE49-F238E27FC236}">
                  <a16:creationId xmlns:a16="http://schemas.microsoft.com/office/drawing/2014/main" id="{9F5BA15F-D1CD-44A2-B643-2905763175F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63" name="Freeform 22">
              <a:extLst>
                <a:ext uri="{FF2B5EF4-FFF2-40B4-BE49-F238E27FC236}">
                  <a16:creationId xmlns:a16="http://schemas.microsoft.com/office/drawing/2014/main" id="{673D8FDD-D165-4834-B9F4-E15C5EBD5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4" name="Freeform 23">
              <a:extLst>
                <a:ext uri="{FF2B5EF4-FFF2-40B4-BE49-F238E27FC236}">
                  <a16:creationId xmlns:a16="http://schemas.microsoft.com/office/drawing/2014/main" id="{314E2D52-365D-407E-A832-01E0F86049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5" name="Freeform 24">
              <a:extLst>
                <a:ext uri="{FF2B5EF4-FFF2-40B4-BE49-F238E27FC236}">
                  <a16:creationId xmlns:a16="http://schemas.microsoft.com/office/drawing/2014/main" id="{299BE646-A2B8-42AB-8DE3-9E38BF21D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6" name="Freeform 25">
              <a:extLst>
                <a:ext uri="{FF2B5EF4-FFF2-40B4-BE49-F238E27FC236}">
                  <a16:creationId xmlns:a16="http://schemas.microsoft.com/office/drawing/2014/main" id="{B6CBF7F9-54D6-418C-B679-4A03F1AF11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7" name="Freeform 26">
              <a:extLst>
                <a:ext uri="{FF2B5EF4-FFF2-40B4-BE49-F238E27FC236}">
                  <a16:creationId xmlns:a16="http://schemas.microsoft.com/office/drawing/2014/main" id="{2B8FDD23-E511-4B50-8A45-E25C8EBFB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8" name="Freeform 27">
              <a:extLst>
                <a:ext uri="{FF2B5EF4-FFF2-40B4-BE49-F238E27FC236}">
                  <a16:creationId xmlns:a16="http://schemas.microsoft.com/office/drawing/2014/main" id="{B04AC64C-ACEE-462D-95F2-3D82FF090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9" name="Freeform 28">
              <a:extLst>
                <a:ext uri="{FF2B5EF4-FFF2-40B4-BE49-F238E27FC236}">
                  <a16:creationId xmlns:a16="http://schemas.microsoft.com/office/drawing/2014/main" id="{9E0086A8-06D1-484E-805F-460346EB5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0" name="Freeform 29">
              <a:extLst>
                <a:ext uri="{FF2B5EF4-FFF2-40B4-BE49-F238E27FC236}">
                  <a16:creationId xmlns:a16="http://schemas.microsoft.com/office/drawing/2014/main" id="{1952C3C6-3706-447A-A721-81155E748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1" name="Freeform 30">
              <a:extLst>
                <a:ext uri="{FF2B5EF4-FFF2-40B4-BE49-F238E27FC236}">
                  <a16:creationId xmlns:a16="http://schemas.microsoft.com/office/drawing/2014/main" id="{F264C83C-EFE0-4E45-A20F-4A437FC28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2" name="Freeform 31">
              <a:extLst>
                <a:ext uri="{FF2B5EF4-FFF2-40B4-BE49-F238E27FC236}">
                  <a16:creationId xmlns:a16="http://schemas.microsoft.com/office/drawing/2014/main" id="{7E1F77A7-8C12-430E-A0C7-386E9FECC9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grpSp>
      <p:pic>
        <p:nvPicPr>
          <p:cNvPr id="74" name="Picture 2">
            <a:extLst>
              <a:ext uri="{FF2B5EF4-FFF2-40B4-BE49-F238E27FC236}">
                <a16:creationId xmlns:a16="http://schemas.microsoft.com/office/drawing/2014/main" id="{B9535DE4-FAFA-446C-A46C-F06D18D305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2" name="Título 1"/>
          <p:cNvSpPr>
            <a:spLocks noGrp="1"/>
          </p:cNvSpPr>
          <p:nvPr>
            <p:ph type="title"/>
          </p:nvPr>
        </p:nvSpPr>
        <p:spPr>
          <a:xfrm>
            <a:off x="853330" y="1134683"/>
            <a:ext cx="2743310" cy="4255024"/>
          </a:xfrm>
        </p:spPr>
        <p:txBody>
          <a:bodyPr>
            <a:normAutofit/>
          </a:bodyPr>
          <a:lstStyle/>
          <a:p>
            <a:r>
              <a:rPr lang="es-GT" sz="2500">
                <a:solidFill>
                  <a:srgbClr val="FFFFFF"/>
                </a:solidFill>
                <a:latin typeface="Arial" panose="020B0604020202020204" pitchFamily="34" charset="0"/>
                <a:cs typeface="Arial" panose="020B0604020202020204" pitchFamily="34" charset="0"/>
              </a:rPr>
              <a:t>Unidad 1. Fundamentos del Conteo.</a:t>
            </a:r>
          </a:p>
        </p:txBody>
      </p:sp>
      <p:graphicFrame>
        <p:nvGraphicFramePr>
          <p:cNvPr id="5" name="Marcador de contenido 2">
            <a:extLst>
              <a:ext uri="{FF2B5EF4-FFF2-40B4-BE49-F238E27FC236}">
                <a16:creationId xmlns:a16="http://schemas.microsoft.com/office/drawing/2014/main" id="{B28AFA36-FA34-4FE1-B7E0-67A2C82C0E7B}"/>
              </a:ext>
            </a:extLst>
          </p:cNvPr>
          <p:cNvGraphicFramePr>
            <a:graphicFrameLocks noGrp="1"/>
          </p:cNvGraphicFramePr>
          <p:nvPr>
            <p:ph idx="1"/>
            <p:extLst>
              <p:ext uri="{D42A27DB-BD31-4B8C-83A1-F6EECF244321}">
                <p14:modId xmlns:p14="http://schemas.microsoft.com/office/powerpoint/2010/main" val="4099834512"/>
              </p:ext>
            </p:extLst>
          </p:nvPr>
        </p:nvGraphicFramePr>
        <p:xfrm>
          <a:off x="4286456" y="400594"/>
          <a:ext cx="7604315" cy="60611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86343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3" name="Group 12">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 name="Group 13">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6"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27"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8"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9"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0"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1"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2"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3"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4"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5"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6"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7"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8"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9"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0"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1"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2"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43"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4"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5"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6"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7"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8"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9"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0"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1"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2"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grpSp>
        <p:grpSp>
          <p:nvGrpSpPr>
            <p:cNvPr id="15" name="Group 14">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6"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7"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8"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9"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0"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1"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2"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3"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4"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5"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grpSp>
      </p:grpSp>
      <p:sp useBgFill="1">
        <p:nvSpPr>
          <p:cNvPr id="54" name="Rectangle 53">
            <a:extLst>
              <a:ext uri="{FF2B5EF4-FFF2-40B4-BE49-F238E27FC236}">
                <a16:creationId xmlns:a16="http://schemas.microsoft.com/office/drawing/2014/main" id="{EAC88772-6DB3-49EC-9C8A-A0B46ACE37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8194878" y="1065955"/>
            <a:ext cx="3635172" cy="4817318"/>
          </a:xfrm>
        </p:spPr>
        <p:txBody>
          <a:bodyPr vert="horz" lIns="91440" tIns="45720" rIns="91440" bIns="45720" rtlCol="0" anchor="ctr">
            <a:normAutofit/>
          </a:bodyPr>
          <a:lstStyle/>
          <a:p>
            <a:r>
              <a:rPr lang="en-US" dirty="0"/>
              <a:t>Ejemplo</a:t>
            </a:r>
          </a:p>
        </p:txBody>
      </p:sp>
      <p:sp>
        <p:nvSpPr>
          <p:cNvPr id="56" name="Round Diagonal Corner Rectangle 6">
            <a:extLst>
              <a:ext uri="{FF2B5EF4-FFF2-40B4-BE49-F238E27FC236}">
                <a16:creationId xmlns:a16="http://schemas.microsoft.com/office/drawing/2014/main" id="{17A3DD84-FAA5-438A-8462-D1E01EA0D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1410" cy="6858000"/>
          </a:xfrm>
          <a:prstGeom prst="round2DiagRect">
            <a:avLst>
              <a:gd name="adj1" fmla="val 0"/>
              <a:gd name="adj2" fmla="val 0"/>
            </a:avLst>
          </a:prstGeom>
          <a:solidFill>
            <a:schemeClr val="bg2"/>
          </a:solidFill>
          <a:ln w="190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Marcador de texto 5"/>
          <p:cNvSpPr>
            <a:spLocks noGrp="1"/>
          </p:cNvSpPr>
          <p:nvPr>
            <p:ph type="body" idx="1"/>
          </p:nvPr>
        </p:nvSpPr>
        <p:spPr>
          <a:xfrm>
            <a:off x="457200" y="330926"/>
            <a:ext cx="6843422" cy="6265137"/>
          </a:xfrm>
        </p:spPr>
        <p:txBody>
          <a:bodyPr vert="horz" lIns="91440" tIns="45720" rIns="91440" bIns="45720" rtlCol="0" anchor="ctr">
            <a:normAutofit/>
          </a:bodyPr>
          <a:lstStyle/>
          <a:p>
            <a:pPr algn="just"/>
            <a:r>
              <a:rPr lang="es-GT" dirty="0">
                <a:latin typeface="Arial" panose="020B0604020202020204" pitchFamily="34" charset="0"/>
                <a:cs typeface="Arial" panose="020B0604020202020204" pitchFamily="34" charset="0"/>
              </a:rPr>
              <a:t>La biblioteca de una universidad tiene 40 libros de texto de programación y 50 de matemáticas.  Según la regla de la suma.   </a:t>
            </a:r>
          </a:p>
          <a:p>
            <a:pPr algn="just"/>
            <a:r>
              <a:rPr lang="es-GT" dirty="0">
                <a:latin typeface="Arial" panose="020B0604020202020204" pitchFamily="34" charset="0"/>
                <a:cs typeface="Arial" panose="020B0604020202020204" pitchFamily="34" charset="0"/>
              </a:rPr>
              <a:t>Cuantos Libros puede elegir un estudiante para aprender acerca de alguno de los temas.</a:t>
            </a:r>
          </a:p>
          <a:p>
            <a:pPr algn="just"/>
            <a:r>
              <a:rPr lang="es-GT" dirty="0">
                <a:latin typeface="Arial" panose="020B0604020202020204" pitchFamily="34" charset="0"/>
                <a:cs typeface="Arial" panose="020B0604020202020204" pitchFamily="34" charset="0"/>
              </a:rPr>
              <a:t>A = Programación = 40</a:t>
            </a:r>
          </a:p>
          <a:p>
            <a:pPr algn="just"/>
            <a:r>
              <a:rPr lang="es-GT" dirty="0">
                <a:latin typeface="Arial" panose="020B0604020202020204" pitchFamily="34" charset="0"/>
                <a:cs typeface="Arial" panose="020B0604020202020204" pitchFamily="34" charset="0"/>
              </a:rPr>
              <a:t>B = Matemáticas   =  50</a:t>
            </a:r>
          </a:p>
          <a:p>
            <a:pPr algn="just"/>
            <a:r>
              <a:rPr lang="es-GT" dirty="0">
                <a:latin typeface="Arial" panose="020B0604020202020204" pitchFamily="34" charset="0"/>
                <a:cs typeface="Arial" panose="020B0604020202020204" pitchFamily="34" charset="0"/>
              </a:rPr>
              <a:t>Opciones =  X</a:t>
            </a:r>
          </a:p>
          <a:p>
            <a:pPr algn="just"/>
            <a:r>
              <a:rPr lang="es-GT" dirty="0">
                <a:latin typeface="Arial" panose="020B0604020202020204" pitchFamily="34" charset="0"/>
                <a:cs typeface="Arial" panose="020B0604020202020204" pitchFamily="34" charset="0"/>
              </a:rPr>
              <a:t>Por consiguiente el estudiante tiene </a:t>
            </a:r>
          </a:p>
          <a:p>
            <a:pPr algn="just"/>
            <a:r>
              <a:rPr lang="es-GT" dirty="0">
                <a:latin typeface="Arial" panose="020B0604020202020204" pitchFamily="34" charset="0"/>
                <a:cs typeface="Arial" panose="020B0604020202020204" pitchFamily="34" charset="0"/>
              </a:rPr>
              <a:t>A  + B = X</a:t>
            </a:r>
          </a:p>
          <a:p>
            <a:pPr algn="just"/>
            <a:r>
              <a:rPr lang="es-GT" dirty="0">
                <a:latin typeface="Arial" panose="020B0604020202020204" pitchFamily="34" charset="0"/>
                <a:cs typeface="Arial" panose="020B0604020202020204" pitchFamily="34" charset="0"/>
              </a:rPr>
              <a:t>40 + 50 = 90 Opciones.</a:t>
            </a:r>
            <a:endParaRPr lang="en-US" dirty="0"/>
          </a:p>
        </p:txBody>
      </p:sp>
      <p:cxnSp>
        <p:nvCxnSpPr>
          <p:cNvPr id="58" name="Straight Connector 57">
            <a:extLst>
              <a:ext uri="{FF2B5EF4-FFF2-40B4-BE49-F238E27FC236}">
                <a16:creationId xmlns:a16="http://schemas.microsoft.com/office/drawing/2014/main" id="{46640D31-0CFD-4B3F-AE95-530AA5174F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62562" y="0"/>
            <a:ext cx="0" cy="6858000"/>
          </a:xfrm>
          <a:prstGeom prst="line">
            <a:avLst/>
          </a:prstGeom>
          <a:ln w="19050">
            <a:solidFill>
              <a:schemeClr val="tx2">
                <a:lumMod val="60000"/>
                <a:lumOff val="40000"/>
                <a:alpha val="60000"/>
              </a:schemeClr>
            </a:solidFill>
          </a:ln>
          <a:effectLst>
            <a:outerShdw blurRad="88900" dist="38100" dir="5400000" algn="ctr" rotWithShape="0">
              <a:srgbClr val="000000">
                <a:alpha val="40000"/>
              </a:srgb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615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3" name="Group 12">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 name="Group 13">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6"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27"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8"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9"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0"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1"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2"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3"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4"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5"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6"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7"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8"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9"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0"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1"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2"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43"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4"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5"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6"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7"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8"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9"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0"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1"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2"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grpSp>
        <p:grpSp>
          <p:nvGrpSpPr>
            <p:cNvPr id="15" name="Group 14">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6"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7"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8"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9"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0"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1"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2"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3"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4"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5"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grpSp>
      </p:grpSp>
      <p:sp>
        <p:nvSpPr>
          <p:cNvPr id="54" name="Rectangle 5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5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5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6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7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grpSp>
      <p:sp>
        <p:nvSpPr>
          <p:cNvPr id="2" name="Título 1"/>
          <p:cNvSpPr>
            <a:spLocks noGrp="1"/>
          </p:cNvSpPr>
          <p:nvPr>
            <p:ph type="title"/>
          </p:nvPr>
        </p:nvSpPr>
        <p:spPr>
          <a:xfrm>
            <a:off x="612772" y="1093787"/>
            <a:ext cx="3704335" cy="4697413"/>
          </a:xfrm>
        </p:spPr>
        <p:txBody>
          <a:bodyPr vert="horz" lIns="91440" tIns="45720" rIns="91440" bIns="45720" rtlCol="0" anchor="ctr">
            <a:normAutofit/>
          </a:bodyPr>
          <a:lstStyle/>
          <a:p>
            <a:r>
              <a:rPr lang="en-US" dirty="0" err="1"/>
              <a:t>Ejemplos</a:t>
            </a:r>
            <a:r>
              <a:rPr lang="en-US" dirty="0"/>
              <a:t>. </a:t>
            </a:r>
          </a:p>
        </p:txBody>
      </p:sp>
      <p:sp useBgFill="1">
        <p:nvSpPr>
          <p:cNvPr id="8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Marcador de texto 5"/>
          <p:cNvSpPr>
            <a:spLocks noGrp="1"/>
          </p:cNvSpPr>
          <p:nvPr>
            <p:ph type="body" idx="1"/>
          </p:nvPr>
        </p:nvSpPr>
        <p:spPr>
          <a:xfrm>
            <a:off x="4855112" y="409304"/>
            <a:ext cx="7046376" cy="6087290"/>
          </a:xfrm>
        </p:spPr>
        <p:txBody>
          <a:bodyPr vert="horz" lIns="91440" tIns="45720" rIns="91440" bIns="45720" rtlCol="0">
            <a:normAutofit/>
          </a:bodyPr>
          <a:lstStyle/>
          <a:p>
            <a:pPr>
              <a:lnSpc>
                <a:spcPct val="110000"/>
              </a:lnSpc>
            </a:pPr>
            <a:r>
              <a:rPr lang="en-US" sz="2000" dirty="0"/>
              <a:t>Un </a:t>
            </a:r>
            <a:r>
              <a:rPr lang="en-US" sz="2000" dirty="0" err="1"/>
              <a:t>catedrático</a:t>
            </a:r>
            <a:r>
              <a:rPr lang="en-US" sz="2000" dirty="0"/>
              <a:t> de </a:t>
            </a:r>
            <a:r>
              <a:rPr lang="en-US" sz="2000" dirty="0" err="1"/>
              <a:t>programación</a:t>
            </a:r>
            <a:r>
              <a:rPr lang="en-US" sz="2000" dirty="0"/>
              <a:t>, que </a:t>
            </a:r>
            <a:r>
              <a:rPr lang="en-US" sz="2000" dirty="0" err="1"/>
              <a:t>tiene</a:t>
            </a:r>
            <a:r>
              <a:rPr lang="en-US" sz="2000" dirty="0"/>
              <a:t> </a:t>
            </a:r>
            <a:r>
              <a:rPr lang="en-US" sz="2000" dirty="0" err="1"/>
              <a:t>cinco</a:t>
            </a:r>
            <a:r>
              <a:rPr lang="en-US" sz="2000" dirty="0"/>
              <a:t> </a:t>
            </a:r>
            <a:r>
              <a:rPr lang="en-US" sz="2000" dirty="0" err="1"/>
              <a:t>libros</a:t>
            </a:r>
            <a:r>
              <a:rPr lang="en-US" sz="2000" dirty="0"/>
              <a:t> de </a:t>
            </a:r>
            <a:r>
              <a:rPr lang="en-US" sz="2000" dirty="0" err="1"/>
              <a:t>cada</a:t>
            </a:r>
            <a:r>
              <a:rPr lang="en-US" sz="2000" dirty="0"/>
              <a:t> </a:t>
            </a:r>
            <a:r>
              <a:rPr lang="en-US" sz="2000" dirty="0" err="1"/>
              <a:t>uno</a:t>
            </a:r>
            <a:r>
              <a:rPr lang="en-US" sz="2000" dirty="0"/>
              <a:t> de </a:t>
            </a:r>
            <a:r>
              <a:rPr lang="en-US" sz="2000" dirty="0" err="1"/>
              <a:t>nivel</a:t>
            </a:r>
            <a:r>
              <a:rPr lang="en-US" sz="2000" dirty="0"/>
              <a:t> </a:t>
            </a:r>
            <a:r>
              <a:rPr lang="en-US" sz="2000" dirty="0" err="1"/>
              <a:t>introductorio</a:t>
            </a:r>
            <a:r>
              <a:rPr lang="en-US" sz="2000" dirty="0"/>
              <a:t> </a:t>
            </a:r>
            <a:r>
              <a:rPr lang="en-US" sz="2000" dirty="0" err="1"/>
              <a:t>acerca</a:t>
            </a:r>
            <a:r>
              <a:rPr lang="en-US" sz="2000" dirty="0"/>
              <a:t> de Java, C+, Ruby, Python, .  </a:t>
            </a:r>
            <a:r>
              <a:rPr lang="en-US" sz="2000" dirty="0" err="1"/>
              <a:t>Cuantos</a:t>
            </a:r>
            <a:r>
              <a:rPr lang="en-US" sz="2000" dirty="0"/>
              <a:t> </a:t>
            </a:r>
            <a:r>
              <a:rPr lang="en-US" sz="2000" dirty="0" err="1"/>
              <a:t>libros</a:t>
            </a:r>
            <a:r>
              <a:rPr lang="en-US" sz="2000" dirty="0"/>
              <a:t> </a:t>
            </a:r>
            <a:r>
              <a:rPr lang="en-US" sz="2000" dirty="0" err="1"/>
              <a:t>puede</a:t>
            </a:r>
            <a:r>
              <a:rPr lang="en-US" sz="2000" dirty="0"/>
              <a:t> </a:t>
            </a:r>
            <a:r>
              <a:rPr lang="en-US" sz="2000" dirty="0" err="1"/>
              <a:t>recomendar</a:t>
            </a:r>
            <a:r>
              <a:rPr lang="en-US" sz="2000" dirty="0"/>
              <a:t> a un </a:t>
            </a:r>
            <a:r>
              <a:rPr lang="en-US" sz="2000" dirty="0" err="1"/>
              <a:t>estudiante</a:t>
            </a:r>
            <a:r>
              <a:rPr lang="en-US" sz="2000" dirty="0"/>
              <a:t> </a:t>
            </a:r>
            <a:r>
              <a:rPr lang="en-US" sz="2000" dirty="0" err="1"/>
              <a:t>interesado</a:t>
            </a:r>
            <a:r>
              <a:rPr lang="en-US" sz="2000" dirty="0"/>
              <a:t> </a:t>
            </a:r>
            <a:r>
              <a:rPr lang="en-US" sz="2000" dirty="0" err="1"/>
              <a:t>en</a:t>
            </a:r>
            <a:r>
              <a:rPr lang="en-US" sz="2000" dirty="0"/>
              <a:t> </a:t>
            </a:r>
            <a:r>
              <a:rPr lang="en-US" sz="2000" dirty="0" err="1"/>
              <a:t>aprender</a:t>
            </a:r>
            <a:r>
              <a:rPr lang="en-US" sz="2000" dirty="0"/>
              <a:t>  un primer  </a:t>
            </a:r>
            <a:r>
              <a:rPr lang="en-US" sz="2000" dirty="0" err="1"/>
              <a:t>Lenguaje</a:t>
            </a:r>
            <a:r>
              <a:rPr lang="en-US" sz="2000" dirty="0"/>
              <a:t> de </a:t>
            </a:r>
            <a:r>
              <a:rPr lang="en-US" sz="2000" dirty="0" err="1"/>
              <a:t>programación</a:t>
            </a:r>
            <a:r>
              <a:rPr lang="en-US" sz="2000" dirty="0"/>
              <a:t>?</a:t>
            </a:r>
          </a:p>
          <a:p>
            <a:pPr indent="-228600">
              <a:lnSpc>
                <a:spcPct val="110000"/>
              </a:lnSpc>
              <a:buFont typeface="Arial" panose="020B0604020202020204" pitchFamily="34" charset="0"/>
              <a:buChar char="•"/>
            </a:pPr>
            <a:r>
              <a:rPr lang="en-US" sz="2000" dirty="0"/>
              <a:t>A = Java = 5</a:t>
            </a:r>
          </a:p>
          <a:p>
            <a:pPr indent="-228600">
              <a:lnSpc>
                <a:spcPct val="110000"/>
              </a:lnSpc>
              <a:buFont typeface="Arial" panose="020B0604020202020204" pitchFamily="34" charset="0"/>
              <a:buChar char="•"/>
            </a:pPr>
            <a:r>
              <a:rPr lang="en-US" sz="2000" dirty="0"/>
              <a:t>B = C+ = 5</a:t>
            </a:r>
          </a:p>
          <a:p>
            <a:pPr indent="-228600">
              <a:lnSpc>
                <a:spcPct val="110000"/>
              </a:lnSpc>
              <a:buFont typeface="Arial" panose="020B0604020202020204" pitchFamily="34" charset="0"/>
              <a:buChar char="•"/>
            </a:pPr>
            <a:r>
              <a:rPr lang="en-US" sz="2000" dirty="0"/>
              <a:t>C = Ruby = 5</a:t>
            </a:r>
          </a:p>
          <a:p>
            <a:pPr indent="-228600">
              <a:lnSpc>
                <a:spcPct val="110000"/>
              </a:lnSpc>
              <a:buFont typeface="Arial" panose="020B0604020202020204" pitchFamily="34" charset="0"/>
              <a:buChar char="•"/>
            </a:pPr>
            <a:r>
              <a:rPr lang="en-US" sz="2000" dirty="0"/>
              <a:t>D = Phyton = 5</a:t>
            </a:r>
          </a:p>
          <a:p>
            <a:pPr indent="-228600">
              <a:lnSpc>
                <a:spcPct val="110000"/>
              </a:lnSpc>
              <a:buFont typeface="Arial" panose="020B0604020202020204" pitchFamily="34" charset="0"/>
              <a:buChar char="•"/>
            </a:pPr>
            <a:r>
              <a:rPr lang="en-US" sz="2000" dirty="0" err="1"/>
              <a:t>Opciones</a:t>
            </a:r>
            <a:r>
              <a:rPr lang="en-US" sz="2000" dirty="0"/>
              <a:t> = X</a:t>
            </a:r>
          </a:p>
          <a:p>
            <a:pPr indent="-228600">
              <a:lnSpc>
                <a:spcPct val="110000"/>
              </a:lnSpc>
              <a:buFont typeface="Arial" panose="020B0604020202020204" pitchFamily="34" charset="0"/>
              <a:buChar char="•"/>
            </a:pPr>
            <a:r>
              <a:rPr lang="en-US" sz="2000" dirty="0"/>
              <a:t>A + B + C+ D = X</a:t>
            </a:r>
          </a:p>
          <a:p>
            <a:pPr indent="-228600">
              <a:lnSpc>
                <a:spcPct val="110000"/>
              </a:lnSpc>
              <a:buFont typeface="Arial" panose="020B0604020202020204" pitchFamily="34" charset="0"/>
              <a:buChar char="•"/>
            </a:pPr>
            <a:r>
              <a:rPr lang="en-US" sz="2000" dirty="0"/>
              <a:t>5 + 5 + 5 + 5 = 20 </a:t>
            </a:r>
            <a:r>
              <a:rPr lang="en-US" sz="2000" dirty="0" err="1"/>
              <a:t>Opciones</a:t>
            </a:r>
            <a:r>
              <a:rPr lang="en-US" sz="2000" dirty="0"/>
              <a:t>. (</a:t>
            </a:r>
            <a:r>
              <a:rPr lang="en-US" sz="2000" dirty="0" err="1"/>
              <a:t>libros</a:t>
            </a:r>
            <a:r>
              <a:rPr lang="en-US" sz="2000" dirty="0"/>
              <a:t>)</a:t>
            </a:r>
            <a:endParaRPr lang="en-US" sz="1700" dirty="0"/>
          </a:p>
          <a:p>
            <a:pPr indent="-228600">
              <a:lnSpc>
                <a:spcPct val="110000"/>
              </a:lnSpc>
              <a:buFont typeface="Arial" panose="020B0604020202020204" pitchFamily="34" charset="0"/>
              <a:buChar char="•"/>
            </a:pPr>
            <a:endParaRPr lang="en-US" sz="1700" dirty="0"/>
          </a:p>
          <a:p>
            <a:pPr>
              <a:lnSpc>
                <a:spcPct val="110000"/>
              </a:lnSpc>
            </a:pPr>
            <a:endParaRPr lang="en-US" sz="1700" dirty="0"/>
          </a:p>
        </p:txBody>
      </p:sp>
    </p:spTree>
    <p:extLst>
      <p:ext uri="{BB962C8B-B14F-4D97-AF65-F5344CB8AC3E}">
        <p14:creationId xmlns:p14="http://schemas.microsoft.com/office/powerpoint/2010/main" val="120828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AC88772-6DB3-49EC-9C8A-A0B46ACE37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8194878" y="1065955"/>
            <a:ext cx="2851413" cy="4817318"/>
          </a:xfrm>
        </p:spPr>
        <p:txBody>
          <a:bodyPr anchor="ctr">
            <a:normAutofit/>
          </a:bodyPr>
          <a:lstStyle/>
          <a:p>
            <a:r>
              <a:rPr lang="es-GT" sz="2500">
                <a:latin typeface="Arial" panose="020B0604020202020204" pitchFamily="34" charset="0"/>
                <a:cs typeface="Arial" panose="020B0604020202020204" pitchFamily="34" charset="0"/>
              </a:rPr>
              <a:t>Unidad 1. Fundamentos del Conteo.</a:t>
            </a:r>
          </a:p>
        </p:txBody>
      </p:sp>
      <p:sp>
        <p:nvSpPr>
          <p:cNvPr id="10" name="Round Diagonal Corner Rectangle 6">
            <a:extLst>
              <a:ext uri="{FF2B5EF4-FFF2-40B4-BE49-F238E27FC236}">
                <a16:creationId xmlns:a16="http://schemas.microsoft.com/office/drawing/2014/main" id="{17A3DD84-FAA5-438A-8462-D1E01EA0D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1410" cy="6858000"/>
          </a:xfrm>
          <a:prstGeom prst="round2DiagRect">
            <a:avLst>
              <a:gd name="adj1" fmla="val 0"/>
              <a:gd name="adj2" fmla="val 0"/>
            </a:avLst>
          </a:prstGeom>
          <a:solidFill>
            <a:schemeClr val="bg2"/>
          </a:solidFill>
          <a:ln w="190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322217" y="426720"/>
            <a:ext cx="6905897" cy="6078583"/>
          </a:xfrm>
        </p:spPr>
        <p:txBody>
          <a:bodyPr anchor="ctr">
            <a:normAutofit/>
          </a:bodyPr>
          <a:lstStyle/>
          <a:p>
            <a:pPr marL="0" indent="0" algn="just">
              <a:buNone/>
            </a:pPr>
            <a:r>
              <a:rPr lang="es-GT" sz="2800" dirty="0">
                <a:latin typeface="Arial" panose="020B0604020202020204" pitchFamily="34" charset="0"/>
                <a:cs typeface="Arial" panose="020B0604020202020204" pitchFamily="34" charset="0"/>
              </a:rPr>
              <a:t>Regla de producto:</a:t>
            </a:r>
          </a:p>
          <a:p>
            <a:pPr marL="0" indent="0" algn="just">
              <a:buNone/>
            </a:pPr>
            <a:r>
              <a:rPr lang="es-GT" sz="2800" dirty="0">
                <a:latin typeface="Arial" panose="020B0604020202020204" pitchFamily="34" charset="0"/>
                <a:cs typeface="Arial" panose="020B0604020202020204" pitchFamily="34" charset="0"/>
              </a:rPr>
              <a:t>Si un procedimiento se puede descomponer en las etapas primera y segunda, y si existe m resultados posibles de la primera etapa y si, para cada uno de estos resultados, existen n resultados posibles para la segunda etapa, entonces el procedimiento total se puede realizar, en el orden  dado, de m*n formas.  Esta regla se conoce también como el principio de elección.</a:t>
            </a:r>
            <a:endParaRPr lang="es-GT" sz="1800" dirty="0">
              <a:latin typeface="Arial" panose="020B0604020202020204" pitchFamily="34" charset="0"/>
              <a:cs typeface="Arial" panose="020B0604020202020204" pitchFamily="34" charset="0"/>
            </a:endParaRPr>
          </a:p>
          <a:p>
            <a:pPr marL="0" indent="0">
              <a:buNone/>
            </a:pPr>
            <a:endParaRPr lang="es-GT" sz="1800" dirty="0">
              <a:latin typeface="Arial" panose="020B0604020202020204" pitchFamily="34" charset="0"/>
              <a:cs typeface="Arial" panose="020B0604020202020204" pitchFamily="34" charset="0"/>
            </a:endParaRPr>
          </a:p>
        </p:txBody>
      </p:sp>
      <p:cxnSp>
        <p:nvCxnSpPr>
          <p:cNvPr id="12" name="Straight Connector 11">
            <a:extLst>
              <a:ext uri="{FF2B5EF4-FFF2-40B4-BE49-F238E27FC236}">
                <a16:creationId xmlns:a16="http://schemas.microsoft.com/office/drawing/2014/main" id="{46640D31-0CFD-4B3F-AE95-530AA5174F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62562" y="0"/>
            <a:ext cx="0" cy="6858000"/>
          </a:xfrm>
          <a:prstGeom prst="line">
            <a:avLst/>
          </a:prstGeom>
          <a:ln w="19050">
            <a:solidFill>
              <a:schemeClr val="tx2">
                <a:lumMod val="60000"/>
                <a:lumOff val="40000"/>
                <a:alpha val="60000"/>
              </a:schemeClr>
            </a:solidFill>
          </a:ln>
          <a:effectLst>
            <a:outerShdw blurRad="88900" dist="38100" dir="5400000" algn="ctr" rotWithShape="0">
              <a:srgbClr val="000000">
                <a:alpha val="40000"/>
              </a:srgb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8506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1" name="Group 10">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2" name="Group 11">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4"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25"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6"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7"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8"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9"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0"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1"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2"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3"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4"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5"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6"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7"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8"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9"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0"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41"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2"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3"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4"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5"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6"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7"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8"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9"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0"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grpSp>
        <p:grpSp>
          <p:nvGrpSpPr>
            <p:cNvPr id="13" name="Group 12">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4"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5"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6"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7"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8"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9"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0"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1"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2"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3"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grpSp>
      </p:grpSp>
      <p:sp>
        <p:nvSpPr>
          <p:cNvPr id="52" name="Rectangle 51">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55"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56"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7"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8"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9"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0"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1"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2"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3"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4"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5"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6"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67"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8"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9"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0"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1"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72"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3"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4"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5"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6"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7"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8"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9"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0"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1"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grpSp>
      <p:sp>
        <p:nvSpPr>
          <p:cNvPr id="2" name="Título 1"/>
          <p:cNvSpPr>
            <a:spLocks noGrp="1"/>
          </p:cNvSpPr>
          <p:nvPr>
            <p:ph type="title"/>
          </p:nvPr>
        </p:nvSpPr>
        <p:spPr>
          <a:xfrm>
            <a:off x="622301" y="1093787"/>
            <a:ext cx="3637658" cy="4697413"/>
          </a:xfrm>
        </p:spPr>
        <p:txBody>
          <a:bodyPr vert="horz" lIns="91440" tIns="45720" rIns="91440" bIns="45720" rtlCol="0" anchor="ctr">
            <a:normAutofit/>
          </a:bodyPr>
          <a:lstStyle/>
          <a:p>
            <a:r>
              <a:rPr lang="en-US" dirty="0" err="1"/>
              <a:t>Ejemplos</a:t>
            </a:r>
            <a:endParaRPr lang="en-US" dirty="0"/>
          </a:p>
        </p:txBody>
      </p:sp>
      <p:sp useBgFill="1">
        <p:nvSpPr>
          <p:cNvPr id="83"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Marcador de texto 3"/>
          <p:cNvSpPr>
            <a:spLocks noGrp="1"/>
          </p:cNvSpPr>
          <p:nvPr>
            <p:ph type="body" idx="1"/>
          </p:nvPr>
        </p:nvSpPr>
        <p:spPr>
          <a:xfrm>
            <a:off x="4874162" y="235132"/>
            <a:ext cx="7008276" cy="6261462"/>
          </a:xfrm>
        </p:spPr>
        <p:txBody>
          <a:bodyPr vert="horz" lIns="91440" tIns="45720" rIns="91440" bIns="45720" rtlCol="0">
            <a:normAutofit/>
          </a:bodyPr>
          <a:lstStyle/>
          <a:p>
            <a:pPr algn="just">
              <a:lnSpc>
                <a:spcPct val="110000"/>
              </a:lnSpc>
            </a:pPr>
            <a:r>
              <a:rPr lang="en-US" sz="1800" dirty="0"/>
              <a:t>Al </a:t>
            </a:r>
            <a:r>
              <a:rPr lang="en-US" sz="1800" dirty="0" err="1"/>
              <a:t>tratar</a:t>
            </a:r>
            <a:r>
              <a:rPr lang="en-US" sz="1800" dirty="0"/>
              <a:t> de </a:t>
            </a:r>
            <a:r>
              <a:rPr lang="en-US" sz="1800" dirty="0" err="1"/>
              <a:t>tomar</a:t>
            </a:r>
            <a:r>
              <a:rPr lang="en-US" sz="1800" dirty="0"/>
              <a:t> una </a:t>
            </a:r>
            <a:r>
              <a:rPr lang="en-US" sz="1800" dirty="0" err="1"/>
              <a:t>decisión</a:t>
            </a:r>
            <a:r>
              <a:rPr lang="en-US" sz="1800" dirty="0"/>
              <a:t> </a:t>
            </a:r>
            <a:r>
              <a:rPr lang="en-US" sz="1800" dirty="0" err="1"/>
              <a:t>acerca</a:t>
            </a:r>
            <a:r>
              <a:rPr lang="en-US" sz="1800" dirty="0"/>
              <a:t> de la </a:t>
            </a:r>
            <a:r>
              <a:rPr lang="en-US" sz="1800" dirty="0" err="1"/>
              <a:t>ampliación</a:t>
            </a:r>
            <a:r>
              <a:rPr lang="en-US" sz="1800" dirty="0"/>
              <a:t> de una planta, un </a:t>
            </a:r>
            <a:r>
              <a:rPr lang="en-US" sz="1800" dirty="0" err="1"/>
              <a:t>administrador</a:t>
            </a:r>
            <a:r>
              <a:rPr lang="en-US" sz="1800" dirty="0"/>
              <a:t> </a:t>
            </a:r>
            <a:r>
              <a:rPr lang="en-US" sz="1800" dirty="0" err="1"/>
              <a:t>organiza</a:t>
            </a:r>
            <a:r>
              <a:rPr lang="en-US" sz="1800" dirty="0"/>
              <a:t> a 12 de sus </a:t>
            </a:r>
            <a:r>
              <a:rPr lang="en-US" sz="1800" dirty="0" err="1"/>
              <a:t>empleados</a:t>
            </a:r>
            <a:r>
              <a:rPr lang="en-US" sz="1800" dirty="0"/>
              <a:t> </a:t>
            </a:r>
            <a:r>
              <a:rPr lang="en-US" sz="1800" dirty="0" err="1"/>
              <a:t>en</a:t>
            </a:r>
            <a:r>
              <a:rPr lang="en-US" sz="1800" dirty="0"/>
              <a:t> dos </a:t>
            </a:r>
            <a:r>
              <a:rPr lang="en-US" sz="1800" dirty="0" err="1"/>
              <a:t>comités</a:t>
            </a:r>
            <a:r>
              <a:rPr lang="en-US" sz="1800" dirty="0"/>
              <a:t>. El </a:t>
            </a:r>
            <a:r>
              <a:rPr lang="en-US" sz="1800" dirty="0" err="1"/>
              <a:t>comité</a:t>
            </a:r>
            <a:r>
              <a:rPr lang="en-US" sz="1800" dirty="0"/>
              <a:t> A </a:t>
            </a:r>
            <a:r>
              <a:rPr lang="en-US" sz="1800" dirty="0" err="1"/>
              <a:t>está</a:t>
            </a:r>
            <a:r>
              <a:rPr lang="en-US" sz="1800" dirty="0"/>
              <a:t> </a:t>
            </a:r>
            <a:r>
              <a:rPr lang="en-US" sz="1800" dirty="0" err="1"/>
              <a:t>formado</a:t>
            </a:r>
            <a:r>
              <a:rPr lang="en-US" sz="1800" dirty="0"/>
              <a:t> por 5 </a:t>
            </a:r>
            <a:r>
              <a:rPr lang="en-US" sz="1800" dirty="0" err="1"/>
              <a:t>miembros</a:t>
            </a:r>
            <a:r>
              <a:rPr lang="en-US" sz="1800" dirty="0"/>
              <a:t> y </a:t>
            </a:r>
            <a:r>
              <a:rPr lang="en-US" sz="1800" dirty="0" err="1"/>
              <a:t>está</a:t>
            </a:r>
            <a:r>
              <a:rPr lang="en-US" sz="1800" dirty="0"/>
              <a:t> </a:t>
            </a:r>
            <a:r>
              <a:rPr lang="en-US" sz="1800" dirty="0" err="1"/>
              <a:t>encargado</a:t>
            </a:r>
            <a:r>
              <a:rPr lang="en-US" sz="1800" dirty="0"/>
              <a:t> de </a:t>
            </a:r>
            <a:r>
              <a:rPr lang="en-US" sz="1800" dirty="0" err="1"/>
              <a:t>investigar</a:t>
            </a:r>
            <a:r>
              <a:rPr lang="en-US" sz="1800" dirty="0"/>
              <a:t> los </a:t>
            </a:r>
            <a:r>
              <a:rPr lang="en-US" sz="1800" dirty="0" err="1"/>
              <a:t>resultados</a:t>
            </a:r>
            <a:r>
              <a:rPr lang="en-US" sz="1800" dirty="0"/>
              <a:t> </a:t>
            </a:r>
            <a:r>
              <a:rPr lang="en-US" sz="1800" dirty="0" err="1"/>
              <a:t>favorables</a:t>
            </a:r>
            <a:r>
              <a:rPr lang="en-US" sz="1800" dirty="0"/>
              <a:t> </a:t>
            </a:r>
            <a:r>
              <a:rPr lang="en-US" sz="1800" dirty="0" err="1"/>
              <a:t>posibles</a:t>
            </a:r>
            <a:r>
              <a:rPr lang="en-US" sz="1800" dirty="0"/>
              <a:t> de </a:t>
            </a:r>
            <a:r>
              <a:rPr lang="en-US" sz="1800" dirty="0" err="1"/>
              <a:t>dicha</a:t>
            </a:r>
            <a:r>
              <a:rPr lang="en-US" sz="1800" dirty="0"/>
              <a:t> </a:t>
            </a:r>
            <a:r>
              <a:rPr lang="en-US" sz="1800" dirty="0" err="1"/>
              <a:t>ampliación</a:t>
            </a:r>
            <a:r>
              <a:rPr lang="en-US" sz="1800" dirty="0"/>
              <a:t>. Los </a:t>
            </a:r>
            <a:r>
              <a:rPr lang="en-US" sz="1800" dirty="0" err="1"/>
              <a:t>otros</a:t>
            </a:r>
            <a:r>
              <a:rPr lang="en-US" sz="1800" dirty="0"/>
              <a:t> </a:t>
            </a:r>
            <a:r>
              <a:rPr lang="en-US" sz="1800" dirty="0" err="1"/>
              <a:t>siete</a:t>
            </a:r>
            <a:r>
              <a:rPr lang="en-US" sz="1800" dirty="0"/>
              <a:t> </a:t>
            </a:r>
            <a:r>
              <a:rPr lang="en-US" sz="1800" dirty="0" err="1"/>
              <a:t>empleados</a:t>
            </a:r>
            <a:r>
              <a:rPr lang="en-US" sz="1800" dirty="0"/>
              <a:t> del </a:t>
            </a:r>
            <a:r>
              <a:rPr lang="en-US" sz="1800" dirty="0" err="1"/>
              <a:t>comité</a:t>
            </a:r>
            <a:r>
              <a:rPr lang="en-US" sz="1800" dirty="0"/>
              <a:t> B, </a:t>
            </a:r>
            <a:r>
              <a:rPr lang="en-US" sz="1800" dirty="0" err="1"/>
              <a:t>revisarán</a:t>
            </a:r>
            <a:r>
              <a:rPr lang="en-US" sz="1800" dirty="0"/>
              <a:t> </a:t>
            </a:r>
            <a:r>
              <a:rPr lang="en-US" sz="1800" dirty="0" err="1"/>
              <a:t>todas</a:t>
            </a:r>
            <a:r>
              <a:rPr lang="en-US" sz="1800" dirty="0"/>
              <a:t> las </a:t>
            </a:r>
            <a:r>
              <a:rPr lang="en-US" sz="1800" dirty="0" err="1"/>
              <a:t>posibles</a:t>
            </a:r>
            <a:r>
              <a:rPr lang="en-US" sz="1800" dirty="0"/>
              <a:t> </a:t>
            </a:r>
            <a:r>
              <a:rPr lang="en-US" sz="1800" dirty="0" err="1"/>
              <a:t>repercusiones</a:t>
            </a:r>
            <a:r>
              <a:rPr lang="en-US" sz="1800" dirty="0"/>
              <a:t> </a:t>
            </a:r>
            <a:r>
              <a:rPr lang="en-US" sz="1800" dirty="0" err="1"/>
              <a:t>desfavorables</a:t>
            </a:r>
            <a:r>
              <a:rPr lang="en-US" sz="1800" dirty="0"/>
              <a:t>. Si el </a:t>
            </a:r>
            <a:r>
              <a:rPr lang="en-US" sz="1800" dirty="0" err="1"/>
              <a:t>administrador</a:t>
            </a:r>
            <a:r>
              <a:rPr lang="en-US" sz="1800" dirty="0"/>
              <a:t> decide </a:t>
            </a:r>
            <a:r>
              <a:rPr lang="en-US" sz="1800" dirty="0" err="1"/>
              <a:t>hablar</a:t>
            </a:r>
            <a:r>
              <a:rPr lang="en-US" sz="1800" dirty="0"/>
              <a:t> </a:t>
            </a:r>
            <a:r>
              <a:rPr lang="en-US" sz="1800" dirty="0" err="1"/>
              <a:t>sólo</a:t>
            </a:r>
            <a:r>
              <a:rPr lang="en-US" sz="1800" dirty="0"/>
              <a:t> con un </a:t>
            </a:r>
            <a:r>
              <a:rPr lang="en-US" sz="1800" dirty="0" err="1"/>
              <a:t>comité</a:t>
            </a:r>
            <a:r>
              <a:rPr lang="en-US" sz="1800" dirty="0"/>
              <a:t> antes de </a:t>
            </a:r>
            <a:r>
              <a:rPr lang="en-US" sz="1800" dirty="0" err="1"/>
              <a:t>tomar</a:t>
            </a:r>
            <a:r>
              <a:rPr lang="en-US" sz="1800" dirty="0"/>
              <a:t> </a:t>
            </a:r>
            <a:r>
              <a:rPr lang="en-US" sz="1800" dirty="0" err="1"/>
              <a:t>su</a:t>
            </a:r>
            <a:r>
              <a:rPr lang="en-US" sz="1800" dirty="0"/>
              <a:t> </a:t>
            </a:r>
            <a:r>
              <a:rPr lang="en-US" sz="1800" dirty="0" err="1"/>
              <a:t>decisión</a:t>
            </a:r>
            <a:r>
              <a:rPr lang="en-US" sz="1800" dirty="0"/>
              <a:t>, </a:t>
            </a:r>
            <a:r>
              <a:rPr lang="en-US" sz="1800" dirty="0" err="1"/>
              <a:t>entonces</a:t>
            </a:r>
            <a:r>
              <a:rPr lang="en-US" sz="1800" dirty="0"/>
              <a:t>, por la </a:t>
            </a:r>
            <a:r>
              <a:rPr lang="en-US" sz="1800" dirty="0" err="1"/>
              <a:t>regla</a:t>
            </a:r>
            <a:r>
              <a:rPr lang="en-US" sz="1800" dirty="0"/>
              <a:t> de la </a:t>
            </a:r>
            <a:r>
              <a:rPr lang="en-US" sz="1800" dirty="0" err="1"/>
              <a:t>suma</a:t>
            </a:r>
            <a:r>
              <a:rPr lang="en-US" sz="1800" dirty="0"/>
              <a:t>, </a:t>
            </a:r>
            <a:r>
              <a:rPr lang="en-US" sz="1800" dirty="0" err="1"/>
              <a:t>existirán</a:t>
            </a:r>
            <a:r>
              <a:rPr lang="en-US" sz="1800" dirty="0"/>
              <a:t> 12 </a:t>
            </a:r>
            <a:r>
              <a:rPr lang="en-US" sz="1800" dirty="0" err="1"/>
              <a:t>empleados</a:t>
            </a:r>
            <a:r>
              <a:rPr lang="en-US" sz="1800" dirty="0"/>
              <a:t> a los que </a:t>
            </a:r>
            <a:r>
              <a:rPr lang="en-US" sz="1800" dirty="0" err="1"/>
              <a:t>puede</a:t>
            </a:r>
            <a:r>
              <a:rPr lang="en-US" sz="1800" dirty="0"/>
              <a:t> </a:t>
            </a:r>
            <a:r>
              <a:rPr lang="en-US" sz="1800" dirty="0" err="1"/>
              <a:t>llamar</a:t>
            </a:r>
            <a:r>
              <a:rPr lang="en-US" sz="1800" dirty="0"/>
              <a:t>. Sin embargo, para </a:t>
            </a:r>
            <a:r>
              <a:rPr lang="en-US" sz="1800" dirty="0" err="1"/>
              <a:t>tener</a:t>
            </a:r>
            <a:r>
              <a:rPr lang="en-US" sz="1800" dirty="0"/>
              <a:t> </a:t>
            </a:r>
            <a:r>
              <a:rPr lang="en-US" sz="1800" dirty="0" err="1"/>
              <a:t>menor</a:t>
            </a:r>
            <a:r>
              <a:rPr lang="en-US" sz="1800" dirty="0"/>
              <a:t> </a:t>
            </a:r>
            <a:r>
              <a:rPr lang="en-US" sz="1800" dirty="0" err="1"/>
              <a:t>sesgo</a:t>
            </a:r>
            <a:r>
              <a:rPr lang="en-US" sz="1800" dirty="0"/>
              <a:t>, antes de </a:t>
            </a:r>
            <a:r>
              <a:rPr lang="en-US" sz="1800" dirty="0" err="1"/>
              <a:t>tomar</a:t>
            </a:r>
            <a:r>
              <a:rPr lang="en-US" sz="1800" dirty="0"/>
              <a:t> una </a:t>
            </a:r>
            <a:r>
              <a:rPr lang="en-US" sz="1800" dirty="0" err="1"/>
              <a:t>decisión</a:t>
            </a:r>
            <a:r>
              <a:rPr lang="en-US" sz="1800" dirty="0"/>
              <a:t>, decide </a:t>
            </a:r>
            <a:r>
              <a:rPr lang="en-US" sz="1800" dirty="0" err="1"/>
              <a:t>hablar</a:t>
            </a:r>
            <a:r>
              <a:rPr lang="en-US" sz="1800" dirty="0"/>
              <a:t> con un </a:t>
            </a:r>
            <a:r>
              <a:rPr lang="en-US" sz="1800" dirty="0" err="1"/>
              <a:t>miembro</a:t>
            </a:r>
            <a:r>
              <a:rPr lang="en-US" sz="1800" dirty="0"/>
              <a:t> del </a:t>
            </a:r>
            <a:r>
              <a:rPr lang="en-US" sz="1800" dirty="0" err="1"/>
              <a:t>comité</a:t>
            </a:r>
            <a:r>
              <a:rPr lang="en-US" sz="1800" dirty="0"/>
              <a:t> A el lunes y el martes con un </a:t>
            </a:r>
            <a:r>
              <a:rPr lang="en-US" sz="1800" dirty="0" err="1"/>
              <a:t>miembro</a:t>
            </a:r>
            <a:r>
              <a:rPr lang="en-US" sz="1800" dirty="0"/>
              <a:t> del </a:t>
            </a:r>
            <a:r>
              <a:rPr lang="en-US" sz="1800" dirty="0" err="1"/>
              <a:t>comité</a:t>
            </a:r>
            <a:r>
              <a:rPr lang="en-US" sz="1800" dirty="0"/>
              <a:t> B.</a:t>
            </a:r>
          </a:p>
          <a:p>
            <a:pPr indent="-228600" algn="just">
              <a:lnSpc>
                <a:spcPct val="110000"/>
              </a:lnSpc>
              <a:buFont typeface="Arial" panose="020B0604020202020204" pitchFamily="34" charset="0"/>
              <a:buChar char="•"/>
            </a:pPr>
            <a:r>
              <a:rPr lang="en-US" sz="1800" dirty="0" err="1"/>
              <a:t>Comité</a:t>
            </a:r>
            <a:r>
              <a:rPr lang="en-US" sz="1800" dirty="0"/>
              <a:t> A = 5 </a:t>
            </a:r>
          </a:p>
          <a:p>
            <a:pPr indent="-228600" algn="just">
              <a:lnSpc>
                <a:spcPct val="110000"/>
              </a:lnSpc>
              <a:buFont typeface="Arial" panose="020B0604020202020204" pitchFamily="34" charset="0"/>
              <a:buChar char="•"/>
            </a:pPr>
            <a:r>
              <a:rPr lang="en-US" sz="1800" dirty="0" err="1"/>
              <a:t>Comité</a:t>
            </a:r>
            <a:r>
              <a:rPr lang="en-US" sz="1800" dirty="0"/>
              <a:t> B = 7</a:t>
            </a:r>
          </a:p>
          <a:p>
            <a:pPr indent="-228600" algn="just">
              <a:lnSpc>
                <a:spcPct val="110000"/>
              </a:lnSpc>
              <a:buFont typeface="Arial" panose="020B0604020202020204" pitchFamily="34" charset="0"/>
              <a:buChar char="•"/>
            </a:pPr>
            <a:r>
              <a:rPr lang="en-US" sz="1800" dirty="0"/>
              <a:t>A * B = X   </a:t>
            </a:r>
            <a:r>
              <a:rPr lang="en-US" sz="1800" dirty="0">
                <a:sym typeface="Wingdings" panose="05000000000000000000" pitchFamily="2" charset="2"/>
              </a:rPr>
              <a:t>&lt;==&gt;  5 * 7 = 35 </a:t>
            </a:r>
            <a:r>
              <a:rPr lang="en-US" sz="1800" dirty="0" err="1">
                <a:sym typeface="Wingdings" panose="05000000000000000000" pitchFamily="2" charset="2"/>
              </a:rPr>
              <a:t>Formas</a:t>
            </a:r>
            <a:r>
              <a:rPr lang="en-US" sz="1800" dirty="0">
                <a:sym typeface="Wingdings" panose="05000000000000000000" pitchFamily="2" charset="2"/>
              </a:rPr>
              <a:t> de </a:t>
            </a:r>
            <a:r>
              <a:rPr lang="en-US" sz="1800" dirty="0" err="1">
                <a:sym typeface="Wingdings" panose="05000000000000000000" pitchFamily="2" charset="2"/>
              </a:rPr>
              <a:t>Proceder</a:t>
            </a:r>
            <a:endParaRPr lang="en-US" sz="1500" dirty="0">
              <a:sym typeface="Wingdings" panose="05000000000000000000" pitchFamily="2" charset="2"/>
            </a:endParaRPr>
          </a:p>
          <a:p>
            <a:pPr>
              <a:lnSpc>
                <a:spcPct val="110000"/>
              </a:lnSpc>
            </a:pPr>
            <a:endParaRPr lang="en-US" sz="1500" dirty="0"/>
          </a:p>
          <a:p>
            <a:pPr indent="-228600">
              <a:lnSpc>
                <a:spcPct val="110000"/>
              </a:lnSpc>
              <a:buFont typeface="Arial" panose="020B0604020202020204" pitchFamily="34" charset="0"/>
              <a:buChar char="•"/>
            </a:pPr>
            <a:endParaRPr lang="en-US" sz="1500" dirty="0"/>
          </a:p>
        </p:txBody>
      </p:sp>
    </p:spTree>
    <p:extLst>
      <p:ext uri="{BB962C8B-B14F-4D97-AF65-F5344CB8AC3E}">
        <p14:creationId xmlns:p14="http://schemas.microsoft.com/office/powerpoint/2010/main" val="420632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3" name="Group 12">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 name="Group 13">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6"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27"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8"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9"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0"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1"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2"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3"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4"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5"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6"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7"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8"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9"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0"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1"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2"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43"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4"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5"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6"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7"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8"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9"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0"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1"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2"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grpSp>
        <p:grpSp>
          <p:nvGrpSpPr>
            <p:cNvPr id="15" name="Group 14">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6"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7"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8"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9"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0"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1"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2"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3"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4"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5"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grpSp>
      </p:grpSp>
      <p:sp>
        <p:nvSpPr>
          <p:cNvPr id="54" name="Rectangle 5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5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5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6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7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grpSp>
      <p:sp>
        <p:nvSpPr>
          <p:cNvPr id="2" name="Título 1"/>
          <p:cNvSpPr>
            <a:spLocks noGrp="1"/>
          </p:cNvSpPr>
          <p:nvPr>
            <p:ph type="title"/>
          </p:nvPr>
        </p:nvSpPr>
        <p:spPr>
          <a:xfrm>
            <a:off x="1019015" y="1093787"/>
            <a:ext cx="3059969" cy="4697413"/>
          </a:xfrm>
        </p:spPr>
        <p:txBody>
          <a:bodyPr vert="horz" lIns="91440" tIns="45720" rIns="91440" bIns="45720" rtlCol="0" anchor="ctr">
            <a:normAutofit/>
          </a:bodyPr>
          <a:lstStyle/>
          <a:p>
            <a:r>
              <a:rPr lang="en-US" dirty="0" err="1"/>
              <a:t>Ejemplos</a:t>
            </a:r>
            <a:r>
              <a:rPr lang="en-US" dirty="0"/>
              <a:t>.</a:t>
            </a:r>
          </a:p>
        </p:txBody>
      </p:sp>
      <p:sp useBgFill="1">
        <p:nvSpPr>
          <p:cNvPr id="8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Marcador de texto 5"/>
          <p:cNvSpPr>
            <a:spLocks noGrp="1"/>
          </p:cNvSpPr>
          <p:nvPr>
            <p:ph type="body" idx="1"/>
          </p:nvPr>
        </p:nvSpPr>
        <p:spPr>
          <a:xfrm>
            <a:off x="4855112" y="465140"/>
            <a:ext cx="7046375" cy="5951534"/>
          </a:xfrm>
        </p:spPr>
        <p:txBody>
          <a:bodyPr vert="horz" lIns="91440" tIns="45720" rIns="91440" bIns="45720" rtlCol="0">
            <a:normAutofit/>
          </a:bodyPr>
          <a:lstStyle/>
          <a:p>
            <a:pPr indent="-228600">
              <a:lnSpc>
                <a:spcPct val="110000"/>
              </a:lnSpc>
              <a:buFont typeface="Arial" panose="020B0604020202020204" pitchFamily="34" charset="0"/>
              <a:buChar char="•"/>
            </a:pPr>
            <a:r>
              <a:rPr lang="en-US" sz="2000" dirty="0"/>
              <a:t> Maria </a:t>
            </a:r>
            <a:r>
              <a:rPr lang="en-US" sz="2000" dirty="0" err="1"/>
              <a:t>Planea</a:t>
            </a:r>
            <a:r>
              <a:rPr lang="en-US" sz="2000" dirty="0"/>
              <a:t>  un </a:t>
            </a:r>
            <a:r>
              <a:rPr lang="en-US" sz="2000" dirty="0" err="1"/>
              <a:t>Viaje</a:t>
            </a:r>
            <a:r>
              <a:rPr lang="en-US" sz="2000" dirty="0"/>
              <a:t> de </a:t>
            </a:r>
            <a:r>
              <a:rPr lang="en-US" sz="2000" dirty="0" err="1"/>
              <a:t>negocios</a:t>
            </a:r>
            <a:r>
              <a:rPr lang="en-US" sz="2000" dirty="0"/>
              <a:t> y </a:t>
            </a:r>
            <a:r>
              <a:rPr lang="en-US" sz="2000" dirty="0" err="1"/>
              <a:t>esta</a:t>
            </a:r>
            <a:r>
              <a:rPr lang="en-US" sz="2000" dirty="0"/>
              <a:t> </a:t>
            </a:r>
            <a:r>
              <a:rPr lang="en-US" sz="2000" dirty="0" err="1"/>
              <a:t>pensando</a:t>
            </a:r>
            <a:r>
              <a:rPr lang="en-US" sz="2000" dirty="0"/>
              <a:t> </a:t>
            </a:r>
            <a:r>
              <a:rPr lang="en-US" sz="2000" dirty="0" err="1"/>
              <a:t>empacar</a:t>
            </a:r>
            <a:r>
              <a:rPr lang="en-US" sz="2000" dirty="0"/>
              <a:t> lo </a:t>
            </a:r>
            <a:r>
              <a:rPr lang="en-US" sz="2000" dirty="0" err="1"/>
              <a:t>siguiente</a:t>
            </a:r>
            <a:r>
              <a:rPr lang="en-US" sz="2000" dirty="0"/>
              <a:t>: 3 pares de </a:t>
            </a:r>
            <a:r>
              <a:rPr lang="en-US" sz="2000" dirty="0" err="1"/>
              <a:t>zapatos</a:t>
            </a:r>
            <a:r>
              <a:rPr lang="en-US" sz="2000" dirty="0"/>
              <a:t>, 3 </a:t>
            </a:r>
            <a:r>
              <a:rPr lang="en-US" sz="2000" dirty="0" err="1"/>
              <a:t>faldas</a:t>
            </a:r>
            <a:r>
              <a:rPr lang="en-US" sz="2000" dirty="0"/>
              <a:t>, 6 </a:t>
            </a:r>
            <a:r>
              <a:rPr lang="en-US" sz="2000" dirty="0" err="1"/>
              <a:t>blusas</a:t>
            </a:r>
            <a:r>
              <a:rPr lang="en-US" sz="2000" dirty="0"/>
              <a:t>, 2 </a:t>
            </a:r>
            <a:r>
              <a:rPr lang="en-US" sz="2000" dirty="0" err="1"/>
              <a:t>pantalones</a:t>
            </a:r>
            <a:r>
              <a:rPr lang="en-US" sz="2000" dirty="0"/>
              <a:t>, 2 </a:t>
            </a:r>
            <a:r>
              <a:rPr lang="en-US" sz="2000" dirty="0" err="1"/>
              <a:t>chaquetas</a:t>
            </a:r>
            <a:r>
              <a:rPr lang="en-US" sz="2000" dirty="0"/>
              <a:t>. </a:t>
            </a:r>
            <a:r>
              <a:rPr lang="en-US" sz="2000" dirty="0" err="1"/>
              <a:t>Cuantas</a:t>
            </a:r>
            <a:r>
              <a:rPr lang="en-US" sz="2000" dirty="0"/>
              <a:t> </a:t>
            </a:r>
            <a:r>
              <a:rPr lang="en-US" sz="2000" dirty="0" err="1"/>
              <a:t>Combinaciones</a:t>
            </a:r>
            <a:r>
              <a:rPr lang="en-US" sz="2000" dirty="0"/>
              <a:t> de </a:t>
            </a:r>
            <a:r>
              <a:rPr lang="en-US" sz="2000" dirty="0" err="1"/>
              <a:t>vestimenta</a:t>
            </a:r>
            <a:r>
              <a:rPr lang="en-US" sz="2000" dirty="0"/>
              <a:t> </a:t>
            </a:r>
            <a:r>
              <a:rPr lang="en-US" sz="2000" dirty="0" err="1"/>
              <a:t>pueda</a:t>
            </a:r>
            <a:r>
              <a:rPr lang="en-US" sz="2000" dirty="0"/>
              <a:t> </a:t>
            </a:r>
            <a:r>
              <a:rPr lang="en-US" sz="2000" dirty="0" err="1"/>
              <a:t>tener</a:t>
            </a:r>
            <a:r>
              <a:rPr lang="en-US" sz="2000" dirty="0"/>
              <a:t> Maria para el </a:t>
            </a:r>
            <a:r>
              <a:rPr lang="en-US" sz="2000" dirty="0" err="1"/>
              <a:t>viaje</a:t>
            </a:r>
            <a:r>
              <a:rPr lang="en-US" sz="2000" dirty="0"/>
              <a:t>.?</a:t>
            </a:r>
          </a:p>
          <a:p>
            <a:pPr indent="-228600">
              <a:lnSpc>
                <a:spcPct val="110000"/>
              </a:lnSpc>
              <a:buFont typeface="Arial" panose="020B0604020202020204" pitchFamily="34" charset="0"/>
              <a:buChar char="•"/>
            </a:pPr>
            <a:r>
              <a:rPr lang="en-US" sz="2000" dirty="0"/>
              <a:t>A = </a:t>
            </a:r>
            <a:r>
              <a:rPr lang="en-US" sz="2000" dirty="0" err="1"/>
              <a:t>Zapatos</a:t>
            </a:r>
            <a:r>
              <a:rPr lang="en-US" sz="2000" dirty="0"/>
              <a:t> = 3</a:t>
            </a:r>
          </a:p>
          <a:p>
            <a:pPr indent="-228600">
              <a:lnSpc>
                <a:spcPct val="110000"/>
              </a:lnSpc>
              <a:buFont typeface="Arial" panose="020B0604020202020204" pitchFamily="34" charset="0"/>
              <a:buChar char="•"/>
            </a:pPr>
            <a:r>
              <a:rPr lang="en-US" sz="2000" dirty="0"/>
              <a:t>B = </a:t>
            </a:r>
            <a:r>
              <a:rPr lang="en-US" sz="2000" dirty="0" err="1"/>
              <a:t>Faldas</a:t>
            </a:r>
            <a:r>
              <a:rPr lang="en-US" sz="2000" dirty="0"/>
              <a:t> = 3</a:t>
            </a:r>
          </a:p>
          <a:p>
            <a:pPr indent="-228600">
              <a:lnSpc>
                <a:spcPct val="110000"/>
              </a:lnSpc>
              <a:buFont typeface="Arial" panose="020B0604020202020204" pitchFamily="34" charset="0"/>
              <a:buChar char="•"/>
            </a:pPr>
            <a:r>
              <a:rPr lang="en-US" sz="2000" dirty="0"/>
              <a:t>C = </a:t>
            </a:r>
            <a:r>
              <a:rPr lang="en-US" sz="2000" dirty="0" err="1"/>
              <a:t>Blusas</a:t>
            </a:r>
            <a:r>
              <a:rPr lang="en-US" sz="2000" dirty="0"/>
              <a:t> = 6</a:t>
            </a:r>
          </a:p>
          <a:p>
            <a:pPr indent="-228600">
              <a:lnSpc>
                <a:spcPct val="110000"/>
              </a:lnSpc>
              <a:buFont typeface="Arial" panose="020B0604020202020204" pitchFamily="34" charset="0"/>
              <a:buChar char="•"/>
            </a:pPr>
            <a:r>
              <a:rPr lang="en-US" sz="2000" dirty="0"/>
              <a:t>D = </a:t>
            </a:r>
            <a:r>
              <a:rPr lang="en-US" sz="2000" dirty="0" err="1"/>
              <a:t>Pantalones</a:t>
            </a:r>
            <a:r>
              <a:rPr lang="en-US" sz="2000" dirty="0"/>
              <a:t> = 2</a:t>
            </a:r>
          </a:p>
          <a:p>
            <a:pPr indent="-228600">
              <a:lnSpc>
                <a:spcPct val="110000"/>
              </a:lnSpc>
              <a:buFont typeface="Arial" panose="020B0604020202020204" pitchFamily="34" charset="0"/>
              <a:buChar char="•"/>
            </a:pPr>
            <a:r>
              <a:rPr lang="en-US" sz="2000" dirty="0"/>
              <a:t>E = </a:t>
            </a:r>
            <a:r>
              <a:rPr lang="en-US" sz="2000" dirty="0" err="1"/>
              <a:t>Chaquetas</a:t>
            </a:r>
            <a:r>
              <a:rPr lang="en-US" sz="2000" dirty="0"/>
              <a:t> =  2</a:t>
            </a:r>
          </a:p>
          <a:p>
            <a:pPr indent="-228600">
              <a:lnSpc>
                <a:spcPct val="110000"/>
              </a:lnSpc>
              <a:buFont typeface="Arial" panose="020B0604020202020204" pitchFamily="34" charset="0"/>
              <a:buChar char="•"/>
            </a:pPr>
            <a:r>
              <a:rPr lang="en-US" sz="2000" dirty="0" err="1"/>
              <a:t>Opciones</a:t>
            </a:r>
            <a:r>
              <a:rPr lang="en-US" sz="2000" dirty="0"/>
              <a:t> = X</a:t>
            </a:r>
          </a:p>
          <a:p>
            <a:pPr indent="-228600">
              <a:lnSpc>
                <a:spcPct val="110000"/>
              </a:lnSpc>
              <a:buFont typeface="Arial" panose="020B0604020202020204" pitchFamily="34" charset="0"/>
              <a:buChar char="•"/>
            </a:pPr>
            <a:r>
              <a:rPr lang="en-US" sz="2000" dirty="0"/>
              <a:t>A * B * C * D * E = X</a:t>
            </a:r>
          </a:p>
          <a:p>
            <a:pPr indent="-228600">
              <a:lnSpc>
                <a:spcPct val="110000"/>
              </a:lnSpc>
              <a:buFont typeface="Arial" panose="020B0604020202020204" pitchFamily="34" charset="0"/>
              <a:buChar char="•"/>
            </a:pPr>
            <a:r>
              <a:rPr lang="en-US" sz="2000" dirty="0"/>
              <a:t>(3)(3)(6)(2)(2) = 216 </a:t>
            </a:r>
            <a:r>
              <a:rPr lang="en-US" sz="2000" dirty="0" err="1"/>
              <a:t>Combinaciones</a:t>
            </a:r>
            <a:r>
              <a:rPr lang="en-US" sz="2000" dirty="0"/>
              <a:t>.</a:t>
            </a:r>
          </a:p>
          <a:p>
            <a:pPr indent="-228600">
              <a:lnSpc>
                <a:spcPct val="110000"/>
              </a:lnSpc>
              <a:buFont typeface="Arial" panose="020B0604020202020204" pitchFamily="34" charset="0"/>
              <a:buChar char="•"/>
            </a:pPr>
            <a:endParaRPr lang="en-US" sz="1500" dirty="0"/>
          </a:p>
        </p:txBody>
      </p:sp>
    </p:spTree>
    <p:extLst>
      <p:ext uri="{BB962C8B-B14F-4D97-AF65-F5344CB8AC3E}">
        <p14:creationId xmlns:p14="http://schemas.microsoft.com/office/powerpoint/2010/main" val="200806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1" name="Group 10">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2" name="Group 11">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4"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25"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6"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7"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8"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9"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0"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1"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2"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3"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4"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5"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6"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7"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8"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9"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0"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41"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2"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3"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4"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5"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6"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7"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8"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9"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0"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grpSp>
        <p:grpSp>
          <p:nvGrpSpPr>
            <p:cNvPr id="13" name="Group 12">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4"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5"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6"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7"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8"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9"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0"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1"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2"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3"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grpSp>
      </p:grpSp>
      <p:sp useBgFill="1">
        <p:nvSpPr>
          <p:cNvPr id="52" name="Rectangle 51">
            <a:extLst>
              <a:ext uri="{FF2B5EF4-FFF2-40B4-BE49-F238E27FC236}">
                <a16:creationId xmlns:a16="http://schemas.microsoft.com/office/drawing/2014/main" id="{EAC88772-6DB3-49EC-9C8A-A0B46ACE37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8194878" y="1065955"/>
            <a:ext cx="2851413" cy="4817318"/>
          </a:xfrm>
        </p:spPr>
        <p:txBody>
          <a:bodyPr vert="horz" lIns="91440" tIns="45720" rIns="91440" bIns="45720" rtlCol="0" anchor="ctr">
            <a:normAutofit/>
          </a:bodyPr>
          <a:lstStyle/>
          <a:p>
            <a:r>
              <a:rPr lang="en-US" dirty="0" err="1"/>
              <a:t>Ejemplos</a:t>
            </a:r>
            <a:r>
              <a:rPr lang="en-US" dirty="0"/>
              <a:t>. </a:t>
            </a:r>
          </a:p>
        </p:txBody>
      </p:sp>
      <p:sp>
        <p:nvSpPr>
          <p:cNvPr id="54" name="Round Diagonal Corner Rectangle 6">
            <a:extLst>
              <a:ext uri="{FF2B5EF4-FFF2-40B4-BE49-F238E27FC236}">
                <a16:creationId xmlns:a16="http://schemas.microsoft.com/office/drawing/2014/main" id="{17A3DD84-FAA5-438A-8462-D1E01EA0D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1410" cy="6858000"/>
          </a:xfrm>
          <a:prstGeom prst="round2DiagRect">
            <a:avLst>
              <a:gd name="adj1" fmla="val 0"/>
              <a:gd name="adj2" fmla="val 0"/>
            </a:avLst>
          </a:prstGeom>
          <a:solidFill>
            <a:schemeClr val="bg2"/>
          </a:solidFill>
          <a:ln w="190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texto 3"/>
          <p:cNvSpPr>
            <a:spLocks noGrp="1"/>
          </p:cNvSpPr>
          <p:nvPr>
            <p:ph type="body" idx="1"/>
          </p:nvPr>
        </p:nvSpPr>
        <p:spPr>
          <a:xfrm>
            <a:off x="457200" y="391886"/>
            <a:ext cx="6843422" cy="6204177"/>
          </a:xfrm>
        </p:spPr>
        <p:txBody>
          <a:bodyPr vert="horz" lIns="91440" tIns="45720" rIns="91440" bIns="45720" rtlCol="0" anchor="ctr">
            <a:normAutofit/>
          </a:bodyPr>
          <a:lstStyle/>
          <a:p>
            <a:pPr indent="-228600">
              <a:lnSpc>
                <a:spcPct val="110000"/>
              </a:lnSpc>
              <a:buFont typeface="Arial" panose="020B0604020202020204" pitchFamily="34" charset="0"/>
              <a:buChar char="•"/>
            </a:pPr>
            <a:r>
              <a:rPr lang="en-US" sz="2000" dirty="0" err="1"/>
              <a:t>Ahora</a:t>
            </a:r>
            <a:r>
              <a:rPr lang="en-US" sz="2000" dirty="0"/>
              <a:t> </a:t>
            </a:r>
            <a:r>
              <a:rPr lang="en-US" sz="2000" dirty="0" err="1"/>
              <a:t>ejemplifiquemos</a:t>
            </a:r>
            <a:r>
              <a:rPr lang="en-US" sz="2000" dirty="0"/>
              <a:t> </a:t>
            </a:r>
            <a:r>
              <a:rPr lang="en-US" sz="2000" dirty="0" err="1"/>
              <a:t>varias</a:t>
            </a:r>
            <a:r>
              <a:rPr lang="en-US" sz="2000" dirty="0"/>
              <a:t> </a:t>
            </a:r>
            <a:r>
              <a:rPr lang="en-US" sz="2000" dirty="0" err="1"/>
              <a:t>extensiones</a:t>
            </a:r>
            <a:r>
              <a:rPr lang="en-US" sz="2000" dirty="0"/>
              <a:t> de la </a:t>
            </a:r>
            <a:r>
              <a:rPr lang="en-US" sz="2000" dirty="0" err="1"/>
              <a:t>regla</a:t>
            </a:r>
            <a:r>
              <a:rPr lang="en-US" sz="2000" dirty="0"/>
              <a:t>, </a:t>
            </a:r>
            <a:r>
              <a:rPr lang="en-US" sz="2000" dirty="0" err="1"/>
              <a:t>examinando</a:t>
            </a:r>
            <a:r>
              <a:rPr lang="en-US" sz="2000" dirty="0"/>
              <a:t> la </a:t>
            </a:r>
            <a:r>
              <a:rPr lang="en-US" sz="2000" dirty="0" err="1"/>
              <a:t>fabricación</a:t>
            </a:r>
            <a:r>
              <a:rPr lang="en-US" sz="2000" dirty="0"/>
              <a:t> de </a:t>
            </a:r>
            <a:r>
              <a:rPr lang="en-US" sz="2000" dirty="0" err="1"/>
              <a:t>placas</a:t>
            </a:r>
            <a:r>
              <a:rPr lang="en-US" sz="2000" dirty="0"/>
              <a:t> de </a:t>
            </a:r>
            <a:r>
              <a:rPr lang="en-US" sz="2000" dirty="0" err="1"/>
              <a:t>automóvil</a:t>
            </a:r>
            <a:r>
              <a:rPr lang="en-US" sz="2000" dirty="0"/>
              <a:t> que </a:t>
            </a:r>
            <a:r>
              <a:rPr lang="en-US" sz="2000" dirty="0" err="1"/>
              <a:t>constan</a:t>
            </a:r>
            <a:r>
              <a:rPr lang="en-US" sz="2000" dirty="0"/>
              <a:t> de dos </a:t>
            </a:r>
            <a:r>
              <a:rPr lang="en-US" sz="2000" dirty="0" err="1"/>
              <a:t>letras</a:t>
            </a:r>
            <a:r>
              <a:rPr lang="en-US" sz="2000" dirty="0"/>
              <a:t> (sin </a:t>
            </a:r>
            <a:r>
              <a:rPr lang="en-US" sz="2000" dirty="0" err="1"/>
              <a:t>contar</a:t>
            </a:r>
            <a:r>
              <a:rPr lang="en-US" sz="2000" dirty="0"/>
              <a:t> la ñ) </a:t>
            </a:r>
            <a:r>
              <a:rPr lang="en-US" sz="2000" dirty="0" err="1"/>
              <a:t>seguidas</a:t>
            </a:r>
            <a:r>
              <a:rPr lang="en-US" sz="2000" dirty="0"/>
              <a:t> por </a:t>
            </a:r>
            <a:r>
              <a:rPr lang="en-US" sz="2000" dirty="0" err="1"/>
              <a:t>cuatro</a:t>
            </a:r>
            <a:r>
              <a:rPr lang="en-US" sz="2000" dirty="0"/>
              <a:t> </a:t>
            </a:r>
            <a:r>
              <a:rPr lang="en-US" sz="2000" dirty="0" err="1"/>
              <a:t>dígitos</a:t>
            </a:r>
            <a:r>
              <a:rPr lang="en-US" sz="2000" dirty="0"/>
              <a:t>.</a:t>
            </a:r>
          </a:p>
          <a:p>
            <a:pPr lvl="0" indent="-228600">
              <a:lnSpc>
                <a:spcPct val="110000"/>
              </a:lnSpc>
              <a:buFont typeface="Arial" panose="020B0604020202020204" pitchFamily="34" charset="0"/>
              <a:buChar char="•"/>
            </a:pPr>
            <a:r>
              <a:rPr lang="en-US" sz="2000" dirty="0"/>
              <a:t>Si </a:t>
            </a:r>
            <a:r>
              <a:rPr lang="en-US" sz="2000" dirty="0" err="1"/>
              <a:t>ninguna</a:t>
            </a:r>
            <a:r>
              <a:rPr lang="en-US" sz="2000" dirty="0"/>
              <a:t> </a:t>
            </a:r>
            <a:r>
              <a:rPr lang="en-US" sz="2000" dirty="0" err="1"/>
              <a:t>letra</a:t>
            </a:r>
            <a:r>
              <a:rPr lang="en-US" sz="2000" dirty="0"/>
              <a:t> o </a:t>
            </a:r>
            <a:r>
              <a:rPr lang="en-US" sz="2000" dirty="0" err="1"/>
              <a:t>dígito</a:t>
            </a:r>
            <a:r>
              <a:rPr lang="en-US" sz="2000" dirty="0"/>
              <a:t> se </a:t>
            </a:r>
            <a:r>
              <a:rPr lang="en-US" sz="2000" dirty="0" err="1"/>
              <a:t>puede</a:t>
            </a:r>
            <a:r>
              <a:rPr lang="en-US" sz="2000" dirty="0"/>
              <a:t> </a:t>
            </a:r>
            <a:r>
              <a:rPr lang="en-US" sz="2000" dirty="0" err="1"/>
              <a:t>repetir</a:t>
            </a:r>
            <a:r>
              <a:rPr lang="en-US" sz="2000" dirty="0"/>
              <a:t>, </a:t>
            </a:r>
            <a:r>
              <a:rPr lang="en-US" sz="2000" dirty="0" err="1"/>
              <a:t>habrá</a:t>
            </a:r>
            <a:r>
              <a:rPr lang="en-US" sz="2000" dirty="0"/>
              <a:t> lo </a:t>
            </a:r>
            <a:r>
              <a:rPr lang="en-US" sz="2000" dirty="0" err="1"/>
              <a:t>siguiente</a:t>
            </a:r>
            <a:r>
              <a:rPr lang="en-US" sz="2000" dirty="0"/>
              <a:t> </a:t>
            </a:r>
          </a:p>
          <a:p>
            <a:pPr lvl="0" indent="-228600">
              <a:lnSpc>
                <a:spcPct val="110000"/>
              </a:lnSpc>
              <a:buFont typeface="Arial" panose="020B0604020202020204" pitchFamily="34" charset="0"/>
              <a:buChar char="•"/>
            </a:pPr>
            <a:r>
              <a:rPr lang="en-US" sz="2000" dirty="0"/>
              <a:t>26 x 25 x 10 x 9 x 8 x 7 = 3,276,000 </a:t>
            </a:r>
            <a:r>
              <a:rPr lang="en-US" sz="2000" dirty="0" err="1"/>
              <a:t>placas</a:t>
            </a:r>
            <a:r>
              <a:rPr lang="en-US" sz="2000" dirty="0"/>
              <a:t> </a:t>
            </a:r>
            <a:r>
              <a:rPr lang="en-US" sz="2000" dirty="0" err="1"/>
              <a:t>posibles</a:t>
            </a:r>
            <a:r>
              <a:rPr lang="en-US" sz="2000" dirty="0"/>
              <a:t> diferentes.</a:t>
            </a:r>
          </a:p>
          <a:p>
            <a:pPr lvl="0" indent="-228600">
              <a:lnSpc>
                <a:spcPct val="110000"/>
              </a:lnSpc>
              <a:buFont typeface="Arial" panose="020B0604020202020204" pitchFamily="34" charset="0"/>
              <a:buChar char="•"/>
            </a:pPr>
            <a:r>
              <a:rPr lang="en-US" sz="2000" dirty="0"/>
              <a:t>Si se </a:t>
            </a:r>
            <a:r>
              <a:rPr lang="en-US" sz="2000" dirty="0" err="1"/>
              <a:t>permite</a:t>
            </a:r>
            <a:r>
              <a:rPr lang="en-US" sz="2000" dirty="0"/>
              <a:t> </a:t>
            </a:r>
            <a:r>
              <a:rPr lang="en-US" sz="2000" dirty="0" err="1"/>
              <a:t>repetir</a:t>
            </a:r>
            <a:r>
              <a:rPr lang="en-US" sz="2000" dirty="0"/>
              <a:t> las </a:t>
            </a:r>
            <a:r>
              <a:rPr lang="en-US" sz="2000" dirty="0" err="1"/>
              <a:t>letras</a:t>
            </a:r>
            <a:r>
              <a:rPr lang="en-US" sz="2000" dirty="0"/>
              <a:t> y los </a:t>
            </a:r>
            <a:r>
              <a:rPr lang="en-US" sz="2000" dirty="0" err="1"/>
              <a:t>dígitos</a:t>
            </a:r>
            <a:r>
              <a:rPr lang="en-US" sz="2000" dirty="0"/>
              <a:t>, </a:t>
            </a:r>
            <a:r>
              <a:rPr lang="en-US" sz="2000" dirty="0" err="1"/>
              <a:t>será</a:t>
            </a:r>
            <a:r>
              <a:rPr lang="en-US" sz="2000" dirty="0"/>
              <a:t> </a:t>
            </a:r>
            <a:r>
              <a:rPr lang="en-US" sz="2000" dirty="0" err="1"/>
              <a:t>posible</a:t>
            </a:r>
            <a:r>
              <a:rPr lang="en-US" sz="2000" dirty="0"/>
              <a:t> </a:t>
            </a:r>
            <a:r>
              <a:rPr lang="en-US" sz="2000" dirty="0" err="1"/>
              <a:t>tener</a:t>
            </a:r>
            <a:r>
              <a:rPr lang="en-US" sz="2000" dirty="0"/>
              <a:t> </a:t>
            </a:r>
          </a:p>
          <a:p>
            <a:pPr lvl="0" indent="-228600">
              <a:lnSpc>
                <a:spcPct val="110000"/>
              </a:lnSpc>
              <a:buFont typeface="Arial" panose="020B0604020202020204" pitchFamily="34" charset="0"/>
              <a:buChar char="•"/>
            </a:pPr>
            <a:r>
              <a:rPr lang="en-US" sz="2000" dirty="0"/>
              <a:t>26 x 26 x 10 x 10 x 10 x 10 = 6,760,000 </a:t>
            </a:r>
            <a:r>
              <a:rPr lang="en-US" sz="2000" dirty="0" err="1"/>
              <a:t>placas</a:t>
            </a:r>
            <a:r>
              <a:rPr lang="en-US" sz="2000" dirty="0"/>
              <a:t> </a:t>
            </a:r>
            <a:r>
              <a:rPr lang="en-US" sz="2000" dirty="0" err="1"/>
              <a:t>diferentes</a:t>
            </a:r>
            <a:r>
              <a:rPr lang="en-US" sz="2000" dirty="0"/>
              <a:t>.</a:t>
            </a:r>
          </a:p>
          <a:p>
            <a:pPr lvl="0" indent="-228600">
              <a:lnSpc>
                <a:spcPct val="110000"/>
              </a:lnSpc>
              <a:buFont typeface="Arial" panose="020B0604020202020204" pitchFamily="34" charset="0"/>
              <a:buChar char="•"/>
            </a:pPr>
            <a:r>
              <a:rPr lang="en-US" sz="2000" dirty="0"/>
              <a:t>Si se </a:t>
            </a:r>
            <a:r>
              <a:rPr lang="en-US" sz="2000" dirty="0" err="1"/>
              <a:t>permiten</a:t>
            </a:r>
            <a:r>
              <a:rPr lang="en-US" sz="2000" dirty="0"/>
              <a:t> las </a:t>
            </a:r>
            <a:r>
              <a:rPr lang="en-US" sz="2000" dirty="0" err="1"/>
              <a:t>repeticiones</a:t>
            </a:r>
            <a:r>
              <a:rPr lang="en-US" sz="2000" dirty="0"/>
              <a:t>, </a:t>
            </a:r>
            <a:r>
              <a:rPr lang="en-US" sz="2000" dirty="0" err="1"/>
              <a:t>como</a:t>
            </a:r>
            <a:r>
              <a:rPr lang="en-US" sz="2000" dirty="0"/>
              <a:t> </a:t>
            </a:r>
            <a:r>
              <a:rPr lang="en-US" sz="2000" dirty="0" err="1"/>
              <a:t>en</a:t>
            </a:r>
            <a:r>
              <a:rPr lang="en-US" sz="2000" dirty="0"/>
              <a:t> la </a:t>
            </a:r>
            <a:r>
              <a:rPr lang="en-US" sz="2000" dirty="0" err="1"/>
              <a:t>parte</a:t>
            </a:r>
            <a:r>
              <a:rPr lang="en-US" sz="2000" dirty="0"/>
              <a:t> (b), ¿</a:t>
            </a:r>
            <a:r>
              <a:rPr lang="en-US" sz="2000" dirty="0" err="1"/>
              <a:t>Cuántas</a:t>
            </a:r>
            <a:r>
              <a:rPr lang="en-US" sz="2000" dirty="0"/>
              <a:t> </a:t>
            </a:r>
            <a:r>
              <a:rPr lang="en-US" sz="2000" dirty="0" err="1"/>
              <a:t>placas</a:t>
            </a:r>
            <a:r>
              <a:rPr lang="en-US" sz="2000" dirty="0"/>
              <a:t> </a:t>
            </a:r>
            <a:r>
              <a:rPr lang="en-US" sz="2000" dirty="0" err="1"/>
              <a:t>tendrán</a:t>
            </a:r>
            <a:r>
              <a:rPr lang="en-US" sz="2000" dirty="0"/>
              <a:t> </a:t>
            </a:r>
            <a:r>
              <a:rPr lang="en-US" sz="2000" dirty="0" err="1"/>
              <a:t>solamente</a:t>
            </a:r>
            <a:r>
              <a:rPr lang="en-US" sz="2000" dirty="0"/>
              <a:t> </a:t>
            </a:r>
            <a:r>
              <a:rPr lang="en-US" sz="2000" dirty="0" err="1"/>
              <a:t>vocales</a:t>
            </a:r>
            <a:r>
              <a:rPr lang="en-US" sz="2000" dirty="0"/>
              <a:t> (A, E, I, O, U) y </a:t>
            </a:r>
            <a:r>
              <a:rPr lang="en-US" sz="2000" dirty="0" err="1"/>
              <a:t>dígitos</a:t>
            </a:r>
            <a:r>
              <a:rPr lang="en-US" sz="2000" dirty="0"/>
              <a:t> pares? (0 es un </a:t>
            </a:r>
            <a:r>
              <a:rPr lang="en-US" sz="2000" dirty="0" err="1"/>
              <a:t>entero</a:t>
            </a:r>
            <a:r>
              <a:rPr lang="en-US" sz="2000" dirty="0"/>
              <a:t> par)</a:t>
            </a:r>
          </a:p>
          <a:p>
            <a:pPr indent="-228600">
              <a:lnSpc>
                <a:spcPct val="110000"/>
              </a:lnSpc>
              <a:buFont typeface="Arial" panose="020B0604020202020204" pitchFamily="34" charset="0"/>
              <a:buChar char="•"/>
            </a:pPr>
            <a:r>
              <a:rPr lang="en-US" sz="2000" dirty="0"/>
              <a:t> 5 x 5 x 5 x 5 x 5 x 5 = 15,625 Placas </a:t>
            </a:r>
            <a:r>
              <a:rPr lang="en-US" sz="2000" dirty="0" err="1"/>
              <a:t>Diferentes</a:t>
            </a:r>
            <a:r>
              <a:rPr lang="en-US" sz="2000" dirty="0"/>
              <a:t>.</a:t>
            </a:r>
          </a:p>
        </p:txBody>
      </p:sp>
      <p:cxnSp>
        <p:nvCxnSpPr>
          <p:cNvPr id="56" name="Straight Connector 55">
            <a:extLst>
              <a:ext uri="{FF2B5EF4-FFF2-40B4-BE49-F238E27FC236}">
                <a16:creationId xmlns:a16="http://schemas.microsoft.com/office/drawing/2014/main" id="{46640D31-0CFD-4B3F-AE95-530AA5174F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62562" y="0"/>
            <a:ext cx="0" cy="6858000"/>
          </a:xfrm>
          <a:prstGeom prst="line">
            <a:avLst/>
          </a:prstGeom>
          <a:ln w="19050">
            <a:solidFill>
              <a:schemeClr val="tx2">
                <a:lumMod val="60000"/>
                <a:lumOff val="40000"/>
                <a:alpha val="60000"/>
              </a:schemeClr>
            </a:solidFill>
          </a:ln>
          <a:effectLst>
            <a:outerShdw blurRad="88900" dist="38100" dir="5400000" algn="ctr" rotWithShape="0">
              <a:srgbClr val="000000">
                <a:alpha val="40000"/>
              </a:srgb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04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3" name="Group 12">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 name="Group 13">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6"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27"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8"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9"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0"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1"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2"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3"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4"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5"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6"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7"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8"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39"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0"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1"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2"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sp>
            <p:nvSpPr>
              <p:cNvPr id="43"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4"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5"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6"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7"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8"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49"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0"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1"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52"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grpSp>
        <p:grpSp>
          <p:nvGrpSpPr>
            <p:cNvPr id="15" name="Group 14">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6"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7"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8"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19"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0"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1"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2"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3"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4"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s-GT"/>
              </a:p>
            </p:txBody>
          </p:sp>
          <p:sp>
            <p:nvSpPr>
              <p:cNvPr id="25"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s-GT"/>
              </a:p>
            </p:txBody>
          </p:sp>
        </p:grpSp>
      </p:grpSp>
      <p:sp>
        <p:nvSpPr>
          <p:cNvPr id="54" name="Rectangle 5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5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5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5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6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6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GT"/>
            </a:p>
          </p:txBody>
        </p:sp>
        <p:sp>
          <p:nvSpPr>
            <p:cNvPr id="7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7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sp>
          <p:nvSpPr>
            <p:cNvPr id="8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GT"/>
            </a:p>
          </p:txBody>
        </p:sp>
      </p:grpSp>
      <p:sp>
        <p:nvSpPr>
          <p:cNvPr id="2" name="Título 1"/>
          <p:cNvSpPr>
            <a:spLocks noGrp="1"/>
          </p:cNvSpPr>
          <p:nvPr>
            <p:ph type="title"/>
          </p:nvPr>
        </p:nvSpPr>
        <p:spPr>
          <a:xfrm>
            <a:off x="457200" y="1093787"/>
            <a:ext cx="3783707" cy="4697413"/>
          </a:xfrm>
        </p:spPr>
        <p:txBody>
          <a:bodyPr vert="horz" lIns="91440" tIns="45720" rIns="91440" bIns="45720" rtlCol="0" anchor="ctr">
            <a:normAutofit/>
          </a:bodyPr>
          <a:lstStyle/>
          <a:p>
            <a:r>
              <a:rPr lang="en-US" dirty="0"/>
              <a:t>Ejemplo. </a:t>
            </a:r>
          </a:p>
        </p:txBody>
      </p:sp>
      <p:sp useBgFill="1">
        <p:nvSpPr>
          <p:cNvPr id="8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Marcador de texto 5"/>
          <p:cNvSpPr>
            <a:spLocks noGrp="1"/>
          </p:cNvSpPr>
          <p:nvPr>
            <p:ph type="body" idx="1"/>
          </p:nvPr>
        </p:nvSpPr>
        <p:spPr>
          <a:xfrm>
            <a:off x="4885434" y="474663"/>
            <a:ext cx="6935091" cy="5942011"/>
          </a:xfrm>
        </p:spPr>
        <p:txBody>
          <a:bodyPr vert="horz" lIns="91440" tIns="45720" rIns="91440" bIns="45720" rtlCol="0">
            <a:normAutofit/>
          </a:bodyPr>
          <a:lstStyle/>
          <a:p>
            <a:pPr algn="just">
              <a:lnSpc>
                <a:spcPct val="110000"/>
              </a:lnSpc>
            </a:pPr>
            <a:r>
              <a:rPr lang="en-US" sz="1800" dirty="0"/>
              <a:t>A </a:t>
            </a:r>
            <a:r>
              <a:rPr lang="en-US" sz="1800" dirty="0" err="1"/>
              <a:t>veces</a:t>
            </a:r>
            <a:r>
              <a:rPr lang="en-US" sz="1800" dirty="0"/>
              <a:t> es </a:t>
            </a:r>
            <a:r>
              <a:rPr lang="en-US" sz="1800" dirty="0" err="1"/>
              <a:t>necesario</a:t>
            </a:r>
            <a:r>
              <a:rPr lang="en-US" sz="1800" dirty="0"/>
              <a:t> </a:t>
            </a:r>
            <a:r>
              <a:rPr lang="en-US" sz="1800" dirty="0" err="1"/>
              <a:t>combinar</a:t>
            </a:r>
            <a:r>
              <a:rPr lang="en-US" sz="1800" dirty="0"/>
              <a:t> </a:t>
            </a:r>
            <a:r>
              <a:rPr lang="en-US" sz="1800" dirty="0" err="1"/>
              <a:t>varios</a:t>
            </a:r>
            <a:r>
              <a:rPr lang="en-US" sz="1800" dirty="0"/>
              <a:t> </a:t>
            </a:r>
            <a:r>
              <a:rPr lang="en-US" sz="1800" dirty="0" err="1"/>
              <a:t>tipos</a:t>
            </a:r>
            <a:r>
              <a:rPr lang="en-US" sz="1800" dirty="0"/>
              <a:t> </a:t>
            </a:r>
            <a:r>
              <a:rPr lang="en-US" sz="1800" dirty="0" err="1"/>
              <a:t>diferentes</a:t>
            </a:r>
            <a:r>
              <a:rPr lang="en-US" sz="1800" dirty="0"/>
              <a:t> de </a:t>
            </a:r>
            <a:r>
              <a:rPr lang="en-US" sz="1800" dirty="0" err="1"/>
              <a:t>principios</a:t>
            </a:r>
            <a:r>
              <a:rPr lang="en-US" sz="1800" dirty="0"/>
              <a:t> de </a:t>
            </a:r>
            <a:r>
              <a:rPr lang="en-US" sz="1800" dirty="0" err="1"/>
              <a:t>conteo</a:t>
            </a:r>
            <a:r>
              <a:rPr lang="en-US" sz="1800" dirty="0"/>
              <a:t> </a:t>
            </a:r>
            <a:r>
              <a:rPr lang="en-US" sz="1800" dirty="0" err="1"/>
              <a:t>en</a:t>
            </a:r>
            <a:r>
              <a:rPr lang="en-US" sz="1800" dirty="0"/>
              <a:t> la </a:t>
            </a:r>
            <a:r>
              <a:rPr lang="en-US" sz="1800" dirty="0" err="1"/>
              <a:t>solución</a:t>
            </a:r>
            <a:r>
              <a:rPr lang="en-US" sz="1800" dirty="0"/>
              <a:t> de un </a:t>
            </a:r>
            <a:r>
              <a:rPr lang="en-US" sz="1800" dirty="0" err="1"/>
              <a:t>problema</a:t>
            </a:r>
            <a:r>
              <a:rPr lang="en-US" sz="1800" dirty="0"/>
              <a:t>. A </a:t>
            </a:r>
            <a:r>
              <a:rPr lang="en-US" sz="1800" dirty="0" err="1"/>
              <a:t>continuación</a:t>
            </a:r>
            <a:r>
              <a:rPr lang="en-US" sz="1800" dirty="0"/>
              <a:t> el </a:t>
            </a:r>
            <a:r>
              <a:rPr lang="en-US" sz="1800" dirty="0" err="1"/>
              <a:t>uso</a:t>
            </a:r>
            <a:r>
              <a:rPr lang="en-US" sz="1800" dirty="0"/>
              <a:t> de la </a:t>
            </a:r>
            <a:r>
              <a:rPr lang="en-US" sz="1800" dirty="0" err="1"/>
              <a:t>regla</a:t>
            </a:r>
            <a:r>
              <a:rPr lang="en-US" sz="1800" dirty="0"/>
              <a:t> de la </a:t>
            </a:r>
            <a:r>
              <a:rPr lang="en-US" sz="1800" dirty="0" err="1"/>
              <a:t>suma</a:t>
            </a:r>
            <a:r>
              <a:rPr lang="en-US" sz="1800" dirty="0"/>
              <a:t> y del </a:t>
            </a:r>
            <a:r>
              <a:rPr lang="en-US" sz="1800" dirty="0" err="1"/>
              <a:t>producto</a:t>
            </a:r>
            <a:r>
              <a:rPr lang="en-US" sz="1800" dirty="0"/>
              <a:t>.</a:t>
            </a:r>
          </a:p>
          <a:p>
            <a:pPr algn="just">
              <a:lnSpc>
                <a:spcPct val="110000"/>
              </a:lnSpc>
            </a:pPr>
            <a:r>
              <a:rPr lang="en-US" sz="1800" dirty="0" err="1"/>
              <a:t>En</a:t>
            </a:r>
            <a:r>
              <a:rPr lang="en-US" sz="1800" dirty="0"/>
              <a:t> </a:t>
            </a:r>
            <a:r>
              <a:rPr lang="en-US" sz="1800" dirty="0" err="1"/>
              <a:t>algunas</a:t>
            </a:r>
            <a:r>
              <a:rPr lang="en-US" sz="1800" dirty="0"/>
              <a:t> de las </a:t>
            </a:r>
            <a:r>
              <a:rPr lang="en-US" sz="1800" dirty="0" err="1"/>
              <a:t>primeras</a:t>
            </a:r>
            <a:r>
              <a:rPr lang="en-US" sz="1800" dirty="0"/>
              <a:t> </a:t>
            </a:r>
            <a:r>
              <a:rPr lang="en-US" sz="1800" dirty="0" err="1"/>
              <a:t>versiones</a:t>
            </a:r>
            <a:r>
              <a:rPr lang="en-US" sz="1800" dirty="0"/>
              <a:t> del </a:t>
            </a:r>
            <a:r>
              <a:rPr lang="en-US" sz="1800" dirty="0" err="1"/>
              <a:t>lenguaje</a:t>
            </a:r>
            <a:r>
              <a:rPr lang="en-US" sz="1800" dirty="0"/>
              <a:t> de </a:t>
            </a:r>
            <a:r>
              <a:rPr lang="en-US" sz="1800" dirty="0" err="1"/>
              <a:t>programación</a:t>
            </a:r>
            <a:r>
              <a:rPr lang="en-US" sz="1800" dirty="0"/>
              <a:t> BASIC, el </a:t>
            </a:r>
            <a:r>
              <a:rPr lang="en-US" sz="1800" dirty="0" err="1"/>
              <a:t>nombre</a:t>
            </a:r>
            <a:r>
              <a:rPr lang="en-US" sz="1800" dirty="0"/>
              <a:t> de una variable </a:t>
            </a:r>
            <a:r>
              <a:rPr lang="en-US" sz="1800" dirty="0" err="1"/>
              <a:t>consta</a:t>
            </a:r>
            <a:r>
              <a:rPr lang="en-US" sz="1800" dirty="0"/>
              <a:t> de una sola </a:t>
            </a:r>
            <a:r>
              <a:rPr lang="en-US" sz="1800" dirty="0" err="1"/>
              <a:t>letra</a:t>
            </a:r>
            <a:r>
              <a:rPr lang="en-US" sz="1800" dirty="0"/>
              <a:t> (A, B, C, …) sin </a:t>
            </a:r>
            <a:r>
              <a:rPr lang="en-US" sz="1800" dirty="0" err="1"/>
              <a:t>contar</a:t>
            </a:r>
            <a:r>
              <a:rPr lang="en-US" sz="1800" dirty="0"/>
              <a:t> la ñ, </a:t>
            </a:r>
            <a:r>
              <a:rPr lang="en-US" sz="1800" dirty="0" err="1"/>
              <a:t>seguida</a:t>
            </a:r>
            <a:r>
              <a:rPr lang="en-US" sz="1800" dirty="0"/>
              <a:t> de un solo </a:t>
            </a:r>
            <a:r>
              <a:rPr lang="en-US" sz="1800" dirty="0" err="1"/>
              <a:t>dígito</a:t>
            </a:r>
            <a:r>
              <a:rPr lang="en-US" sz="1800" dirty="0"/>
              <a:t>. Como el </a:t>
            </a:r>
            <a:r>
              <a:rPr lang="en-US" sz="1800" dirty="0" err="1"/>
              <a:t>computador</a:t>
            </a:r>
            <a:r>
              <a:rPr lang="en-US" sz="1800" dirty="0"/>
              <a:t> no distingue entre las </a:t>
            </a:r>
            <a:r>
              <a:rPr lang="en-US" sz="1800" dirty="0" err="1"/>
              <a:t>letras</a:t>
            </a:r>
            <a:r>
              <a:rPr lang="en-US" sz="1800" dirty="0"/>
              <a:t> </a:t>
            </a:r>
            <a:r>
              <a:rPr lang="en-US" sz="1800" dirty="0" err="1"/>
              <a:t>mayúsculas</a:t>
            </a:r>
            <a:r>
              <a:rPr lang="en-US" sz="1800" dirty="0"/>
              <a:t> y </a:t>
            </a:r>
            <a:r>
              <a:rPr lang="en-US" sz="1800" dirty="0" err="1"/>
              <a:t>minúsculas</a:t>
            </a:r>
            <a:r>
              <a:rPr lang="en-US" sz="1800" dirty="0"/>
              <a:t>, a y </a:t>
            </a:r>
            <a:r>
              <a:rPr lang="en-US" sz="1800" cap="none" dirty="0"/>
              <a:t>a</a:t>
            </a:r>
            <a:r>
              <a:rPr lang="en-US" sz="1800" dirty="0"/>
              <a:t> se </a:t>
            </a:r>
            <a:r>
              <a:rPr lang="en-US" sz="1800" dirty="0" err="1"/>
              <a:t>consideran</a:t>
            </a:r>
            <a:r>
              <a:rPr lang="en-US" sz="1800" dirty="0"/>
              <a:t> </a:t>
            </a:r>
            <a:r>
              <a:rPr lang="en-US" sz="1800" dirty="0" err="1"/>
              <a:t>como</a:t>
            </a:r>
            <a:r>
              <a:rPr lang="en-US" sz="1800" dirty="0"/>
              <a:t> el </a:t>
            </a:r>
            <a:r>
              <a:rPr lang="en-US" sz="1800" dirty="0" err="1"/>
              <a:t>mismo</a:t>
            </a:r>
            <a:r>
              <a:rPr lang="en-US" sz="1800" dirty="0"/>
              <a:t> </a:t>
            </a:r>
            <a:r>
              <a:rPr lang="en-US" sz="1800" dirty="0" err="1"/>
              <a:t>nombre</a:t>
            </a:r>
            <a:r>
              <a:rPr lang="en-US" sz="1800" dirty="0"/>
              <a:t> de variable, </a:t>
            </a:r>
            <a:r>
              <a:rPr lang="en-US" sz="1800" dirty="0" err="1"/>
              <a:t>así</a:t>
            </a:r>
            <a:r>
              <a:rPr lang="en-US" sz="1800" dirty="0"/>
              <a:t> </a:t>
            </a:r>
            <a:r>
              <a:rPr lang="en-US" sz="1800" dirty="0" err="1"/>
              <a:t>como</a:t>
            </a:r>
            <a:r>
              <a:rPr lang="en-US" sz="1800" dirty="0"/>
              <a:t> </a:t>
            </a:r>
            <a:r>
              <a:rPr lang="en-US" sz="1800" dirty="0" err="1"/>
              <a:t>también</a:t>
            </a:r>
            <a:r>
              <a:rPr lang="en-US" sz="1800" dirty="0"/>
              <a:t> E7 y </a:t>
            </a:r>
            <a:r>
              <a:rPr lang="en-US" sz="1800" cap="none" dirty="0"/>
              <a:t>e</a:t>
            </a:r>
            <a:r>
              <a:rPr lang="en-US" sz="1800" dirty="0"/>
              <a:t>7.</a:t>
            </a:r>
          </a:p>
          <a:p>
            <a:pPr indent="-228600">
              <a:lnSpc>
                <a:spcPct val="110000"/>
              </a:lnSpc>
              <a:buFont typeface="Arial" panose="020B0604020202020204" pitchFamily="34" charset="0"/>
              <a:buChar char="•"/>
            </a:pPr>
            <a:r>
              <a:rPr lang="en-US" sz="1800" dirty="0" err="1"/>
              <a:t>Letras</a:t>
            </a:r>
            <a:r>
              <a:rPr lang="en-US" sz="1800" dirty="0"/>
              <a:t> = 26</a:t>
            </a:r>
          </a:p>
          <a:p>
            <a:pPr indent="-228600">
              <a:lnSpc>
                <a:spcPct val="110000"/>
              </a:lnSpc>
              <a:buFont typeface="Arial" panose="020B0604020202020204" pitchFamily="34" charset="0"/>
              <a:buChar char="•"/>
            </a:pPr>
            <a:r>
              <a:rPr lang="en-US" sz="1800" dirty="0" err="1"/>
              <a:t>Numero</a:t>
            </a:r>
            <a:r>
              <a:rPr lang="en-US" sz="1800" dirty="0"/>
              <a:t> = 10 </a:t>
            </a:r>
          </a:p>
          <a:p>
            <a:pPr>
              <a:lnSpc>
                <a:spcPct val="110000"/>
              </a:lnSpc>
            </a:pPr>
            <a:r>
              <a:rPr lang="en-US" sz="1800" dirty="0" err="1"/>
              <a:t>Regla</a:t>
            </a:r>
            <a:r>
              <a:rPr lang="en-US" sz="1800" dirty="0"/>
              <a:t> del </a:t>
            </a:r>
            <a:r>
              <a:rPr lang="en-US" sz="1800" dirty="0" err="1"/>
              <a:t>producto</a:t>
            </a:r>
            <a:r>
              <a:rPr lang="en-US" sz="1800" dirty="0"/>
              <a:t> =&gt;  26 * 10  = 260 </a:t>
            </a:r>
            <a:r>
              <a:rPr lang="en-US" sz="1800" dirty="0" err="1"/>
              <a:t>Posibles</a:t>
            </a:r>
            <a:r>
              <a:rPr lang="en-US" sz="1800" dirty="0"/>
              <a:t> Variables </a:t>
            </a:r>
            <a:r>
              <a:rPr lang="en-US" sz="1800" dirty="0" err="1"/>
              <a:t>combinadas</a:t>
            </a:r>
            <a:r>
              <a:rPr lang="en-US" sz="1800" dirty="0"/>
              <a:t> con </a:t>
            </a:r>
            <a:r>
              <a:rPr lang="en-US" sz="1800" dirty="0" err="1"/>
              <a:t>números</a:t>
            </a:r>
            <a:endParaRPr lang="en-US" sz="1800" dirty="0"/>
          </a:p>
          <a:p>
            <a:pPr>
              <a:lnSpc>
                <a:spcPct val="110000"/>
              </a:lnSpc>
            </a:pPr>
            <a:r>
              <a:rPr lang="en-US" sz="1800" dirty="0" err="1"/>
              <a:t>Regla</a:t>
            </a:r>
            <a:r>
              <a:rPr lang="en-US" sz="1800" dirty="0"/>
              <a:t> de la Suma =&gt; 260 + 26 = 286 </a:t>
            </a:r>
            <a:r>
              <a:rPr lang="en-US" sz="1800" dirty="0" err="1"/>
              <a:t>Nombres</a:t>
            </a:r>
            <a:r>
              <a:rPr lang="en-US" sz="1800" dirty="0"/>
              <a:t> de Variables </a:t>
            </a:r>
          </a:p>
          <a:p>
            <a:pPr indent="-228600">
              <a:lnSpc>
                <a:spcPct val="110000"/>
              </a:lnSpc>
              <a:buFont typeface="Arial" panose="020B0604020202020204" pitchFamily="34" charset="0"/>
              <a:buChar char="•"/>
            </a:pPr>
            <a:endParaRPr lang="en-US" sz="1500" dirty="0"/>
          </a:p>
        </p:txBody>
      </p:sp>
    </p:spTree>
    <p:extLst>
      <p:ext uri="{BB962C8B-B14F-4D97-AF65-F5344CB8AC3E}">
        <p14:creationId xmlns:p14="http://schemas.microsoft.com/office/powerpoint/2010/main" val="93519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 name="Group 13">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6"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s-GT"/>
              </a:p>
            </p:txBody>
          </p:sp>
          <p:sp>
            <p:nvSpPr>
              <p:cNvPr id="27"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8"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9"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0"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1"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2"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3"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4"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5"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6"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7"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38"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39"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0"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1"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2"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s-GT"/>
              </a:p>
            </p:txBody>
          </p:sp>
          <p:sp>
            <p:nvSpPr>
              <p:cNvPr id="43"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4"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5"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6"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7"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8"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49"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50"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51"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52"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grpSp>
        <p:grpSp>
          <p:nvGrpSpPr>
            <p:cNvPr id="15" name="Group 14">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6"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7"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8"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9"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0"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1"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2"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3"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4"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25"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s-GT"/>
              </a:p>
            </p:txBody>
          </p:sp>
        </p:grpSp>
      </p:grpSp>
      <p:sp>
        <p:nvSpPr>
          <p:cNvPr id="54" name="Rectangle 5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5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sp>
          <p:nvSpPr>
            <p:cNvPr id="5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5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6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6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sp>
          <p:nvSpPr>
            <p:cNvPr id="7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7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8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grpSp>
      <p:sp>
        <p:nvSpPr>
          <p:cNvPr id="2" name="Título 1"/>
          <p:cNvSpPr>
            <a:spLocks noGrp="1"/>
          </p:cNvSpPr>
          <p:nvPr>
            <p:ph type="title"/>
          </p:nvPr>
        </p:nvSpPr>
        <p:spPr>
          <a:xfrm>
            <a:off x="457200" y="1093787"/>
            <a:ext cx="3783707" cy="4697413"/>
          </a:xfrm>
        </p:spPr>
        <p:txBody>
          <a:bodyPr vert="horz" lIns="91440" tIns="45720" rIns="91440" bIns="45720" rtlCol="0" anchor="ctr">
            <a:normAutofit/>
          </a:bodyPr>
          <a:lstStyle/>
          <a:p>
            <a:r>
              <a:rPr lang="en-US" dirty="0" err="1"/>
              <a:t>Ejemplos</a:t>
            </a:r>
            <a:r>
              <a:rPr lang="en-US" dirty="0"/>
              <a:t>. </a:t>
            </a:r>
          </a:p>
        </p:txBody>
      </p:sp>
      <p:sp useBgFill="1">
        <p:nvSpPr>
          <p:cNvPr id="8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Marcador de texto 5"/>
          <p:cNvSpPr>
            <a:spLocks noGrp="1"/>
          </p:cNvSpPr>
          <p:nvPr>
            <p:ph type="body" idx="1"/>
          </p:nvPr>
        </p:nvSpPr>
        <p:spPr>
          <a:xfrm>
            <a:off x="4885434" y="474663"/>
            <a:ext cx="6935091" cy="5942011"/>
          </a:xfrm>
        </p:spPr>
        <p:txBody>
          <a:bodyPr vert="horz" lIns="91440" tIns="45720" rIns="91440" bIns="45720" rtlCol="0">
            <a:normAutofit/>
          </a:bodyPr>
          <a:lstStyle/>
          <a:p>
            <a:pPr algn="just">
              <a:lnSpc>
                <a:spcPct val="110000"/>
              </a:lnSpc>
            </a:pPr>
            <a:r>
              <a:rPr lang="es-ES" sz="1800" dirty="0"/>
              <a:t>Rossi está planeando una cita con su novia. Planea ver una película, salir a cenar y después asistir a un evento deportivo. Está decidiendo entre 555 películas, 888 restaurantes y 222 eventos deportivos.</a:t>
            </a:r>
          </a:p>
          <a:p>
            <a:pPr algn="just">
              <a:lnSpc>
                <a:spcPct val="110000"/>
              </a:lnSpc>
            </a:pPr>
            <a:r>
              <a:rPr lang="es-ES" sz="1800" dirty="0"/>
              <a:t>¿Cuántas citas diferentes puede planear Rossi</a:t>
            </a:r>
          </a:p>
          <a:p>
            <a:pPr algn="just">
              <a:lnSpc>
                <a:spcPct val="110000"/>
              </a:lnSpc>
            </a:pPr>
            <a:r>
              <a:rPr lang="en-US" sz="1800" dirty="0" err="1"/>
              <a:t>Regla</a:t>
            </a:r>
            <a:r>
              <a:rPr lang="en-US" sz="1800" dirty="0"/>
              <a:t> del </a:t>
            </a:r>
            <a:r>
              <a:rPr lang="en-US" sz="1800" dirty="0" err="1"/>
              <a:t>producto</a:t>
            </a:r>
            <a:r>
              <a:rPr lang="en-US" sz="1800" dirty="0"/>
              <a:t> =&gt;  5 * 8 * 2 = 80 </a:t>
            </a:r>
            <a:r>
              <a:rPr lang="en-US" sz="1800" dirty="0" err="1"/>
              <a:t>Posibles</a:t>
            </a:r>
            <a:r>
              <a:rPr lang="en-US" sz="1800" dirty="0"/>
              <a:t> Variables </a:t>
            </a:r>
            <a:r>
              <a:rPr lang="en-US" sz="1800" dirty="0" err="1"/>
              <a:t>combinadas</a:t>
            </a:r>
            <a:r>
              <a:rPr lang="en-US" sz="1800" dirty="0"/>
              <a:t> con </a:t>
            </a:r>
            <a:r>
              <a:rPr lang="en-US" sz="1800" dirty="0" err="1"/>
              <a:t>números</a:t>
            </a:r>
            <a:endParaRPr lang="en-US" sz="1800" dirty="0"/>
          </a:p>
          <a:p>
            <a:pPr>
              <a:lnSpc>
                <a:spcPct val="110000"/>
              </a:lnSpc>
            </a:pPr>
            <a:endParaRPr lang="en-US" sz="1800" dirty="0"/>
          </a:p>
          <a:p>
            <a:pPr>
              <a:lnSpc>
                <a:spcPct val="110000"/>
              </a:lnSpc>
            </a:pPr>
            <a:endParaRPr lang="en-US" sz="1800" dirty="0"/>
          </a:p>
          <a:p>
            <a:pPr>
              <a:lnSpc>
                <a:spcPct val="110000"/>
              </a:lnSpc>
            </a:pPr>
            <a:endParaRPr lang="en-US" sz="1800" dirty="0"/>
          </a:p>
          <a:p>
            <a:pPr indent="-228600">
              <a:lnSpc>
                <a:spcPct val="110000"/>
              </a:lnSpc>
              <a:buFont typeface="Arial" panose="020B0604020202020204" pitchFamily="34" charset="0"/>
              <a:buChar char="•"/>
            </a:pPr>
            <a:endParaRPr lang="en-US" sz="1500" dirty="0"/>
          </a:p>
        </p:txBody>
      </p:sp>
    </p:spTree>
    <p:extLst>
      <p:ext uri="{BB962C8B-B14F-4D97-AF65-F5344CB8AC3E}">
        <p14:creationId xmlns:p14="http://schemas.microsoft.com/office/powerpoint/2010/main" val="188656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453436" y="261466"/>
            <a:ext cx="9905998" cy="722602"/>
          </a:xfrm>
        </p:spPr>
        <p:txBody>
          <a:bodyPr>
            <a:normAutofit/>
          </a:bodyPr>
          <a:lstStyle/>
          <a:p>
            <a:r>
              <a:rPr lang="es-GT" dirty="0">
                <a:latin typeface="Arial" panose="020B0604020202020204" pitchFamily="34" charset="0"/>
                <a:cs typeface="Arial" panose="020B0604020202020204" pitchFamily="34" charset="0"/>
              </a:rPr>
              <a:t>Unidad 1. Principio Aditivo.</a:t>
            </a:r>
          </a:p>
        </p:txBody>
      </p:sp>
      <p:pic>
        <p:nvPicPr>
          <p:cNvPr id="7" name="Graphic 6">
            <a:extLst>
              <a:ext uri="{FF2B5EF4-FFF2-40B4-BE49-F238E27FC236}">
                <a16:creationId xmlns:a16="http://schemas.microsoft.com/office/drawing/2014/main" id="{70C8078E-E3A2-4EA4-A28E-A64A4DB785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11203" y="2249487"/>
            <a:ext cx="3549650" cy="354965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3" name="Marcador de contenido 2"/>
          <p:cNvSpPr>
            <a:spLocks noGrp="1"/>
          </p:cNvSpPr>
          <p:nvPr>
            <p:ph idx="1"/>
          </p:nvPr>
        </p:nvSpPr>
        <p:spPr>
          <a:xfrm>
            <a:off x="5886994" y="1384662"/>
            <a:ext cx="5738949" cy="4807131"/>
          </a:xfrm>
        </p:spPr>
        <p:txBody>
          <a:bodyPr>
            <a:normAutofit fontScale="92500"/>
          </a:bodyPr>
          <a:lstStyle/>
          <a:p>
            <a:pPr marL="0" indent="0" algn="just">
              <a:lnSpc>
                <a:spcPct val="110000"/>
              </a:lnSpc>
              <a:buNone/>
            </a:pPr>
            <a:r>
              <a:rPr lang="es-GT" dirty="0">
                <a:latin typeface="Arial" panose="020B0604020202020204" pitchFamily="34" charset="0"/>
                <a:cs typeface="Arial" panose="020B0604020202020204" pitchFamily="34" charset="0"/>
              </a:rPr>
              <a:t>Si se desea llevar a efecto una actividad, la cuál tiene formas alternativas para ser realizada, donde la primera de esas alternativas puede ser realizada de M maneras o formas, la segunda alternativa puede realizarse de N maneras o formas ..... y la última de las alternativas puede ser realizada de W maneras o formas, entonces esa actividad puede ser llevada  a cabo de,</a:t>
            </a:r>
          </a:p>
          <a:p>
            <a:pPr marL="0" indent="0" algn="just">
              <a:lnSpc>
                <a:spcPct val="110000"/>
              </a:lnSpc>
              <a:buNone/>
            </a:pPr>
            <a:r>
              <a:rPr lang="es-GT" dirty="0">
                <a:latin typeface="Arial" panose="020B0604020202020204" pitchFamily="34" charset="0"/>
                <a:cs typeface="Arial" panose="020B0604020202020204" pitchFamily="34" charset="0"/>
              </a:rPr>
              <a:t>      M + N + .........+ W  maneras o formas</a:t>
            </a:r>
          </a:p>
          <a:p>
            <a:pPr marL="0" indent="0">
              <a:lnSpc>
                <a:spcPct val="110000"/>
              </a:lnSpc>
              <a:buNone/>
            </a:pPr>
            <a:br>
              <a:rPr lang="es-GT" sz="1500" dirty="0"/>
            </a:br>
            <a:endParaRPr lang="es-GT" sz="1500" dirty="0">
              <a:latin typeface="Arial" panose="020B0604020202020204" pitchFamily="34" charset="0"/>
              <a:cs typeface="Arial" panose="020B0604020202020204" pitchFamily="34" charset="0"/>
            </a:endParaRPr>
          </a:p>
          <a:p>
            <a:pPr marL="0" indent="0">
              <a:lnSpc>
                <a:spcPct val="110000"/>
              </a:lnSpc>
              <a:buNone/>
            </a:pPr>
            <a:endParaRPr lang="es-GT"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225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pic>
        <p:nvPicPr>
          <p:cNvPr id="63"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a:solidFill>
                  <a:srgbClr val="FFFFFF"/>
                </a:solidFill>
              </a14:hiddenFill>
            </a:ext>
          </a:extLst>
        </p:spPr>
      </p:pic>
      <p:grpSp>
        <p:nvGrpSpPr>
          <p:cNvPr id="65" name="Group 64">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66" name="Group 65">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78"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s-GT"/>
              </a:p>
            </p:txBody>
          </p:sp>
          <p:sp>
            <p:nvSpPr>
              <p:cNvPr id="79"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0"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1"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2"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3"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4"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5"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6"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7"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8"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89"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90"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1"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2"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3"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4"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s-GT"/>
              </a:p>
            </p:txBody>
          </p:sp>
          <p:sp>
            <p:nvSpPr>
              <p:cNvPr id="95"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6"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7"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8"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99"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00"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01"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02"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03"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104"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grpSp>
        <p:grpSp>
          <p:nvGrpSpPr>
            <p:cNvPr id="67" name="Group 66">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68"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69"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0"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1"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2"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3"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4"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5"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6"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s-GT"/>
              </a:p>
            </p:txBody>
          </p:sp>
          <p:sp>
            <p:nvSpPr>
              <p:cNvPr id="77"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s-GT"/>
              </a:p>
            </p:txBody>
          </p:sp>
        </p:grpSp>
      </p:grpSp>
      <p:sp useBgFill="1">
        <p:nvSpPr>
          <p:cNvPr id="106" name="Rectangle 105">
            <a:extLst>
              <a:ext uri="{FF2B5EF4-FFF2-40B4-BE49-F238E27FC236}">
                <a16:creationId xmlns:a16="http://schemas.microsoft.com/office/drawing/2014/main" id="{E9B448F0-DA06-4165-AB5F-4330A20E0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8" name="Picture 2">
            <a:extLst>
              <a:ext uri="{FF2B5EF4-FFF2-40B4-BE49-F238E27FC236}">
                <a16:creationId xmlns:a16="http://schemas.microsoft.com/office/drawing/2014/main" id="{92D83638-A467-411A-9C31-FE9A111CD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10" name="Group 109">
            <a:extLst>
              <a:ext uri="{FF2B5EF4-FFF2-40B4-BE49-F238E27FC236}">
                <a16:creationId xmlns:a16="http://schemas.microsoft.com/office/drawing/2014/main" id="{2576BCDF-119F-4EB5-83D7-ED823C93EB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solidFill>
            <a:schemeClr val="tx2">
              <a:alpha val="45000"/>
            </a:schemeClr>
          </a:solidFill>
        </p:grpSpPr>
        <p:sp>
          <p:nvSpPr>
            <p:cNvPr id="111" name="Rectangle 5">
              <a:extLst>
                <a:ext uri="{FF2B5EF4-FFF2-40B4-BE49-F238E27FC236}">
                  <a16:creationId xmlns:a16="http://schemas.microsoft.com/office/drawing/2014/main" id="{43D63E8F-FD8A-4CE3-B7C9-3E9E2B66B5F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sp>
          <p:nvSpPr>
            <p:cNvPr id="112" name="Freeform 6">
              <a:extLst>
                <a:ext uri="{FF2B5EF4-FFF2-40B4-BE49-F238E27FC236}">
                  <a16:creationId xmlns:a16="http://schemas.microsoft.com/office/drawing/2014/main" id="{D107D890-1831-46D8-90FB-F2FC0B2884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3" name="Freeform 7">
              <a:extLst>
                <a:ext uri="{FF2B5EF4-FFF2-40B4-BE49-F238E27FC236}">
                  <a16:creationId xmlns:a16="http://schemas.microsoft.com/office/drawing/2014/main" id="{02440904-A4EC-4F72-8E22-AAF4D9DB5C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4" name="Freeform 8">
              <a:extLst>
                <a:ext uri="{FF2B5EF4-FFF2-40B4-BE49-F238E27FC236}">
                  <a16:creationId xmlns:a16="http://schemas.microsoft.com/office/drawing/2014/main" id="{625E9C1F-1569-416B-A85C-FA1434872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5" name="Freeform 9">
              <a:extLst>
                <a:ext uri="{FF2B5EF4-FFF2-40B4-BE49-F238E27FC236}">
                  <a16:creationId xmlns:a16="http://schemas.microsoft.com/office/drawing/2014/main" id="{3A186C77-43BF-4B1B-8170-48944F3057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6" name="Freeform 10">
              <a:extLst>
                <a:ext uri="{FF2B5EF4-FFF2-40B4-BE49-F238E27FC236}">
                  <a16:creationId xmlns:a16="http://schemas.microsoft.com/office/drawing/2014/main" id="{FA8D72C1-8526-44B4-9333-5E0057ECC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7" name="Freeform 11">
              <a:extLst>
                <a:ext uri="{FF2B5EF4-FFF2-40B4-BE49-F238E27FC236}">
                  <a16:creationId xmlns:a16="http://schemas.microsoft.com/office/drawing/2014/main" id="{790E4BA0-9C47-48B6-AA4A-8FC22DA95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8" name="Freeform 12">
              <a:extLst>
                <a:ext uri="{FF2B5EF4-FFF2-40B4-BE49-F238E27FC236}">
                  <a16:creationId xmlns:a16="http://schemas.microsoft.com/office/drawing/2014/main" id="{FD051475-431F-4B9D-94C6-7B49A69582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19" name="Freeform 13">
              <a:extLst>
                <a:ext uri="{FF2B5EF4-FFF2-40B4-BE49-F238E27FC236}">
                  <a16:creationId xmlns:a16="http://schemas.microsoft.com/office/drawing/2014/main" id="{82255D2F-85A1-4A19-8BC4-EB2715F36C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0" name="Freeform 14">
              <a:extLst>
                <a:ext uri="{FF2B5EF4-FFF2-40B4-BE49-F238E27FC236}">
                  <a16:creationId xmlns:a16="http://schemas.microsoft.com/office/drawing/2014/main" id="{EBC3A004-9794-4EFA-83F0-989248797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1" name="Freeform 15">
              <a:extLst>
                <a:ext uri="{FF2B5EF4-FFF2-40B4-BE49-F238E27FC236}">
                  <a16:creationId xmlns:a16="http://schemas.microsoft.com/office/drawing/2014/main" id="{6EFD9FC3-E11A-44E3-BCAC-A07F3C601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2" name="Line 16">
              <a:extLst>
                <a:ext uri="{FF2B5EF4-FFF2-40B4-BE49-F238E27FC236}">
                  <a16:creationId xmlns:a16="http://schemas.microsoft.com/office/drawing/2014/main" id="{AB6AB6F7-6592-4028-B349-1C0E53A29C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GT"/>
            </a:p>
          </p:txBody>
        </p:sp>
        <p:sp>
          <p:nvSpPr>
            <p:cNvPr id="123" name="Freeform 17">
              <a:extLst>
                <a:ext uri="{FF2B5EF4-FFF2-40B4-BE49-F238E27FC236}">
                  <a16:creationId xmlns:a16="http://schemas.microsoft.com/office/drawing/2014/main" id="{6C2415E6-F914-4C11-B48B-4910AA6CA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4" name="Freeform 18">
              <a:extLst>
                <a:ext uri="{FF2B5EF4-FFF2-40B4-BE49-F238E27FC236}">
                  <a16:creationId xmlns:a16="http://schemas.microsoft.com/office/drawing/2014/main" id="{2412013C-072A-489E-851A-CFEF91A9A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5" name="Freeform 19">
              <a:extLst>
                <a:ext uri="{FF2B5EF4-FFF2-40B4-BE49-F238E27FC236}">
                  <a16:creationId xmlns:a16="http://schemas.microsoft.com/office/drawing/2014/main" id="{DE93DF9F-296F-4DE4-8813-D8C04DE4C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6" name="Freeform 20">
              <a:extLst>
                <a:ext uri="{FF2B5EF4-FFF2-40B4-BE49-F238E27FC236}">
                  <a16:creationId xmlns:a16="http://schemas.microsoft.com/office/drawing/2014/main" id="{F440D966-5030-460C-9916-BF9B915421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7" name="Rectangle 21">
              <a:extLst>
                <a:ext uri="{FF2B5EF4-FFF2-40B4-BE49-F238E27FC236}">
                  <a16:creationId xmlns:a16="http://schemas.microsoft.com/office/drawing/2014/main" id="{1EFE245D-BA05-4F4D-A6E8-40739F48E76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sp>
          <p:nvSpPr>
            <p:cNvPr id="128" name="Freeform 22">
              <a:extLst>
                <a:ext uri="{FF2B5EF4-FFF2-40B4-BE49-F238E27FC236}">
                  <a16:creationId xmlns:a16="http://schemas.microsoft.com/office/drawing/2014/main" id="{ED67811C-F735-441C-98A6-2517EC099A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29" name="Freeform 23">
              <a:extLst>
                <a:ext uri="{FF2B5EF4-FFF2-40B4-BE49-F238E27FC236}">
                  <a16:creationId xmlns:a16="http://schemas.microsoft.com/office/drawing/2014/main" id="{3070FC44-32F9-470F-A131-868F3F1DB7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0" name="Freeform 24">
              <a:extLst>
                <a:ext uri="{FF2B5EF4-FFF2-40B4-BE49-F238E27FC236}">
                  <a16:creationId xmlns:a16="http://schemas.microsoft.com/office/drawing/2014/main" id="{95FB52C7-C779-4E3F-978C-4595FEF86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1" name="Freeform 25">
              <a:extLst>
                <a:ext uri="{FF2B5EF4-FFF2-40B4-BE49-F238E27FC236}">
                  <a16:creationId xmlns:a16="http://schemas.microsoft.com/office/drawing/2014/main" id="{D4EB1759-62AC-4B24-9DC6-E4F8737E89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2" name="Freeform 26">
              <a:extLst>
                <a:ext uri="{FF2B5EF4-FFF2-40B4-BE49-F238E27FC236}">
                  <a16:creationId xmlns:a16="http://schemas.microsoft.com/office/drawing/2014/main" id="{7BF6FB39-864B-4F58-86E8-790E16FB3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3" name="Freeform 27">
              <a:extLst>
                <a:ext uri="{FF2B5EF4-FFF2-40B4-BE49-F238E27FC236}">
                  <a16:creationId xmlns:a16="http://schemas.microsoft.com/office/drawing/2014/main" id="{5FE4FA46-B51C-43DA-87FC-2644ED117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4" name="Freeform 28">
              <a:extLst>
                <a:ext uri="{FF2B5EF4-FFF2-40B4-BE49-F238E27FC236}">
                  <a16:creationId xmlns:a16="http://schemas.microsoft.com/office/drawing/2014/main" id="{25DD1322-2D3A-4E7B-B23B-B4F96E02C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5" name="Freeform 29">
              <a:extLst>
                <a:ext uri="{FF2B5EF4-FFF2-40B4-BE49-F238E27FC236}">
                  <a16:creationId xmlns:a16="http://schemas.microsoft.com/office/drawing/2014/main" id="{6E4FFBEB-52BB-494D-AD99-A0F072AB6F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6" name="Freeform 30">
              <a:extLst>
                <a:ext uri="{FF2B5EF4-FFF2-40B4-BE49-F238E27FC236}">
                  <a16:creationId xmlns:a16="http://schemas.microsoft.com/office/drawing/2014/main" id="{7DE92406-3F65-4333-BAAA-A9A7B5AEE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37" name="Freeform 31">
              <a:extLst>
                <a:ext uri="{FF2B5EF4-FFF2-40B4-BE49-F238E27FC236}">
                  <a16:creationId xmlns:a16="http://schemas.microsoft.com/office/drawing/2014/main" id="{B8B0FFC4-D1BB-4BB9-A224-BB78BFD338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grpSp>
      <p:sp>
        <p:nvSpPr>
          <p:cNvPr id="2" name="Título 1"/>
          <p:cNvSpPr>
            <a:spLocks noGrp="1"/>
          </p:cNvSpPr>
          <p:nvPr>
            <p:ph type="title"/>
          </p:nvPr>
        </p:nvSpPr>
        <p:spPr>
          <a:xfrm>
            <a:off x="1155700" y="94494"/>
            <a:ext cx="9906000" cy="1117073"/>
          </a:xfrm>
        </p:spPr>
        <p:txBody>
          <a:bodyPr vert="horz" lIns="91440" tIns="45720" rIns="91440" bIns="45720" rtlCol="0" anchor="ctr">
            <a:normAutofit/>
          </a:bodyPr>
          <a:lstStyle/>
          <a:p>
            <a:pPr algn="ctr"/>
            <a:r>
              <a:rPr lang="en-US" sz="4000" dirty="0" err="1"/>
              <a:t>Ejemplos</a:t>
            </a:r>
            <a:r>
              <a:rPr lang="en-US" sz="4000" dirty="0"/>
              <a:t>. No. 7</a:t>
            </a:r>
          </a:p>
        </p:txBody>
      </p:sp>
      <p:sp>
        <p:nvSpPr>
          <p:cNvPr id="6" name="Marcador de texto 5"/>
          <p:cNvSpPr>
            <a:spLocks noGrp="1"/>
          </p:cNvSpPr>
          <p:nvPr>
            <p:ph type="body" idx="1"/>
          </p:nvPr>
        </p:nvSpPr>
        <p:spPr>
          <a:xfrm>
            <a:off x="974726" y="1125538"/>
            <a:ext cx="10547350" cy="5314950"/>
          </a:xfrm>
        </p:spPr>
        <p:txBody>
          <a:bodyPr vert="horz" lIns="91440" tIns="45720" rIns="91440" bIns="45720" rtlCol="0" anchor="t">
            <a:normAutofit lnSpcReduction="10000"/>
          </a:bodyPr>
          <a:lstStyle/>
          <a:p>
            <a:pPr indent="-228600" algn="just">
              <a:lnSpc>
                <a:spcPct val="110000"/>
              </a:lnSpc>
              <a:buFont typeface="Arial" panose="020B0604020202020204" pitchFamily="34" charset="0"/>
              <a:buChar char="•"/>
            </a:pPr>
            <a:r>
              <a:rPr lang="en-US" sz="1800" dirty="0"/>
              <a:t>Una persona </a:t>
            </a:r>
            <a:r>
              <a:rPr lang="en-US" sz="1800" dirty="0" err="1"/>
              <a:t>desea</a:t>
            </a:r>
            <a:r>
              <a:rPr lang="en-US" sz="1800" dirty="0"/>
              <a:t> </a:t>
            </a:r>
            <a:r>
              <a:rPr lang="en-US" sz="1800" dirty="0" err="1"/>
              <a:t>comprar</a:t>
            </a:r>
            <a:r>
              <a:rPr lang="en-US" sz="1800" dirty="0"/>
              <a:t> </a:t>
            </a:r>
            <a:r>
              <a:rPr lang="en-US" sz="1800" dirty="0" err="1"/>
              <a:t>una</a:t>
            </a:r>
            <a:r>
              <a:rPr lang="en-US" sz="1800" dirty="0"/>
              <a:t> </a:t>
            </a:r>
            <a:r>
              <a:rPr lang="en-US" sz="1800" dirty="0" err="1"/>
              <a:t>lavadora</a:t>
            </a:r>
            <a:r>
              <a:rPr lang="en-US" sz="1800" dirty="0"/>
              <a:t> de </a:t>
            </a:r>
            <a:r>
              <a:rPr lang="en-US" sz="1800" dirty="0" err="1"/>
              <a:t>ropa</a:t>
            </a:r>
            <a:r>
              <a:rPr lang="en-US" sz="1800" dirty="0"/>
              <a:t>, para lo </a:t>
            </a:r>
            <a:r>
              <a:rPr lang="en-US" sz="1800" dirty="0" err="1"/>
              <a:t>cuál</a:t>
            </a:r>
            <a:r>
              <a:rPr lang="en-US" sz="1800" dirty="0"/>
              <a:t> ha </a:t>
            </a:r>
            <a:r>
              <a:rPr lang="en-US" sz="1800" dirty="0" err="1"/>
              <a:t>pensado</a:t>
            </a:r>
            <a:r>
              <a:rPr lang="en-US" sz="1800" dirty="0"/>
              <a:t> que </a:t>
            </a:r>
            <a:r>
              <a:rPr lang="en-US" sz="1800" dirty="0" err="1"/>
              <a:t>puede</a:t>
            </a:r>
            <a:r>
              <a:rPr lang="en-US" sz="1800" dirty="0"/>
              <a:t> </a:t>
            </a:r>
            <a:r>
              <a:rPr lang="en-US" sz="1800" dirty="0" err="1"/>
              <a:t>seleccionar</a:t>
            </a:r>
            <a:r>
              <a:rPr lang="en-US" sz="1800" dirty="0"/>
              <a:t> de entre las </a:t>
            </a:r>
            <a:r>
              <a:rPr lang="en-US" sz="1800" dirty="0" err="1"/>
              <a:t>marcas</a:t>
            </a:r>
            <a:r>
              <a:rPr lang="en-US" sz="1800" dirty="0"/>
              <a:t> Whirlpool, Easy y General Electric, </a:t>
            </a:r>
            <a:r>
              <a:rPr lang="en-US" sz="1800" dirty="0" err="1"/>
              <a:t>cuando</a:t>
            </a:r>
            <a:r>
              <a:rPr lang="en-US" sz="1800" dirty="0"/>
              <a:t> </a:t>
            </a:r>
            <a:r>
              <a:rPr lang="en-US" sz="1800" dirty="0" err="1"/>
              <a:t>acude</a:t>
            </a:r>
            <a:r>
              <a:rPr lang="en-US" sz="1800" dirty="0"/>
              <a:t> a </a:t>
            </a:r>
            <a:r>
              <a:rPr lang="en-US" sz="1800" dirty="0" err="1"/>
              <a:t>hacer</a:t>
            </a:r>
            <a:r>
              <a:rPr lang="en-US" sz="1800" dirty="0"/>
              <a:t> la </a:t>
            </a:r>
            <a:r>
              <a:rPr lang="en-US" sz="1800" dirty="0" err="1"/>
              <a:t>compra</a:t>
            </a:r>
            <a:r>
              <a:rPr lang="en-US" sz="1800" dirty="0"/>
              <a:t> se </a:t>
            </a:r>
            <a:r>
              <a:rPr lang="en-US" sz="1800" dirty="0" err="1"/>
              <a:t>encuentra</a:t>
            </a:r>
            <a:r>
              <a:rPr lang="en-US" sz="1800" dirty="0"/>
              <a:t> que la </a:t>
            </a:r>
            <a:r>
              <a:rPr lang="en-US" sz="1800" dirty="0" err="1"/>
              <a:t>lavadora</a:t>
            </a:r>
            <a:r>
              <a:rPr lang="en-US" sz="1800" dirty="0"/>
              <a:t> de la </a:t>
            </a:r>
            <a:r>
              <a:rPr lang="en-US" sz="1800" dirty="0" err="1"/>
              <a:t>marca</a:t>
            </a:r>
            <a:r>
              <a:rPr lang="en-US" sz="1800" dirty="0"/>
              <a:t> W se </a:t>
            </a:r>
            <a:r>
              <a:rPr lang="en-US" sz="1800" dirty="0" err="1"/>
              <a:t>presenta</a:t>
            </a:r>
            <a:r>
              <a:rPr lang="en-US" sz="1800" dirty="0"/>
              <a:t> </a:t>
            </a:r>
            <a:r>
              <a:rPr lang="en-US" sz="1800" dirty="0" err="1"/>
              <a:t>en</a:t>
            </a:r>
            <a:r>
              <a:rPr lang="en-US" sz="1800" dirty="0"/>
              <a:t> dos </a:t>
            </a:r>
            <a:r>
              <a:rPr lang="en-US" sz="1800" dirty="0" err="1"/>
              <a:t>tipos</a:t>
            </a:r>
            <a:r>
              <a:rPr lang="en-US" sz="1800" dirty="0"/>
              <a:t> de carga ( 8 u 11 </a:t>
            </a:r>
            <a:r>
              <a:rPr lang="en-US" sz="1800" dirty="0" err="1"/>
              <a:t>kilogramos</a:t>
            </a:r>
            <a:r>
              <a:rPr lang="en-US" sz="1800" dirty="0"/>
              <a:t>), </a:t>
            </a:r>
            <a:r>
              <a:rPr lang="en-US" sz="1800" dirty="0" err="1"/>
              <a:t>en</a:t>
            </a:r>
            <a:r>
              <a:rPr lang="en-US" sz="1800" dirty="0"/>
              <a:t> cuatro </a:t>
            </a:r>
            <a:r>
              <a:rPr lang="en-US" sz="1800" dirty="0" err="1"/>
              <a:t>colores</a:t>
            </a:r>
            <a:r>
              <a:rPr lang="en-US" sz="1800" dirty="0"/>
              <a:t> </a:t>
            </a:r>
            <a:r>
              <a:rPr lang="en-US" sz="1800" dirty="0" err="1"/>
              <a:t>diferentes</a:t>
            </a:r>
            <a:r>
              <a:rPr lang="en-US" sz="1800" dirty="0"/>
              <a:t> y </a:t>
            </a:r>
            <a:r>
              <a:rPr lang="en-US" sz="1800" dirty="0" err="1"/>
              <a:t>puede</a:t>
            </a:r>
            <a:r>
              <a:rPr lang="en-US" sz="1800" dirty="0"/>
              <a:t> ser </a:t>
            </a:r>
            <a:r>
              <a:rPr lang="en-US" sz="1800" dirty="0" err="1"/>
              <a:t>automática</a:t>
            </a:r>
            <a:r>
              <a:rPr lang="en-US" sz="1800" dirty="0"/>
              <a:t> o </a:t>
            </a:r>
            <a:r>
              <a:rPr lang="en-US" sz="1800" dirty="0" err="1"/>
              <a:t>semiautomática</a:t>
            </a:r>
            <a:r>
              <a:rPr lang="en-US" sz="1800" dirty="0"/>
              <a:t>, </a:t>
            </a:r>
            <a:r>
              <a:rPr lang="en-US" sz="1800" dirty="0" err="1"/>
              <a:t>mientras</a:t>
            </a:r>
            <a:r>
              <a:rPr lang="en-US" sz="1800" dirty="0"/>
              <a:t> que la </a:t>
            </a:r>
            <a:r>
              <a:rPr lang="en-US" sz="1800" dirty="0" err="1"/>
              <a:t>lavadora</a:t>
            </a:r>
            <a:r>
              <a:rPr lang="en-US" sz="1800" dirty="0"/>
              <a:t> de la </a:t>
            </a:r>
            <a:r>
              <a:rPr lang="en-US" sz="1800" dirty="0" err="1"/>
              <a:t>marca</a:t>
            </a:r>
            <a:r>
              <a:rPr lang="en-US" sz="1800" dirty="0"/>
              <a:t> E, se </a:t>
            </a:r>
            <a:r>
              <a:rPr lang="en-US" sz="1800" dirty="0" err="1"/>
              <a:t>presenta</a:t>
            </a:r>
            <a:r>
              <a:rPr lang="en-US" sz="1800" dirty="0"/>
              <a:t> </a:t>
            </a:r>
            <a:r>
              <a:rPr lang="en-US" sz="1800" dirty="0" err="1"/>
              <a:t>en</a:t>
            </a:r>
            <a:r>
              <a:rPr lang="en-US" sz="1800" dirty="0"/>
              <a:t> </a:t>
            </a:r>
            <a:r>
              <a:rPr lang="en-US" sz="1800" dirty="0" err="1"/>
              <a:t>tres</a:t>
            </a:r>
            <a:r>
              <a:rPr lang="en-US" sz="1800" dirty="0"/>
              <a:t> </a:t>
            </a:r>
            <a:r>
              <a:rPr lang="en-US" sz="1800" dirty="0" err="1"/>
              <a:t>tipos</a:t>
            </a:r>
            <a:r>
              <a:rPr lang="en-US" sz="1800" dirty="0"/>
              <a:t> de carga (8, 11 o 15 </a:t>
            </a:r>
            <a:r>
              <a:rPr lang="en-US" sz="1800" dirty="0" err="1"/>
              <a:t>kilogramos</a:t>
            </a:r>
            <a:r>
              <a:rPr lang="en-US" sz="1800" dirty="0"/>
              <a:t>), </a:t>
            </a:r>
            <a:r>
              <a:rPr lang="en-US" sz="1800" dirty="0" err="1"/>
              <a:t>en</a:t>
            </a:r>
            <a:r>
              <a:rPr lang="en-US" sz="1800" dirty="0"/>
              <a:t> dos </a:t>
            </a:r>
            <a:r>
              <a:rPr lang="en-US" sz="1800" dirty="0" err="1"/>
              <a:t>colores</a:t>
            </a:r>
            <a:r>
              <a:rPr lang="en-US" sz="1800" dirty="0"/>
              <a:t> </a:t>
            </a:r>
            <a:r>
              <a:rPr lang="en-US" sz="1800" dirty="0" err="1"/>
              <a:t>diferentes</a:t>
            </a:r>
            <a:r>
              <a:rPr lang="en-US" sz="1800" dirty="0"/>
              <a:t> y </a:t>
            </a:r>
            <a:r>
              <a:rPr lang="en-US" sz="1800" dirty="0" err="1"/>
              <a:t>puede</a:t>
            </a:r>
            <a:r>
              <a:rPr lang="en-US" sz="1800" dirty="0"/>
              <a:t> ser </a:t>
            </a:r>
            <a:r>
              <a:rPr lang="en-US" sz="1800" dirty="0" err="1"/>
              <a:t>automática</a:t>
            </a:r>
            <a:r>
              <a:rPr lang="en-US" sz="1800" dirty="0"/>
              <a:t> o </a:t>
            </a:r>
            <a:r>
              <a:rPr lang="en-US" sz="1800" dirty="0" err="1"/>
              <a:t>semiautomática</a:t>
            </a:r>
            <a:r>
              <a:rPr lang="en-US" sz="1800" dirty="0"/>
              <a:t> y la </a:t>
            </a:r>
            <a:r>
              <a:rPr lang="en-US" sz="1800" dirty="0" err="1"/>
              <a:t>lavadora</a:t>
            </a:r>
            <a:r>
              <a:rPr lang="en-US" sz="1800" dirty="0"/>
              <a:t> de la </a:t>
            </a:r>
            <a:r>
              <a:rPr lang="en-US" sz="1800" dirty="0" err="1"/>
              <a:t>marca</a:t>
            </a:r>
            <a:r>
              <a:rPr lang="en-US" sz="1800" dirty="0"/>
              <a:t> GE, se </a:t>
            </a:r>
            <a:r>
              <a:rPr lang="en-US" sz="1800" dirty="0" err="1"/>
              <a:t>presenta</a:t>
            </a:r>
            <a:r>
              <a:rPr lang="en-US" sz="1800" dirty="0"/>
              <a:t> </a:t>
            </a:r>
            <a:r>
              <a:rPr lang="en-US" sz="1800" dirty="0" err="1"/>
              <a:t>en</a:t>
            </a:r>
            <a:r>
              <a:rPr lang="en-US" sz="1800" dirty="0"/>
              <a:t> solo un </a:t>
            </a:r>
            <a:r>
              <a:rPr lang="en-US" sz="1800" dirty="0" err="1"/>
              <a:t>tipo</a:t>
            </a:r>
            <a:r>
              <a:rPr lang="en-US" sz="1800" dirty="0"/>
              <a:t> de carga, que es de 11 </a:t>
            </a:r>
            <a:r>
              <a:rPr lang="en-US" sz="1800" dirty="0" err="1"/>
              <a:t>kilogramos</a:t>
            </a:r>
            <a:r>
              <a:rPr lang="en-US" sz="1800" dirty="0"/>
              <a:t>, dos </a:t>
            </a:r>
            <a:r>
              <a:rPr lang="en-US" sz="1800" dirty="0" err="1"/>
              <a:t>colores</a:t>
            </a:r>
            <a:r>
              <a:rPr lang="en-US" sz="1800" dirty="0"/>
              <a:t> </a:t>
            </a:r>
            <a:r>
              <a:rPr lang="en-US" sz="1800" dirty="0" err="1"/>
              <a:t>diferentes</a:t>
            </a:r>
            <a:r>
              <a:rPr lang="en-US" sz="1800" dirty="0"/>
              <a:t> y solo hay </a:t>
            </a:r>
            <a:r>
              <a:rPr lang="en-US" sz="1800" dirty="0" err="1"/>
              <a:t>semiautomática</a:t>
            </a:r>
            <a:r>
              <a:rPr lang="en-US" sz="1800" dirty="0"/>
              <a:t>. ¿</a:t>
            </a:r>
            <a:r>
              <a:rPr lang="en-US" sz="1800" dirty="0" err="1"/>
              <a:t>Cuántas</a:t>
            </a:r>
            <a:r>
              <a:rPr lang="en-US" sz="1800" dirty="0"/>
              <a:t> </a:t>
            </a:r>
            <a:r>
              <a:rPr lang="en-US" sz="1800" dirty="0" err="1"/>
              <a:t>maneras</a:t>
            </a:r>
            <a:r>
              <a:rPr lang="en-US" sz="1800" dirty="0"/>
              <a:t> </a:t>
            </a:r>
            <a:r>
              <a:rPr lang="en-US" sz="1800" dirty="0" err="1"/>
              <a:t>tiene</a:t>
            </a:r>
            <a:r>
              <a:rPr lang="en-US" sz="1800" dirty="0"/>
              <a:t> </a:t>
            </a:r>
            <a:r>
              <a:rPr lang="en-US" sz="1800" dirty="0" err="1"/>
              <a:t>esta</a:t>
            </a:r>
            <a:r>
              <a:rPr lang="en-US" sz="1800" dirty="0"/>
              <a:t> persona de </a:t>
            </a:r>
            <a:r>
              <a:rPr lang="en-US" sz="1800" dirty="0" err="1"/>
              <a:t>comprar</a:t>
            </a:r>
            <a:r>
              <a:rPr lang="en-US" sz="1800" dirty="0"/>
              <a:t> </a:t>
            </a:r>
            <a:r>
              <a:rPr lang="en-US" sz="1800" dirty="0" err="1"/>
              <a:t>una</a:t>
            </a:r>
            <a:r>
              <a:rPr lang="en-US" sz="1800" dirty="0"/>
              <a:t> </a:t>
            </a:r>
            <a:r>
              <a:rPr lang="en-US" sz="1800" dirty="0" err="1"/>
              <a:t>lavadora</a:t>
            </a:r>
            <a:r>
              <a:rPr lang="en-US" sz="1800" dirty="0"/>
              <a:t>? </a:t>
            </a:r>
          </a:p>
          <a:p>
            <a:pPr indent="-228600" algn="just">
              <a:lnSpc>
                <a:spcPct val="110000"/>
              </a:lnSpc>
              <a:spcBef>
                <a:spcPts val="0"/>
              </a:spcBef>
              <a:buFont typeface="Arial" panose="020B0604020202020204" pitchFamily="34" charset="0"/>
              <a:buChar char="•"/>
            </a:pPr>
            <a:endParaRPr lang="en-US" sz="1800" dirty="0"/>
          </a:p>
          <a:p>
            <a:pPr indent="-228600" algn="just">
              <a:lnSpc>
                <a:spcPct val="110000"/>
              </a:lnSpc>
              <a:spcBef>
                <a:spcPts val="0"/>
              </a:spcBef>
              <a:buFont typeface="Arial" panose="020B0604020202020204" pitchFamily="34" charset="0"/>
              <a:buChar char="•"/>
            </a:pPr>
            <a:r>
              <a:rPr lang="en-US" sz="1800" dirty="0"/>
              <a:t>Solución:</a:t>
            </a:r>
          </a:p>
          <a:p>
            <a:pPr indent="-228600" algn="just">
              <a:lnSpc>
                <a:spcPct val="110000"/>
              </a:lnSpc>
              <a:spcBef>
                <a:spcPts val="0"/>
              </a:spcBef>
              <a:buFont typeface="Arial" panose="020B0604020202020204" pitchFamily="34" charset="0"/>
              <a:buChar char="•"/>
            </a:pPr>
            <a:r>
              <a:rPr lang="en-US" sz="1800" dirty="0"/>
              <a:t>M = </a:t>
            </a:r>
            <a:r>
              <a:rPr lang="en-US" sz="1800" dirty="0" err="1"/>
              <a:t>Número</a:t>
            </a:r>
            <a:r>
              <a:rPr lang="en-US" sz="1800" dirty="0"/>
              <a:t> de </a:t>
            </a:r>
            <a:r>
              <a:rPr lang="en-US" sz="1800" dirty="0" err="1"/>
              <a:t>maneras</a:t>
            </a:r>
            <a:r>
              <a:rPr lang="en-US" sz="1800" dirty="0"/>
              <a:t> de </a:t>
            </a:r>
            <a:r>
              <a:rPr lang="en-US" sz="1800" dirty="0" err="1"/>
              <a:t>seleccionar</a:t>
            </a:r>
            <a:r>
              <a:rPr lang="en-US" sz="1800" dirty="0"/>
              <a:t> </a:t>
            </a:r>
            <a:r>
              <a:rPr lang="en-US" sz="1800" dirty="0" err="1"/>
              <a:t>una</a:t>
            </a:r>
            <a:r>
              <a:rPr lang="en-US" sz="1800" dirty="0"/>
              <a:t> </a:t>
            </a:r>
            <a:r>
              <a:rPr lang="en-US" sz="1800" dirty="0" err="1"/>
              <a:t>lavadora</a:t>
            </a:r>
            <a:r>
              <a:rPr lang="en-US" sz="1800" dirty="0"/>
              <a:t> Whirlpool</a:t>
            </a:r>
          </a:p>
          <a:p>
            <a:pPr indent="-228600" algn="just">
              <a:lnSpc>
                <a:spcPct val="110000"/>
              </a:lnSpc>
              <a:spcBef>
                <a:spcPts val="0"/>
              </a:spcBef>
              <a:buFont typeface="Arial" panose="020B0604020202020204" pitchFamily="34" charset="0"/>
              <a:buChar char="•"/>
            </a:pPr>
            <a:r>
              <a:rPr lang="en-US" sz="1800" dirty="0"/>
              <a:t>N = </a:t>
            </a:r>
            <a:r>
              <a:rPr lang="en-US" sz="1800" dirty="0" err="1"/>
              <a:t>Número</a:t>
            </a:r>
            <a:r>
              <a:rPr lang="en-US" sz="1800" dirty="0"/>
              <a:t> de </a:t>
            </a:r>
            <a:r>
              <a:rPr lang="en-US" sz="1800" dirty="0" err="1"/>
              <a:t>maneras</a:t>
            </a:r>
            <a:r>
              <a:rPr lang="en-US" sz="1800" dirty="0"/>
              <a:t> de </a:t>
            </a:r>
            <a:r>
              <a:rPr lang="en-US" sz="1800" dirty="0" err="1"/>
              <a:t>seleccionar</a:t>
            </a:r>
            <a:r>
              <a:rPr lang="en-US" sz="1800" dirty="0"/>
              <a:t> </a:t>
            </a:r>
            <a:r>
              <a:rPr lang="en-US" sz="1800" dirty="0" err="1"/>
              <a:t>una</a:t>
            </a:r>
            <a:r>
              <a:rPr lang="en-US" sz="1800" dirty="0"/>
              <a:t> </a:t>
            </a:r>
            <a:r>
              <a:rPr lang="en-US" sz="1800" dirty="0" err="1"/>
              <a:t>lavadora</a:t>
            </a:r>
            <a:r>
              <a:rPr lang="en-US" sz="1800" dirty="0"/>
              <a:t> de la </a:t>
            </a:r>
            <a:r>
              <a:rPr lang="en-US" sz="1800" dirty="0" err="1"/>
              <a:t>marca</a:t>
            </a:r>
            <a:r>
              <a:rPr lang="en-US" sz="1800" dirty="0"/>
              <a:t> Easy</a:t>
            </a:r>
          </a:p>
          <a:p>
            <a:pPr indent="-228600" algn="just">
              <a:lnSpc>
                <a:spcPct val="110000"/>
              </a:lnSpc>
              <a:spcBef>
                <a:spcPts val="0"/>
              </a:spcBef>
              <a:buFont typeface="Arial" panose="020B0604020202020204" pitchFamily="34" charset="0"/>
              <a:buChar char="•"/>
            </a:pPr>
            <a:r>
              <a:rPr lang="en-US" sz="1800" dirty="0"/>
              <a:t>W = </a:t>
            </a:r>
            <a:r>
              <a:rPr lang="en-US" sz="1800" dirty="0" err="1"/>
              <a:t>Número</a:t>
            </a:r>
            <a:r>
              <a:rPr lang="en-US" sz="1800" dirty="0"/>
              <a:t> de </a:t>
            </a:r>
            <a:r>
              <a:rPr lang="en-US" sz="1800" dirty="0" err="1"/>
              <a:t>maneras</a:t>
            </a:r>
            <a:r>
              <a:rPr lang="en-US" sz="1800" dirty="0"/>
              <a:t> de </a:t>
            </a:r>
            <a:r>
              <a:rPr lang="en-US" sz="1800" dirty="0" err="1"/>
              <a:t>seleccionar</a:t>
            </a:r>
            <a:r>
              <a:rPr lang="en-US" sz="1800" dirty="0"/>
              <a:t> </a:t>
            </a:r>
            <a:r>
              <a:rPr lang="en-US" sz="1800" dirty="0" err="1"/>
              <a:t>una</a:t>
            </a:r>
            <a:r>
              <a:rPr lang="en-US" sz="1800" dirty="0"/>
              <a:t> </a:t>
            </a:r>
            <a:r>
              <a:rPr lang="en-US" sz="1800" dirty="0" err="1"/>
              <a:t>lavadora</a:t>
            </a:r>
            <a:r>
              <a:rPr lang="en-US" sz="1800" dirty="0"/>
              <a:t> de la </a:t>
            </a:r>
            <a:r>
              <a:rPr lang="en-US" sz="1800" dirty="0" err="1"/>
              <a:t>marca</a:t>
            </a:r>
            <a:r>
              <a:rPr lang="en-US" sz="1800" dirty="0"/>
              <a:t> General Electric</a:t>
            </a:r>
          </a:p>
          <a:p>
            <a:pPr indent="-228600" algn="just">
              <a:lnSpc>
                <a:spcPct val="110000"/>
              </a:lnSpc>
              <a:spcBef>
                <a:spcPts val="0"/>
              </a:spcBef>
              <a:buFont typeface="Arial" panose="020B0604020202020204" pitchFamily="34" charset="0"/>
              <a:buChar char="•"/>
            </a:pPr>
            <a:endParaRPr lang="en-US" sz="1800" dirty="0"/>
          </a:p>
          <a:p>
            <a:pPr indent="-228600" algn="just">
              <a:lnSpc>
                <a:spcPct val="110000"/>
              </a:lnSpc>
              <a:spcBef>
                <a:spcPts val="0"/>
              </a:spcBef>
              <a:buFont typeface="Arial" panose="020B0604020202020204" pitchFamily="34" charset="0"/>
              <a:buChar char="•"/>
            </a:pPr>
            <a:r>
              <a:rPr lang="en-US" sz="1800" dirty="0"/>
              <a:t>M = 2 x 4 x 2 = 16 </a:t>
            </a:r>
            <a:r>
              <a:rPr lang="en-US" sz="1800" dirty="0" err="1"/>
              <a:t>maneras</a:t>
            </a:r>
            <a:endParaRPr lang="en-US" sz="1800" b="1" dirty="0"/>
          </a:p>
          <a:p>
            <a:pPr indent="-228600" algn="just">
              <a:lnSpc>
                <a:spcPct val="110000"/>
              </a:lnSpc>
              <a:spcBef>
                <a:spcPts val="0"/>
              </a:spcBef>
              <a:buFont typeface="Arial" panose="020B0604020202020204" pitchFamily="34" charset="0"/>
              <a:buChar char="•"/>
            </a:pPr>
            <a:r>
              <a:rPr lang="en-US" sz="1800" dirty="0"/>
              <a:t>N = 3 x 2 x 2 = 12 </a:t>
            </a:r>
            <a:r>
              <a:rPr lang="en-US" sz="1800" dirty="0" err="1"/>
              <a:t>maneras</a:t>
            </a:r>
            <a:endParaRPr lang="en-US" sz="1800" dirty="0"/>
          </a:p>
          <a:p>
            <a:pPr indent="-228600" algn="just">
              <a:lnSpc>
                <a:spcPct val="110000"/>
              </a:lnSpc>
              <a:spcBef>
                <a:spcPts val="0"/>
              </a:spcBef>
              <a:buFont typeface="Arial" panose="020B0604020202020204" pitchFamily="34" charset="0"/>
              <a:buChar char="•"/>
            </a:pPr>
            <a:r>
              <a:rPr lang="en-US" sz="1800" dirty="0"/>
              <a:t>W = 1 x 2 x 1 = 2 </a:t>
            </a:r>
            <a:r>
              <a:rPr lang="en-US" sz="1800" dirty="0" err="1"/>
              <a:t>maneras</a:t>
            </a:r>
            <a:endParaRPr lang="en-US" sz="1800" dirty="0"/>
          </a:p>
          <a:p>
            <a:pPr indent="-228600" algn="just">
              <a:lnSpc>
                <a:spcPct val="110000"/>
              </a:lnSpc>
              <a:spcBef>
                <a:spcPts val="0"/>
              </a:spcBef>
              <a:buFont typeface="Arial" panose="020B0604020202020204" pitchFamily="34" charset="0"/>
              <a:buChar char="•"/>
            </a:pPr>
            <a:r>
              <a:rPr lang="en-US" sz="1800" dirty="0"/>
              <a:t> M + N + W = 16 + 12 + 2 = 30 </a:t>
            </a:r>
            <a:r>
              <a:rPr lang="en-US" sz="1800" dirty="0" err="1"/>
              <a:t>maneras</a:t>
            </a:r>
            <a:r>
              <a:rPr lang="en-US" sz="1800" dirty="0"/>
              <a:t> de </a:t>
            </a:r>
            <a:r>
              <a:rPr lang="en-US" sz="1800" dirty="0" err="1"/>
              <a:t>seleccionar</a:t>
            </a:r>
            <a:r>
              <a:rPr lang="en-US" sz="1800" dirty="0"/>
              <a:t> </a:t>
            </a:r>
            <a:r>
              <a:rPr lang="en-US" sz="1800" dirty="0" err="1"/>
              <a:t>una</a:t>
            </a:r>
            <a:r>
              <a:rPr lang="en-US" sz="1800" dirty="0"/>
              <a:t> </a:t>
            </a:r>
            <a:r>
              <a:rPr lang="en-US" sz="1800" dirty="0" err="1"/>
              <a:t>lavadora</a:t>
            </a:r>
            <a:endParaRPr lang="en-US" sz="1800" dirty="0"/>
          </a:p>
          <a:p>
            <a:pPr indent="-228600">
              <a:lnSpc>
                <a:spcPct val="110000"/>
              </a:lnSpc>
              <a:buFont typeface="Arial" panose="020B0604020202020204" pitchFamily="34" charset="0"/>
              <a:buChar char="•"/>
            </a:pPr>
            <a:endParaRPr lang="en-US" sz="1100" dirty="0"/>
          </a:p>
        </p:txBody>
      </p:sp>
      <p:grpSp>
        <p:nvGrpSpPr>
          <p:cNvPr id="139" name="Group 138">
            <a:extLst>
              <a:ext uri="{FF2B5EF4-FFF2-40B4-BE49-F238E27FC236}">
                <a16:creationId xmlns:a16="http://schemas.microsoft.com/office/drawing/2014/main" id="{8DB4BB99-C854-45F9-BED1-63D15E3A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2">
              <a:alpha val="45000"/>
            </a:schemeClr>
          </a:solidFill>
        </p:grpSpPr>
        <p:sp>
          <p:nvSpPr>
            <p:cNvPr id="140" name="Freeform 32">
              <a:extLst>
                <a:ext uri="{FF2B5EF4-FFF2-40B4-BE49-F238E27FC236}">
                  <a16:creationId xmlns:a16="http://schemas.microsoft.com/office/drawing/2014/main" id="{5D1CCC4C-284C-4BF6-97D9-D97467463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1" name="Freeform 33">
              <a:extLst>
                <a:ext uri="{FF2B5EF4-FFF2-40B4-BE49-F238E27FC236}">
                  <a16:creationId xmlns:a16="http://schemas.microsoft.com/office/drawing/2014/main" id="{35D82D1B-EB09-4028-9107-D60B547C7B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2" name="Freeform 34">
              <a:extLst>
                <a:ext uri="{FF2B5EF4-FFF2-40B4-BE49-F238E27FC236}">
                  <a16:creationId xmlns:a16="http://schemas.microsoft.com/office/drawing/2014/main" id="{1389EE93-8059-437E-8507-7557AD68FB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3" name="Freeform 35">
              <a:extLst>
                <a:ext uri="{FF2B5EF4-FFF2-40B4-BE49-F238E27FC236}">
                  <a16:creationId xmlns:a16="http://schemas.microsoft.com/office/drawing/2014/main" id="{377C05DC-75FF-4426-A34F-DBF0C7E7B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4" name="Freeform 36">
              <a:extLst>
                <a:ext uri="{FF2B5EF4-FFF2-40B4-BE49-F238E27FC236}">
                  <a16:creationId xmlns:a16="http://schemas.microsoft.com/office/drawing/2014/main" id="{03D385C8-866D-437D-91B1-2E3ECDD88E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5" name="Freeform 37">
              <a:extLst>
                <a:ext uri="{FF2B5EF4-FFF2-40B4-BE49-F238E27FC236}">
                  <a16:creationId xmlns:a16="http://schemas.microsoft.com/office/drawing/2014/main" id="{3F649CBB-748F-4C79-A14F-C531C40B0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6" name="Freeform 38">
              <a:extLst>
                <a:ext uri="{FF2B5EF4-FFF2-40B4-BE49-F238E27FC236}">
                  <a16:creationId xmlns:a16="http://schemas.microsoft.com/office/drawing/2014/main" id="{7F4622C0-84AF-41F1-9128-FE73CADD36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7" name="Freeform 39">
              <a:extLst>
                <a:ext uri="{FF2B5EF4-FFF2-40B4-BE49-F238E27FC236}">
                  <a16:creationId xmlns:a16="http://schemas.microsoft.com/office/drawing/2014/main" id="{CC6F29C1-A471-4CDE-8C21-E4B15C5E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8" name="Freeform 40">
              <a:extLst>
                <a:ext uri="{FF2B5EF4-FFF2-40B4-BE49-F238E27FC236}">
                  <a16:creationId xmlns:a16="http://schemas.microsoft.com/office/drawing/2014/main" id="{67F5B7DA-86C7-4AE0-96B6-D7F5AA51E2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GT"/>
            </a:p>
          </p:txBody>
        </p:sp>
        <p:sp>
          <p:nvSpPr>
            <p:cNvPr id="149" name="Rectangle 41">
              <a:extLst>
                <a:ext uri="{FF2B5EF4-FFF2-40B4-BE49-F238E27FC236}">
                  <a16:creationId xmlns:a16="http://schemas.microsoft.com/office/drawing/2014/main" id="{0FA481E3-0439-484A-AC9B-19D58B98E4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GT"/>
            </a:p>
          </p:txBody>
        </p:sp>
      </p:grpSp>
    </p:spTree>
    <p:extLst>
      <p:ext uri="{BB962C8B-B14F-4D97-AF65-F5344CB8AC3E}">
        <p14:creationId xmlns:p14="http://schemas.microsoft.com/office/powerpoint/2010/main" val="324771479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947" y="200526"/>
            <a:ext cx="10686464" cy="721895"/>
          </a:xfrm>
        </p:spPr>
        <p:txBody>
          <a:bodyPr/>
          <a:lstStyle/>
          <a:p>
            <a:r>
              <a:rPr lang="es-GT" dirty="0"/>
              <a:t>Ejercicios</a:t>
            </a:r>
          </a:p>
        </p:txBody>
      </p:sp>
      <p:sp>
        <p:nvSpPr>
          <p:cNvPr id="3" name="Marcador de contenido 2"/>
          <p:cNvSpPr>
            <a:spLocks noGrp="1"/>
          </p:cNvSpPr>
          <p:nvPr>
            <p:ph idx="1"/>
          </p:nvPr>
        </p:nvSpPr>
        <p:spPr>
          <a:xfrm>
            <a:off x="368969" y="1050758"/>
            <a:ext cx="10964778" cy="5189621"/>
          </a:xfrm>
        </p:spPr>
        <p:txBody>
          <a:bodyPr>
            <a:normAutofit/>
          </a:bodyPr>
          <a:lstStyle/>
          <a:p>
            <a:pPr marL="0" indent="0" algn="just">
              <a:lnSpc>
                <a:spcPct val="100000"/>
              </a:lnSpc>
              <a:buNone/>
            </a:pPr>
            <a:r>
              <a:rPr lang="es-GT" sz="1800" dirty="0">
                <a:latin typeface="Arial" panose="020B0604020202020204" pitchFamily="34" charset="0"/>
                <a:cs typeface="Arial" panose="020B0604020202020204" pitchFamily="34" charset="0"/>
              </a:rPr>
              <a:t>Ejercicio No. 1</a:t>
            </a:r>
          </a:p>
          <a:p>
            <a:pPr marL="0" indent="0" algn="just">
              <a:lnSpc>
                <a:spcPct val="100000"/>
              </a:lnSpc>
              <a:buNone/>
            </a:pPr>
            <a:r>
              <a:rPr lang="es-GT" sz="1800" dirty="0">
                <a:latin typeface="Arial" panose="020B0604020202020204" pitchFamily="34" charset="0"/>
                <a:cs typeface="Arial" panose="020B0604020202020204" pitchFamily="34" charset="0"/>
              </a:rPr>
              <a:t>¿Cuántas palabras de tres letras se pueden formar con cinco consonantes y Cuatro vocales de modo que cada palabra comience y termine en consonante?</a:t>
            </a:r>
          </a:p>
          <a:p>
            <a:pPr marL="0" indent="0" algn="just">
              <a:lnSpc>
                <a:spcPct val="100000"/>
              </a:lnSpc>
              <a:buNone/>
            </a:pPr>
            <a:r>
              <a:rPr lang="es-GT" sz="1800" dirty="0">
                <a:latin typeface="Arial" panose="020B0604020202020204" pitchFamily="34" charset="0"/>
                <a:cs typeface="Arial" panose="020B0604020202020204" pitchFamily="34" charset="0"/>
              </a:rPr>
              <a:t>Ejercicio No. 2</a:t>
            </a:r>
          </a:p>
          <a:p>
            <a:pPr marL="0" indent="0" algn="just">
              <a:lnSpc>
                <a:spcPct val="100000"/>
              </a:lnSpc>
              <a:buNone/>
            </a:pPr>
            <a:r>
              <a:rPr lang="es-GT" sz="1800" dirty="0">
                <a:latin typeface="Arial" panose="020B0604020202020204" pitchFamily="34" charset="0"/>
                <a:cs typeface="Arial" panose="020B0604020202020204" pitchFamily="34" charset="0"/>
              </a:rPr>
              <a:t>Determine el número de enteros de seis dígitos (que no comiencen con cero) en los que 	</a:t>
            </a:r>
          </a:p>
          <a:p>
            <a:pPr marL="0" indent="0" algn="just">
              <a:lnSpc>
                <a:spcPct val="100000"/>
              </a:lnSpc>
              <a:buNone/>
            </a:pPr>
            <a:r>
              <a:rPr lang="es-GT" sz="1800" dirty="0">
                <a:latin typeface="Arial" panose="020B0604020202020204" pitchFamily="34" charset="0"/>
                <a:cs typeface="Arial" panose="020B0604020202020204" pitchFamily="34" charset="0"/>
              </a:rPr>
              <a:t>	a) Ningún dígito se pueda repetir.</a:t>
            </a:r>
          </a:p>
          <a:p>
            <a:pPr marL="0" indent="0" algn="just">
              <a:lnSpc>
                <a:spcPct val="100000"/>
              </a:lnSpc>
              <a:buNone/>
            </a:pPr>
            <a:r>
              <a:rPr lang="es-GT" sz="1800" dirty="0">
                <a:latin typeface="Arial" panose="020B0604020202020204" pitchFamily="34" charset="0"/>
                <a:cs typeface="Arial" panose="020B0604020202020204" pitchFamily="34" charset="0"/>
              </a:rPr>
              <a:t>	b) Se pueden repetir los dígitos.</a:t>
            </a:r>
          </a:p>
          <a:p>
            <a:pPr marL="0" indent="0" algn="just">
              <a:lnSpc>
                <a:spcPct val="100000"/>
              </a:lnSpc>
              <a:buNone/>
            </a:pPr>
            <a:r>
              <a:rPr lang="es-GT" sz="1800" dirty="0">
                <a:latin typeface="Arial" panose="020B0604020202020204" pitchFamily="34" charset="0"/>
                <a:cs typeface="Arial" panose="020B0604020202020204" pitchFamily="34" charset="0"/>
              </a:rPr>
              <a:t>Ejercicio No. 3</a:t>
            </a:r>
          </a:p>
          <a:p>
            <a:pPr marL="0" indent="0" algn="just">
              <a:lnSpc>
                <a:spcPct val="100000"/>
              </a:lnSpc>
              <a:buNone/>
            </a:pPr>
            <a:r>
              <a:rPr lang="es-GT" sz="1800" dirty="0">
                <a:latin typeface="Arial" panose="020B0604020202020204" pitchFamily="34" charset="0"/>
                <a:cs typeface="Arial" panose="020B0604020202020204" pitchFamily="34" charset="0"/>
              </a:rPr>
              <a:t>Ana y María vieron a dos hombres alejarse en automóvil frente a una joyería, justo antes de que sonara una alarma contra robos. Cuando fueron interrogadas por la policía, las dos jóvenes dieron la siguiente información acerca de la placa (que constaba de dos letras seguidas de cuatro dígitos). María estaba segura de que la segunda letra de la placa era una O </a:t>
            </a:r>
            <a:r>
              <a:rPr lang="es-GT" sz="1800" dirty="0" err="1">
                <a:latin typeface="Arial" panose="020B0604020202020204" pitchFamily="34" charset="0"/>
                <a:cs typeface="Arial" panose="020B0604020202020204" pitchFamily="34" charset="0"/>
              </a:rPr>
              <a:t>o</a:t>
            </a:r>
            <a:r>
              <a:rPr lang="es-GT" sz="1800" dirty="0">
                <a:latin typeface="Arial" panose="020B0604020202020204" pitchFamily="34" charset="0"/>
                <a:cs typeface="Arial" panose="020B0604020202020204" pitchFamily="34" charset="0"/>
              </a:rPr>
              <a:t> una Q, y que el último dígito era un 3 o un 8. Ana dijo que la primera letra de la placa era una C o una G y que el primer dígito era definitivamente un 7.  ¿Cuántas placas diferentes tendrá que verificar la policía?</a:t>
            </a:r>
          </a:p>
        </p:txBody>
      </p:sp>
    </p:spTree>
    <p:extLst>
      <p:ext uri="{BB962C8B-B14F-4D97-AF65-F5344CB8AC3E}">
        <p14:creationId xmlns:p14="http://schemas.microsoft.com/office/powerpoint/2010/main" val="3571164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0760" y="153297"/>
            <a:ext cx="9905998" cy="769124"/>
          </a:xfrm>
        </p:spPr>
        <p:txBody>
          <a:bodyPr/>
          <a:lstStyle/>
          <a:p>
            <a:r>
              <a:rPr lang="es-GT" dirty="0"/>
              <a:t>Soluciones.</a:t>
            </a:r>
          </a:p>
        </p:txBody>
      </p:sp>
      <p:sp>
        <p:nvSpPr>
          <p:cNvPr id="3" name="Marcador de contenido 2"/>
          <p:cNvSpPr>
            <a:spLocks noGrp="1"/>
          </p:cNvSpPr>
          <p:nvPr>
            <p:ph idx="1"/>
          </p:nvPr>
        </p:nvSpPr>
        <p:spPr>
          <a:xfrm>
            <a:off x="130760" y="922420"/>
            <a:ext cx="11339345" cy="5646822"/>
          </a:xfrm>
        </p:spPr>
        <p:txBody>
          <a:bodyPr>
            <a:normAutofit fontScale="92500" lnSpcReduction="20000"/>
          </a:bodyPr>
          <a:lstStyle/>
          <a:p>
            <a:pPr marL="0" indent="0">
              <a:lnSpc>
                <a:spcPct val="100000"/>
              </a:lnSpc>
              <a:buNone/>
            </a:pPr>
            <a:r>
              <a:rPr lang="es-GT" sz="1800" dirty="0">
                <a:latin typeface="Arial" panose="020B0604020202020204" pitchFamily="34" charset="0"/>
                <a:cs typeface="Arial" panose="020B0604020202020204" pitchFamily="34" charset="0"/>
              </a:rPr>
              <a:t>Respuesta No. 1</a:t>
            </a:r>
          </a:p>
          <a:p>
            <a:pPr marL="0" indent="0">
              <a:lnSpc>
                <a:spcPct val="100000"/>
              </a:lnSpc>
              <a:buNone/>
            </a:pPr>
            <a:r>
              <a:rPr lang="es-GT" sz="1800" dirty="0">
                <a:latin typeface="Arial" panose="020B0604020202020204" pitchFamily="34" charset="0"/>
                <a:cs typeface="Arial" panose="020B0604020202020204" pitchFamily="34" charset="0"/>
              </a:rPr>
              <a:t>	Letras = 3; Consonantes = 5; Vocales = 4</a:t>
            </a:r>
          </a:p>
          <a:p>
            <a:pPr marL="0" indent="0">
              <a:lnSpc>
                <a:spcPct val="100000"/>
              </a:lnSpc>
              <a:buNone/>
            </a:pPr>
            <a:r>
              <a:rPr lang="es-GT" sz="1800" dirty="0">
                <a:latin typeface="Arial" panose="020B0604020202020204" pitchFamily="34" charset="0"/>
                <a:cs typeface="Arial" panose="020B0604020202020204" pitchFamily="34" charset="0"/>
              </a:rPr>
              <a:t>	Regla del producto = Letras * Consonantes * Vocales = 3 * 5 * 4 = 60</a:t>
            </a:r>
          </a:p>
          <a:p>
            <a:pPr marL="0" indent="0">
              <a:lnSpc>
                <a:spcPct val="100000"/>
              </a:lnSpc>
              <a:buNone/>
            </a:pPr>
            <a:r>
              <a:rPr lang="es-GT" sz="1800" dirty="0">
                <a:latin typeface="Arial" panose="020B0604020202020204" pitchFamily="34" charset="0"/>
                <a:cs typeface="Arial" panose="020B0604020202020204" pitchFamily="34" charset="0"/>
              </a:rPr>
              <a:t>Respuesta No. 2</a:t>
            </a:r>
          </a:p>
          <a:p>
            <a:pPr marL="0" indent="0">
              <a:lnSpc>
                <a:spcPct val="100000"/>
              </a:lnSpc>
              <a:buNone/>
            </a:pPr>
            <a:r>
              <a:rPr lang="es-GT" sz="1800" dirty="0">
                <a:latin typeface="Arial" panose="020B0604020202020204" pitchFamily="34" charset="0"/>
                <a:cs typeface="Arial" panose="020B0604020202020204" pitchFamily="34" charset="0"/>
              </a:rPr>
              <a:t>	Seis Dígitos Sin repetir = 4,5,6,7,8,9 </a:t>
            </a:r>
          </a:p>
          <a:p>
            <a:pPr marL="0" indent="0">
              <a:lnSpc>
                <a:spcPct val="100000"/>
              </a:lnSpc>
              <a:buNone/>
            </a:pPr>
            <a:r>
              <a:rPr lang="es-GT" sz="1800" dirty="0">
                <a:latin typeface="Arial" panose="020B0604020202020204" pitchFamily="34" charset="0"/>
                <a:cs typeface="Arial" panose="020B0604020202020204" pitchFamily="34" charset="0"/>
              </a:rPr>
              <a:t>	a) Regla del Producto = 4 * 5 * 6 * 7 * 8 * 9 = 60410</a:t>
            </a:r>
          </a:p>
          <a:p>
            <a:pPr marL="0" indent="0">
              <a:lnSpc>
                <a:spcPct val="100000"/>
              </a:lnSpc>
              <a:buNone/>
            </a:pPr>
            <a:r>
              <a:rPr lang="es-GT" sz="1800" dirty="0">
                <a:latin typeface="Arial" panose="020B0604020202020204" pitchFamily="34" charset="0"/>
                <a:cs typeface="Arial" panose="020B0604020202020204" pitchFamily="34" charset="0"/>
              </a:rPr>
              <a:t>	b) Regla del Producto = 9 * 10 * 10 *10 * 10 * 10 = 900000</a:t>
            </a:r>
          </a:p>
          <a:p>
            <a:pPr marL="0" indent="0">
              <a:lnSpc>
                <a:spcPct val="100000"/>
              </a:lnSpc>
              <a:buNone/>
            </a:pPr>
            <a:r>
              <a:rPr lang="es-GT" sz="1800" dirty="0">
                <a:latin typeface="Arial" panose="020B0604020202020204" pitchFamily="34" charset="0"/>
                <a:cs typeface="Arial" panose="020B0604020202020204" pitchFamily="34" charset="0"/>
              </a:rPr>
              <a:t>Respuesta No. 3</a:t>
            </a:r>
          </a:p>
          <a:p>
            <a:pPr marL="0" indent="0">
              <a:lnSpc>
                <a:spcPct val="100000"/>
              </a:lnSpc>
              <a:buNone/>
            </a:pPr>
            <a:r>
              <a:rPr lang="es-GT" sz="1800" dirty="0">
                <a:latin typeface="Arial" panose="020B0604020202020204" pitchFamily="34" charset="0"/>
                <a:cs typeface="Arial" panose="020B0604020202020204" pitchFamily="34" charset="0"/>
              </a:rPr>
              <a:t>	Maria = Letra de Placa C/G  Ultimo Digito = 3 ú 8</a:t>
            </a:r>
          </a:p>
          <a:p>
            <a:pPr marL="0" indent="0">
              <a:lnSpc>
                <a:spcPct val="100000"/>
              </a:lnSpc>
              <a:buNone/>
            </a:pPr>
            <a:r>
              <a:rPr lang="es-GT" sz="1800" dirty="0">
                <a:latin typeface="Arial" panose="020B0604020202020204" pitchFamily="34" charset="0"/>
                <a:cs typeface="Arial" panose="020B0604020202020204" pitchFamily="34" charset="0"/>
              </a:rPr>
              <a:t>	ANA = Letra de Placa  O/Q   Primer Digito =  7</a:t>
            </a:r>
          </a:p>
          <a:p>
            <a:pPr marL="0" indent="0">
              <a:lnSpc>
                <a:spcPct val="100000"/>
              </a:lnSpc>
              <a:buNone/>
            </a:pPr>
            <a:r>
              <a:rPr lang="es-GT" sz="1800" dirty="0">
                <a:latin typeface="Arial" panose="020B0604020202020204" pitchFamily="34" charset="0"/>
                <a:cs typeface="Arial" panose="020B0604020202020204" pitchFamily="34" charset="0"/>
              </a:rPr>
              <a:t>	Segundo Digito debería de estar entre 0 y 9 = 10 Dígitos Posibles</a:t>
            </a:r>
          </a:p>
          <a:p>
            <a:pPr marL="0" indent="0">
              <a:lnSpc>
                <a:spcPct val="100000"/>
              </a:lnSpc>
              <a:buNone/>
            </a:pPr>
            <a:r>
              <a:rPr lang="es-GT" sz="1800" dirty="0">
                <a:latin typeface="Arial" panose="020B0604020202020204" pitchFamily="34" charset="0"/>
                <a:cs typeface="Arial" panose="020B0604020202020204" pitchFamily="34" charset="0"/>
              </a:rPr>
              <a:t>	Tercer Digito debería de estar entre 0 y 9 = 10 Dígitos Posibles</a:t>
            </a:r>
          </a:p>
          <a:p>
            <a:pPr marL="0" indent="0">
              <a:lnSpc>
                <a:spcPct val="100000"/>
              </a:lnSpc>
              <a:buNone/>
            </a:pPr>
            <a:r>
              <a:rPr lang="es-GT" sz="1800" dirty="0">
                <a:latin typeface="Arial" panose="020B0604020202020204" pitchFamily="34" charset="0"/>
                <a:cs typeface="Arial" panose="020B0604020202020204" pitchFamily="34" charset="0"/>
              </a:rPr>
              <a:t>	Letras de Placas Maria = 2 posibilidades, Letras de Placas Ana = 2 Posibilidades, Primer Digito = 1, 	Segundo Digito = 10, Tercer Digito = 10, Ultimo Digito = 2</a:t>
            </a:r>
          </a:p>
          <a:p>
            <a:pPr marL="0" indent="0">
              <a:lnSpc>
                <a:spcPct val="100000"/>
              </a:lnSpc>
              <a:buNone/>
            </a:pPr>
            <a:r>
              <a:rPr lang="es-GT" sz="1800" dirty="0">
                <a:latin typeface="Arial" panose="020B0604020202020204" pitchFamily="34" charset="0"/>
                <a:cs typeface="Arial" panose="020B0604020202020204" pitchFamily="34" charset="0"/>
              </a:rPr>
              <a:t>	Por Tanto la Solución  =  X   </a:t>
            </a:r>
            <a:r>
              <a:rPr lang="es-GT" sz="1800" dirty="0">
                <a:latin typeface="Arial" panose="020B0604020202020204" pitchFamily="34" charset="0"/>
                <a:cs typeface="Arial" panose="020B0604020202020204" pitchFamily="34" charset="0"/>
                <a:sym typeface="Wingdings" panose="05000000000000000000" pitchFamily="2" charset="2"/>
              </a:rPr>
              <a:t>  2 * 2 * 1 * 10 * 10 * 2 = 800 Posibles Placas.</a:t>
            </a:r>
            <a:endParaRPr lang="es-GT" sz="1800" dirty="0">
              <a:latin typeface="Arial" panose="020B0604020202020204" pitchFamily="34" charset="0"/>
              <a:cs typeface="Arial" panose="020B0604020202020204" pitchFamily="34" charset="0"/>
            </a:endParaRPr>
          </a:p>
          <a:p>
            <a:pPr marL="0" indent="0">
              <a:lnSpc>
                <a:spcPct val="100000"/>
              </a:lnSpc>
              <a:buNone/>
            </a:pPr>
            <a:r>
              <a:rPr lang="es-GT" sz="1800" dirty="0">
                <a:latin typeface="Arial" panose="020B0604020202020204" pitchFamily="34" charset="0"/>
                <a:cs typeface="Arial" panose="020B0604020202020204" pitchFamily="34" charset="0"/>
              </a:rPr>
              <a:t>	 </a:t>
            </a:r>
          </a:p>
          <a:p>
            <a:pPr marL="0" indent="0">
              <a:lnSpc>
                <a:spcPct val="100000"/>
              </a:lnSpc>
              <a:buNone/>
            </a:pPr>
            <a:r>
              <a:rPr lang="es-GT" sz="1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83034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2611" y="208547"/>
            <a:ext cx="10814800" cy="705853"/>
          </a:xfrm>
        </p:spPr>
        <p:txBody>
          <a:bodyPr/>
          <a:lstStyle/>
          <a:p>
            <a:r>
              <a:rPr lang="es-GT" dirty="0"/>
              <a:t>Ejercicios</a:t>
            </a:r>
          </a:p>
        </p:txBody>
      </p:sp>
      <p:sp>
        <p:nvSpPr>
          <p:cNvPr id="3" name="Marcador de contenido 2"/>
          <p:cNvSpPr>
            <a:spLocks noGrp="1"/>
          </p:cNvSpPr>
          <p:nvPr>
            <p:ph idx="1"/>
          </p:nvPr>
        </p:nvSpPr>
        <p:spPr>
          <a:xfrm>
            <a:off x="232611" y="914400"/>
            <a:ext cx="11526251" cy="5670884"/>
          </a:xfrm>
        </p:spPr>
        <p:txBody>
          <a:bodyPr>
            <a:normAutofit fontScale="85000" lnSpcReduction="20000"/>
          </a:bodyPr>
          <a:lstStyle/>
          <a:p>
            <a:pPr marL="0" indent="0" algn="just">
              <a:lnSpc>
                <a:spcPct val="100000"/>
              </a:lnSpc>
              <a:buNone/>
            </a:pPr>
            <a:r>
              <a:rPr lang="es-GT" sz="2100" dirty="0">
                <a:latin typeface="Arial" panose="020B0604020202020204" pitchFamily="34" charset="0"/>
                <a:cs typeface="Arial" panose="020B0604020202020204" pitchFamily="34" charset="0"/>
              </a:rPr>
              <a:t>1.  Los automóviles Buick se fabrican en 4 modelos, 12 colores, 3 tamaños de motor y 2 tipos de transmisión.</a:t>
            </a:r>
          </a:p>
          <a:p>
            <a:pPr marL="457200" lvl="1" indent="0" algn="just">
              <a:lnSpc>
                <a:spcPct val="100000"/>
              </a:lnSpc>
              <a:buNone/>
            </a:pPr>
            <a:r>
              <a:rPr lang="es-GT" sz="2100" dirty="0">
                <a:latin typeface="Arial" panose="020B0604020202020204" pitchFamily="34" charset="0"/>
                <a:cs typeface="Arial" panose="020B0604020202020204" pitchFamily="34" charset="0"/>
              </a:rPr>
              <a:t>a. ¿Cuántos Buick distintos se pueden fabricar?</a:t>
            </a:r>
          </a:p>
          <a:p>
            <a:pPr marL="457200" lvl="1" indent="0" algn="just">
              <a:lnSpc>
                <a:spcPct val="100000"/>
              </a:lnSpc>
              <a:buNone/>
            </a:pPr>
            <a:r>
              <a:rPr lang="es-GT" sz="2100" dirty="0">
                <a:latin typeface="Arial" panose="020B0604020202020204" pitchFamily="34" charset="0"/>
                <a:cs typeface="Arial" panose="020B0604020202020204" pitchFamily="34" charset="0"/>
              </a:rPr>
              <a:t>b. Si uno de los colores disponibles es el azul, ¿Cuántos Buick azules se pueden fabricar?</a:t>
            </a:r>
          </a:p>
          <a:p>
            <a:pPr marL="0" indent="0" algn="just">
              <a:buNone/>
            </a:pPr>
            <a:r>
              <a:rPr lang="es-GT" sz="2100" dirty="0">
                <a:latin typeface="Arial" panose="020B0604020202020204" pitchFamily="34" charset="0"/>
                <a:cs typeface="Arial" panose="020B0604020202020204" pitchFamily="34" charset="0"/>
              </a:rPr>
              <a:t>2. Un sábado, cuando iban de compras, Juana y Teresa vieron a dos hombres alejarse en un automóvil de la fachada de la joyería, justo antes de que sonara una alarma contra robos. Aunque todo ocurrió muy rápido, cuando fueron interrogadas las dos jóvenes pudieron dar a la policía la siguiente información acerca de la placa (que constaba de dos letras seguidas de cuatro dígitos) del automóvil que huyó. Teresa estaba segura de que la segunda letra de la placa era una O </a:t>
            </a:r>
            <a:r>
              <a:rPr lang="es-GT" sz="2100" dirty="0" err="1">
                <a:latin typeface="Arial" panose="020B0604020202020204" pitchFamily="34" charset="0"/>
                <a:cs typeface="Arial" panose="020B0604020202020204" pitchFamily="34" charset="0"/>
              </a:rPr>
              <a:t>o</a:t>
            </a:r>
            <a:r>
              <a:rPr lang="es-GT" sz="2100" dirty="0">
                <a:latin typeface="Arial" panose="020B0604020202020204" pitchFamily="34" charset="0"/>
                <a:cs typeface="Arial" panose="020B0604020202020204" pitchFamily="34" charset="0"/>
              </a:rPr>
              <a:t> una Q, y que el último dígito era un 3 o un 8. Juana dijo que la primera letra de la placa era una C o una G y que el primer dígito era definitivamente un 7. ¿Cuántas placas diferentes tendrá que verificar la policía?</a:t>
            </a:r>
          </a:p>
          <a:p>
            <a:pPr marL="0" indent="0" algn="just">
              <a:buNone/>
            </a:pPr>
            <a:r>
              <a:rPr lang="es-ES" sz="2100" dirty="0">
                <a:latin typeface="Arial" panose="020B0604020202020204" pitchFamily="34" charset="0"/>
                <a:cs typeface="Arial" panose="020B0604020202020204" pitchFamily="34" charset="0"/>
              </a:rPr>
              <a:t>3. Un anuncio de hamburguesas indica que un cliente puede ordenar su hamburguesa con alguno, con ninguno de los siguientes ingredientes o con todos: cátsup, mostaza, mayonesa, lechuga, tomate, cebolla, pepinillos, queso o champiñones ¿Cuántas órdenes diferentes de hamburguesa se pueden servir?</a:t>
            </a:r>
          </a:p>
          <a:p>
            <a:pPr marL="0" lvl="0" indent="0">
              <a:buNone/>
            </a:pPr>
            <a:r>
              <a:rPr lang="es-ES" sz="2100" dirty="0">
                <a:latin typeface="Arial" panose="020B0604020202020204" pitchFamily="34" charset="0"/>
                <a:cs typeface="Arial" panose="020B0604020202020204" pitchFamily="34" charset="0"/>
              </a:rPr>
              <a:t>4.Tres pueblos, designados como A, B y C, están intercomunicados por un sistema de carreteras de doble sentido, como se muestra en la figura 1.4.</a:t>
            </a:r>
            <a:endParaRPr lang="es-GT" sz="2100" dirty="0">
              <a:latin typeface="Arial" panose="020B0604020202020204" pitchFamily="34" charset="0"/>
              <a:cs typeface="Arial" panose="020B0604020202020204" pitchFamily="34" charset="0"/>
            </a:endParaRPr>
          </a:p>
          <a:p>
            <a:pPr marL="914400" lvl="1" indent="-457200">
              <a:buFont typeface="+mj-lt"/>
              <a:buAutoNum type="alphaLcParenR"/>
            </a:pPr>
            <a:r>
              <a:rPr lang="es-ES" sz="2100" dirty="0">
                <a:latin typeface="Arial" panose="020B0604020202020204" pitchFamily="34" charset="0"/>
                <a:cs typeface="Arial" panose="020B0604020202020204" pitchFamily="34" charset="0"/>
              </a:rPr>
              <a:t>¿De cuantas formas puede Elena ir del pueblo A al pueblo C?</a:t>
            </a:r>
          </a:p>
          <a:p>
            <a:pPr marL="914400" lvl="1" indent="-457200">
              <a:buFont typeface="+mj-lt"/>
              <a:buAutoNum type="alphaLcParenR"/>
            </a:pPr>
            <a:r>
              <a:rPr lang="es-ES" sz="2100" dirty="0">
                <a:latin typeface="Arial" panose="020B0604020202020204" pitchFamily="34" charset="0"/>
                <a:cs typeface="Arial" panose="020B0604020202020204" pitchFamily="34" charset="0"/>
              </a:rPr>
              <a:t>¿Cuantos trayectos puedo hacer Elena del pueblo A al pruebo C y de regreso al pueblo A? </a:t>
            </a:r>
            <a:endParaRPr lang="es-GT" sz="2100" dirty="0">
              <a:latin typeface="Arial" panose="020B0604020202020204" pitchFamily="34" charset="0"/>
              <a:cs typeface="Arial" panose="020B0604020202020204" pitchFamily="34" charset="0"/>
            </a:endParaRPr>
          </a:p>
          <a:p>
            <a:pPr marL="457200" lvl="1" indent="0">
              <a:buNone/>
            </a:pPr>
            <a:r>
              <a:rPr lang="es-ES" dirty="0"/>
              <a:t> </a:t>
            </a:r>
            <a:endParaRPr lang="es-GT" sz="3200" dirty="0"/>
          </a:p>
          <a:p>
            <a:pPr marL="0" indent="0" algn="just">
              <a:buNone/>
            </a:pPr>
            <a:endParaRPr lang="es-GT" dirty="0"/>
          </a:p>
          <a:p>
            <a:pPr marL="0" indent="0" algn="just">
              <a:buNone/>
            </a:pPr>
            <a:endParaRPr lang="es-GT"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5139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2611" y="208547"/>
            <a:ext cx="10814800" cy="705853"/>
          </a:xfrm>
        </p:spPr>
        <p:txBody>
          <a:bodyPr/>
          <a:lstStyle/>
          <a:p>
            <a:r>
              <a:rPr lang="es-GT" dirty="0"/>
              <a:t>ejercicios</a:t>
            </a:r>
          </a:p>
        </p:txBody>
      </p:sp>
      <p:sp>
        <p:nvSpPr>
          <p:cNvPr id="3" name="Marcador de contenido 2"/>
          <p:cNvSpPr>
            <a:spLocks noGrp="1"/>
          </p:cNvSpPr>
          <p:nvPr>
            <p:ph idx="1"/>
          </p:nvPr>
        </p:nvSpPr>
        <p:spPr>
          <a:xfrm>
            <a:off x="232611" y="914400"/>
            <a:ext cx="11526251" cy="5670884"/>
          </a:xfrm>
        </p:spPr>
        <p:txBody>
          <a:bodyPr>
            <a:normAutofit/>
          </a:bodyPr>
          <a:lstStyle/>
          <a:p>
            <a:pPr marL="0" indent="0" algn="just">
              <a:lnSpc>
                <a:spcPct val="100000"/>
              </a:lnSpc>
              <a:buNone/>
            </a:pPr>
            <a:r>
              <a:rPr lang="es-ES" sz="2100" dirty="0">
                <a:latin typeface="Arial" panose="020B0604020202020204" pitchFamily="34" charset="0"/>
                <a:cs typeface="Arial" panose="020B0604020202020204" pitchFamily="34" charset="0"/>
              </a:rPr>
              <a:t> Ejercicios en Clase.</a:t>
            </a:r>
          </a:p>
          <a:p>
            <a:pPr marL="0" indent="0" algn="just">
              <a:lnSpc>
                <a:spcPct val="100000"/>
              </a:lnSpc>
              <a:buNone/>
            </a:pPr>
            <a:r>
              <a:rPr lang="es-ES" sz="2100" dirty="0">
                <a:latin typeface="Arial" panose="020B0604020202020204" pitchFamily="34" charset="0"/>
                <a:cs typeface="Arial" panose="020B0604020202020204" pitchFamily="34" charset="0"/>
              </a:rPr>
              <a:t>1. De 40 postulantes, 20 postulan a una universidad A, 20 a una universidad B y 10 no postulan a ninguna. Si se escoge un postulante al azar, ¿Qué probabilidad hay de que postule solo a B? </a:t>
            </a:r>
          </a:p>
          <a:p>
            <a:pPr marL="0" indent="0" algn="just">
              <a:lnSpc>
                <a:spcPct val="100000"/>
              </a:lnSpc>
              <a:buNone/>
            </a:pPr>
            <a:r>
              <a:rPr lang="es-ES" sz="2100" dirty="0">
                <a:latin typeface="Arial" panose="020B0604020202020204" pitchFamily="34" charset="0"/>
                <a:cs typeface="Arial" panose="020B0604020202020204" pitchFamily="34" charset="0"/>
              </a:rPr>
              <a:t>2. En un grupo, 10 personas usan pantalón; 12, camisa; 8, pantalón y camisa y 6 no usan pantalón ni camisa. Si se escoge una persona al azar, ¿Cuál es la probabilidad de que use pantalón y no camisa? </a:t>
            </a:r>
          </a:p>
          <a:p>
            <a:pPr marL="0" indent="0" algn="just">
              <a:lnSpc>
                <a:spcPct val="100000"/>
              </a:lnSpc>
              <a:buNone/>
            </a:pPr>
            <a:r>
              <a:rPr lang="es-ES" sz="2100" dirty="0">
                <a:latin typeface="Arial" panose="020B0604020202020204" pitchFamily="34" charset="0"/>
                <a:cs typeface="Arial" panose="020B0604020202020204" pitchFamily="34" charset="0"/>
              </a:rPr>
              <a:t>3. Sean A y B 2 espacios de un evento muestral S, tales que: P(A) = 0,6 P(B) = 0,5 P(A” U B”) = 0,7 Halle P(A U B) </a:t>
            </a:r>
          </a:p>
          <a:p>
            <a:pPr marL="0" indent="0" algn="just">
              <a:lnSpc>
                <a:spcPct val="100000"/>
              </a:lnSpc>
              <a:buNone/>
            </a:pPr>
            <a:r>
              <a:rPr lang="es-ES" sz="2100" dirty="0">
                <a:latin typeface="Arial" panose="020B0604020202020204" pitchFamily="34" charset="0"/>
                <a:cs typeface="Arial" panose="020B0604020202020204" pitchFamily="34" charset="0"/>
              </a:rPr>
              <a:t>4. La probabilidad de que un alumno apruebe historia es 0,7 y la probabilidad de que apruebe lenguaje, 0,6. Halle la probabilidad de que apruebe al menos unos de estos dos cursos, si la probabilidad de que apruebe los 2 cursos, si la probabilidad de que apruebe los 2 cursos es 0,42. </a:t>
            </a:r>
          </a:p>
          <a:p>
            <a:pPr marL="0" indent="0" algn="just">
              <a:lnSpc>
                <a:spcPct val="100000"/>
              </a:lnSpc>
              <a:buNone/>
            </a:pPr>
            <a:r>
              <a:rPr lang="es-ES" sz="2100" dirty="0">
                <a:latin typeface="Arial" panose="020B0604020202020204" pitchFamily="34" charset="0"/>
                <a:cs typeface="Arial" panose="020B0604020202020204" pitchFamily="34" charset="0"/>
              </a:rPr>
              <a:t>5. Un grupo de estudiantes está compuesto por 5 varones y 4 mujeres. Si se eligen 3 estudiantes al azar, ¿Cuál es la probabilidad de que los 3 sean mujeres? </a:t>
            </a:r>
            <a:endParaRPr lang="es-GT" sz="2100" dirty="0">
              <a:latin typeface="Arial" panose="020B0604020202020204" pitchFamily="34" charset="0"/>
              <a:cs typeface="Arial" panose="020B0604020202020204" pitchFamily="34" charset="0"/>
            </a:endParaRPr>
          </a:p>
          <a:p>
            <a:pPr marL="457200" lvl="1" indent="0">
              <a:buNone/>
            </a:pPr>
            <a:r>
              <a:rPr lang="es-ES" dirty="0"/>
              <a:t> </a:t>
            </a:r>
            <a:endParaRPr lang="es-GT" sz="3200" dirty="0"/>
          </a:p>
          <a:p>
            <a:pPr marL="0" indent="0" algn="just">
              <a:buNone/>
            </a:pPr>
            <a:endParaRPr lang="es-GT" dirty="0"/>
          </a:p>
          <a:p>
            <a:pPr marL="0" indent="0" algn="just">
              <a:buNone/>
            </a:pPr>
            <a:endParaRPr lang="es-GT"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17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2611" y="208547"/>
            <a:ext cx="10814800" cy="705853"/>
          </a:xfrm>
        </p:spPr>
        <p:txBody>
          <a:bodyPr/>
          <a:lstStyle/>
          <a:p>
            <a:r>
              <a:rPr lang="es-GT" dirty="0"/>
              <a:t>ejercicios</a:t>
            </a:r>
          </a:p>
        </p:txBody>
      </p:sp>
      <p:sp>
        <p:nvSpPr>
          <p:cNvPr id="3" name="Marcador de contenido 2"/>
          <p:cNvSpPr>
            <a:spLocks noGrp="1"/>
          </p:cNvSpPr>
          <p:nvPr>
            <p:ph idx="1"/>
          </p:nvPr>
        </p:nvSpPr>
        <p:spPr>
          <a:xfrm>
            <a:off x="232611" y="1199626"/>
            <a:ext cx="11526251" cy="5075266"/>
          </a:xfrm>
        </p:spPr>
        <p:txBody>
          <a:bodyPr>
            <a:normAutofit/>
          </a:bodyPr>
          <a:lstStyle/>
          <a:p>
            <a:pPr marL="0" indent="0" algn="just">
              <a:lnSpc>
                <a:spcPct val="100000"/>
              </a:lnSpc>
              <a:buNone/>
            </a:pPr>
            <a:r>
              <a:rPr lang="es-ES" sz="2100" dirty="0">
                <a:latin typeface="Arial" panose="020B0604020202020204" pitchFamily="34" charset="0"/>
                <a:cs typeface="Arial" panose="020B0604020202020204" pitchFamily="34" charset="0"/>
              </a:rPr>
              <a:t>6. En una canasta hay 4 manzanas, 3 naranjas y 3 mangos. La probabilidad de que al escoger al azar 2 frutas por lo menos una sea mango es:</a:t>
            </a:r>
          </a:p>
          <a:p>
            <a:pPr marL="0" indent="0" algn="just">
              <a:lnSpc>
                <a:spcPct val="100000"/>
              </a:lnSpc>
              <a:buNone/>
            </a:pPr>
            <a:r>
              <a:rPr lang="es-ES" sz="2100" dirty="0">
                <a:latin typeface="Arial" panose="020B0604020202020204" pitchFamily="34" charset="0"/>
                <a:cs typeface="Arial" panose="020B0604020202020204" pitchFamily="34" charset="0"/>
              </a:rPr>
              <a:t>7. Si en cada 20 km de carretera, la probabilidad de que ocurra un accidente es 2/9, ¿Cuál es la probabilidad de que en un tramo de 40 km no ocurra ningún accidente? </a:t>
            </a:r>
          </a:p>
          <a:p>
            <a:pPr marL="0" indent="0" algn="just">
              <a:lnSpc>
                <a:spcPct val="100000"/>
              </a:lnSpc>
              <a:buNone/>
            </a:pPr>
            <a:r>
              <a:rPr lang="es-ES" sz="2100" dirty="0">
                <a:latin typeface="Arial" panose="020B0604020202020204" pitchFamily="34" charset="0"/>
                <a:cs typeface="Arial" panose="020B0604020202020204" pitchFamily="34" charset="0"/>
              </a:rPr>
              <a:t>8. Una persona desea viajar de Lima a Tacna para ello dispone de 3 líneas aéreas, 8 líneas terrestres y 1 ruta marítima. ¿De cuantas maneras distintas puede realizar su viaje, si puede utilizar solo una de las rutas? </a:t>
            </a:r>
          </a:p>
          <a:p>
            <a:pPr marL="0" indent="0" algn="just">
              <a:lnSpc>
                <a:spcPct val="100000"/>
              </a:lnSpc>
              <a:buNone/>
            </a:pPr>
            <a:r>
              <a:rPr lang="es-ES" sz="2100" dirty="0">
                <a:latin typeface="Arial" panose="020B0604020202020204" pitchFamily="34" charset="0"/>
                <a:cs typeface="Arial" panose="020B0604020202020204" pitchFamily="34" charset="0"/>
              </a:rPr>
              <a:t>9. Carlos desea comprar un televisor, para lo cual ha consultado en tres tiendas, la primera ofrece 3 sistemas de crédito, la segunda ofrece 4 sistemas de crédito y la tercera 5 sistemas de crédito y la tercera ofrece 5 sistemas de crédito y la tercera ofrece 5 sistemas de crédito. ¿De cuantas maneras diferentes puede comprar el televisor usando estos sistemas de crédito?</a:t>
            </a:r>
            <a:endParaRPr lang="es-GT" sz="3200" dirty="0"/>
          </a:p>
          <a:p>
            <a:pPr marL="0" indent="0" algn="just">
              <a:buNone/>
            </a:pPr>
            <a:endParaRPr lang="es-GT" dirty="0"/>
          </a:p>
          <a:p>
            <a:pPr marL="0" indent="0" algn="just">
              <a:buNone/>
            </a:pPr>
            <a:endParaRPr lang="es-GT"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7343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46723-821E-047B-C92C-25BD5DA2B120}"/>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545D23B-13B5-BB97-D62F-A1223BBE213A}"/>
              </a:ext>
            </a:extLst>
          </p:cNvPr>
          <p:cNvSpPr>
            <a:spLocks noGrp="1"/>
          </p:cNvSpPr>
          <p:nvPr>
            <p:ph idx="1"/>
          </p:nvPr>
        </p:nvSpPr>
        <p:spPr>
          <a:xfrm>
            <a:off x="213295" y="74645"/>
            <a:ext cx="11746094" cy="6574808"/>
          </a:xfrm>
        </p:spPr>
        <p:txBody>
          <a:bodyPr>
            <a:normAutofit fontScale="62500" lnSpcReduction="20000"/>
          </a:bodyPr>
          <a:lstStyle/>
          <a:p>
            <a:pPr marL="0" indent="0" algn="just">
              <a:buNone/>
            </a:pPr>
            <a:r>
              <a:rPr lang="es-ES" sz="2600" dirty="0"/>
              <a:t>Preguntas Frecuentes sobre la Regla de la Suma y el Producto</a:t>
            </a:r>
          </a:p>
          <a:p>
            <a:pPr marL="0" indent="0" algn="just">
              <a:buNone/>
            </a:pPr>
            <a:r>
              <a:rPr lang="es-ES" sz="2600" dirty="0"/>
              <a:t>1. ¿Qué son las matemáticas discretas y por qué son importantes?</a:t>
            </a:r>
          </a:p>
          <a:p>
            <a:pPr marL="0" indent="0" algn="just">
              <a:buNone/>
            </a:pPr>
            <a:r>
              <a:rPr lang="es-ES" sz="2600" dirty="0"/>
              <a:t>Las matemáticas discretas estudian estructuras cuyos elementos pueden contarse uno por uno, como números enteros, grafos y sentencias lógicas. Son fundamentales para la computación, ya que solo las funciones de conjuntos numerables son computables. A diferencia del cálculo, aquí no se manejan ideas de continuidad o límite1.</a:t>
            </a:r>
          </a:p>
          <a:p>
            <a:pPr marL="0" indent="0" algn="just">
              <a:buNone/>
            </a:pPr>
            <a:endParaRPr lang="es-ES" sz="2600" dirty="0"/>
          </a:p>
          <a:p>
            <a:pPr marL="0" indent="0" algn="just">
              <a:buNone/>
            </a:pPr>
            <a:r>
              <a:rPr lang="es-ES" sz="2600" dirty="0"/>
              <a:t>2. ¿En qué consiste la regla de la suma?</a:t>
            </a:r>
          </a:p>
          <a:p>
            <a:pPr marL="0" indent="0" algn="just">
              <a:buNone/>
            </a:pPr>
            <a:r>
              <a:rPr lang="es-ES" sz="2600" dirty="0"/>
              <a:t>La regla de la suma establece que si una tarea puede realizarse de m formas y otra de n formas, y no pueden realizarse simultáneamente, entonces hay m + n formas de realizar una u otra. Se puede extender a más de dos tareas, siempre que no se puedan realizar al mismo tiempo1.</a:t>
            </a:r>
          </a:p>
          <a:p>
            <a:pPr marL="0" indent="0" algn="just">
              <a:buNone/>
            </a:pPr>
            <a:r>
              <a:rPr lang="es-ES" sz="2600" dirty="0"/>
              <a:t>Ejemplo:</a:t>
            </a:r>
          </a:p>
          <a:p>
            <a:pPr marL="0" indent="0" algn="just">
              <a:buNone/>
            </a:pPr>
            <a:r>
              <a:rPr lang="es-ES" sz="2600" dirty="0"/>
              <a:t>Una biblioteca tiene 40 libros de programación y 50 de matemáticas. Un estudiante puede elegir entre 90 opciones (40 + 50)1.</a:t>
            </a:r>
          </a:p>
          <a:p>
            <a:pPr marL="0" indent="0" algn="just">
              <a:buNone/>
            </a:pPr>
            <a:endParaRPr lang="es-ES" sz="2600" dirty="0"/>
          </a:p>
          <a:p>
            <a:pPr marL="0" indent="0" algn="just">
              <a:buNone/>
            </a:pPr>
            <a:r>
              <a:rPr lang="es-ES" sz="2600" dirty="0"/>
              <a:t>3. ¿En qué consiste la regla del producto?</a:t>
            </a:r>
          </a:p>
          <a:p>
            <a:pPr marL="0" indent="0" algn="just">
              <a:buNone/>
            </a:pPr>
            <a:r>
              <a:rPr lang="es-ES" sz="2600" dirty="0"/>
              <a:t>La regla del producto indica que si un procedimiento se puede dividir en etapas, y la primera tiene m opciones y cada una de ellas permite n opciones en la segunda, el total de formas de realizar el procedimiento es m × n. Es el principio de elección secuencial1.</a:t>
            </a:r>
          </a:p>
          <a:p>
            <a:pPr marL="0" indent="0" algn="just">
              <a:buNone/>
            </a:pPr>
            <a:r>
              <a:rPr lang="es-ES" sz="2600" dirty="0"/>
              <a:t>Ejemplo:</a:t>
            </a:r>
          </a:p>
          <a:p>
            <a:pPr marL="0" indent="0" algn="just">
              <a:buNone/>
            </a:pPr>
            <a:r>
              <a:rPr lang="es-ES" sz="2600" dirty="0"/>
              <a:t>Si María empaca 3 pares de zapatos, 3 faldas, 6 blusas, 2 pantalones y 2 chaquetas, puede vestirse de 216 formas diferentes (3 × 3 × 6 × 2 × 2)1.</a:t>
            </a:r>
            <a:endParaRPr lang="es-GT"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7891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D5FDF-4C5F-96D6-CF9A-C0D479AEBF7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938728F-67ED-36CA-93F2-4E46469B8B71}"/>
              </a:ext>
            </a:extLst>
          </p:cNvPr>
          <p:cNvSpPr>
            <a:spLocks noGrp="1"/>
          </p:cNvSpPr>
          <p:nvPr>
            <p:ph idx="1"/>
          </p:nvPr>
        </p:nvSpPr>
        <p:spPr>
          <a:xfrm>
            <a:off x="232611" y="121297"/>
            <a:ext cx="11813209" cy="6512767"/>
          </a:xfrm>
        </p:spPr>
        <p:txBody>
          <a:bodyPr>
            <a:normAutofit fontScale="62500" lnSpcReduction="20000"/>
          </a:bodyPr>
          <a:lstStyle/>
          <a:p>
            <a:pPr marL="0" indent="0" algn="just">
              <a:buNone/>
            </a:pPr>
            <a:r>
              <a:rPr lang="es-ES" dirty="0"/>
              <a:t>4. ¿Cuándo se combinan la regla de la suma y la del producto?</a:t>
            </a:r>
          </a:p>
          <a:p>
            <a:pPr marL="0" indent="0" algn="just">
              <a:buNone/>
            </a:pPr>
            <a:r>
              <a:rPr lang="es-ES" dirty="0"/>
              <a:t>En problemas complejos, a veces es necesario combinar ambas reglas para contar el número total de posibilidades. Por ejemplo, al crear nombres de variables en BASIC, se suman las combinaciones posibles de letras y números1.</a:t>
            </a:r>
          </a:p>
          <a:p>
            <a:pPr marL="0" indent="0" algn="just">
              <a:buNone/>
            </a:pPr>
            <a:endParaRPr lang="es-ES" dirty="0"/>
          </a:p>
          <a:p>
            <a:pPr marL="0" indent="0" algn="just">
              <a:buNone/>
            </a:pPr>
            <a:r>
              <a:rPr lang="es-ES" dirty="0"/>
              <a:t>5. ¿Cómo se aplican estas reglas a situaciones cotidianas?</a:t>
            </a:r>
          </a:p>
          <a:p>
            <a:pPr marL="0" indent="0" algn="just">
              <a:buNone/>
            </a:pPr>
            <a:r>
              <a:rPr lang="es-ES" dirty="0"/>
              <a:t>Selección de libros: Suma de opciones por tema.</a:t>
            </a:r>
          </a:p>
          <a:p>
            <a:pPr marL="0" indent="0" algn="just">
              <a:buNone/>
            </a:pPr>
            <a:r>
              <a:rPr lang="es-ES" dirty="0"/>
              <a:t>Combinación de prendas: Producto de opciones por prenda.</a:t>
            </a:r>
          </a:p>
          <a:p>
            <a:pPr marL="0" indent="0" algn="just">
              <a:buNone/>
            </a:pPr>
            <a:r>
              <a:rPr lang="es-ES" dirty="0"/>
              <a:t>Placas de automóvil: Producto de opciones por letra y dígito, considerando si se permiten repeticiones.</a:t>
            </a:r>
          </a:p>
          <a:p>
            <a:pPr marL="0" indent="0" algn="just">
              <a:buNone/>
            </a:pPr>
            <a:r>
              <a:rPr lang="es-ES" dirty="0"/>
              <a:t>Compra de electrodomésticos: Suma de combinaciones posibles por marca y características1.</a:t>
            </a:r>
          </a:p>
          <a:p>
            <a:pPr marL="0" indent="0" algn="just">
              <a:buNone/>
            </a:pPr>
            <a:endParaRPr lang="es-ES" dirty="0"/>
          </a:p>
          <a:p>
            <a:pPr marL="0" indent="0" algn="just">
              <a:buNone/>
            </a:pPr>
            <a:r>
              <a:rPr lang="es-ES" dirty="0"/>
              <a:t>6. ¿Qué tipo de ejercicios suelen aparecer?</a:t>
            </a:r>
          </a:p>
          <a:p>
            <a:pPr marL="0" indent="0" algn="just">
              <a:buNone/>
            </a:pPr>
            <a:r>
              <a:rPr lang="es-ES" dirty="0"/>
              <a:t>Formar palabras con restricciones (consonantes y vocales).</a:t>
            </a:r>
          </a:p>
          <a:p>
            <a:pPr marL="0" indent="0" algn="just">
              <a:buNone/>
            </a:pPr>
            <a:r>
              <a:rPr lang="es-ES" dirty="0"/>
              <a:t>Contar números o placas bajo ciertas condiciones.</a:t>
            </a:r>
          </a:p>
          <a:p>
            <a:pPr marL="0" indent="0" algn="just">
              <a:buNone/>
            </a:pPr>
            <a:r>
              <a:rPr lang="es-ES" dirty="0"/>
              <a:t>Calcular combinaciones de rutas, prendas, sistemas de crédito, etc.</a:t>
            </a:r>
          </a:p>
          <a:p>
            <a:pPr marL="0" indent="0" algn="just">
              <a:buNone/>
            </a:pPr>
            <a:r>
              <a:rPr lang="es-ES" dirty="0"/>
              <a:t>Problemas de probabilidad basados en conteo1.</a:t>
            </a:r>
          </a:p>
          <a:p>
            <a:pPr marL="0" indent="0" algn="just">
              <a:buNone/>
            </a:pPr>
            <a:endParaRPr lang="es-ES" dirty="0"/>
          </a:p>
          <a:p>
            <a:pPr marL="0" indent="0" algn="just">
              <a:buNone/>
            </a:pPr>
            <a:r>
              <a:rPr lang="es-ES" dirty="0"/>
              <a:t>7. ¿Cómo se resuelven problemas de conteo con restricciones?</a:t>
            </a:r>
          </a:p>
          <a:p>
            <a:pPr marL="0" indent="0" algn="just">
              <a:buNone/>
            </a:pPr>
            <a:r>
              <a:rPr lang="es-ES" dirty="0"/>
              <a:t>Se identifican las etapas o alternativas, se determina si se suman o multiplican las opciones, y se aplican las reglas según corresponda. Si hay restricciones (por ejemplo, no repetir dígitos), se ajusta el conteo en cada etapa1.</a:t>
            </a:r>
          </a:p>
          <a:p>
            <a:pPr marL="0" indent="0" algn="just">
              <a:buNone/>
            </a:pPr>
            <a:endParaRPr lang="es-ES" dirty="0"/>
          </a:p>
          <a:p>
            <a:pPr marL="0" indent="0" algn="just">
              <a:buNone/>
            </a:pPr>
            <a:endParaRPr lang="es-ES" dirty="0"/>
          </a:p>
          <a:p>
            <a:pPr marL="0" indent="0" algn="just">
              <a:buNone/>
            </a:pPr>
            <a:endParaRPr lang="es-GT"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92040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otalTime>649</TotalTime>
  <Words>3372</Words>
  <Application>Microsoft Office PowerPoint</Application>
  <PresentationFormat>Panorámica</PresentationFormat>
  <Paragraphs>179</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Tw Cen MT</vt:lpstr>
      <vt:lpstr>Wingdings</vt:lpstr>
      <vt:lpstr>Circuito</vt:lpstr>
      <vt:lpstr>Regla De la Suma y el producto Método de Conteo</vt:lpstr>
      <vt:lpstr>Matemáticas Discretas.</vt:lpstr>
      <vt:lpstr>Matemáticas Discretas.</vt:lpstr>
      <vt:lpstr>Unidad 1. Fundamentos del Conteo.</vt:lpstr>
      <vt:lpstr>Unidad 1. Fundamentos del Conteo.</vt:lpstr>
      <vt:lpstr>Ejemplo</vt:lpstr>
      <vt:lpstr>Ejemplos. </vt:lpstr>
      <vt:lpstr>Unidad 1. Fundamentos del Conteo.</vt:lpstr>
      <vt:lpstr>Ejemplos</vt:lpstr>
      <vt:lpstr>Ejemplos.</vt:lpstr>
      <vt:lpstr>Ejemplos. </vt:lpstr>
      <vt:lpstr>Ejemplo. </vt:lpstr>
      <vt:lpstr>Ejemplos. </vt:lpstr>
      <vt:lpstr>Unidad 1. Principio Aditivo.</vt:lpstr>
      <vt:lpstr>Ejemplos. No. 7</vt:lpstr>
      <vt:lpstr>Ejercicios</vt:lpstr>
      <vt:lpstr>Soluciones.</vt:lpstr>
      <vt:lpstr>Ejercicios</vt:lpstr>
      <vt:lpstr>ejercicios</vt:lpstr>
      <vt:lpstr>ejercicios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Regla De la Suma y el producto Método de Conteo</dc:title>
  <dc:creator>Fontana Campos, Juan Carlos</dc:creator>
  <cp:lastModifiedBy>Fontana Campos, Juan Carlos</cp:lastModifiedBy>
  <cp:revision>20</cp:revision>
  <cp:lastPrinted>2026-07-11T18:34:13Z</cp:lastPrinted>
  <dcterms:created xsi:type="dcterms:W3CDTF">2019-07-08T15:49:35Z</dcterms:created>
  <dcterms:modified xsi:type="dcterms:W3CDTF">2026-07-11T18:46:08Z</dcterms:modified>
</cp:coreProperties>
</file>