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3"/>
  </p:notesMasterIdLst>
  <p:sldIdLst>
    <p:sldId id="256" r:id="rId2"/>
    <p:sldId id="271" r:id="rId3"/>
    <p:sldId id="270" r:id="rId4"/>
    <p:sldId id="257" r:id="rId5"/>
    <p:sldId id="272" r:id="rId6"/>
    <p:sldId id="273" r:id="rId7"/>
    <p:sldId id="274" r:id="rId8"/>
    <p:sldId id="261" r:id="rId9"/>
    <p:sldId id="275" r:id="rId10"/>
    <p:sldId id="263" r:id="rId11"/>
    <p:sldId id="276" r:id="rId12"/>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915" autoAdjust="0"/>
  </p:normalViewPr>
  <p:slideViewPr>
    <p:cSldViewPr snapToGrid="0" snapToObjects="1">
      <p:cViewPr varScale="1">
        <p:scale>
          <a:sx n="59" d="100"/>
          <a:sy n="59" d="100"/>
        </p:scale>
        <p:origin x="11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038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Marcador de notas 2"/>
          <p:cNvSpPr>
            <a:spLocks noGrp="1"/>
          </p:cNvSpPr>
          <p:nvPr>
            <p:ph type="body" idx="1"/>
          </p:nvPr>
        </p:nvSpPr>
        <p:spPr>
          <a:xfrm>
            <a:off x="822325" y="7040563"/>
            <a:ext cx="6584950" cy="5761037"/>
          </a:xfrm>
          <a:prstGeom prst="rect">
            <a:avLst/>
          </a:prstGeom>
        </p:spPr>
        <p:txBody>
          <a:bodyPr/>
          <a:lstStyle/>
          <a:p>
            <a:endParaRPr lang="es-GT" dirty="0"/>
          </a:p>
        </p:txBody>
      </p:sp>
    </p:spTree>
    <p:extLst>
      <p:ext uri="{BB962C8B-B14F-4D97-AF65-F5344CB8AC3E}">
        <p14:creationId xmlns:p14="http://schemas.microsoft.com/office/powerpoint/2010/main" val="1541979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2964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3779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54720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1046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16748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62348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CCC8A7D-1997-4D06-B48B-3C00FFF29654}" type="datetimeFigureOut">
              <a:rPr lang="es-GT" smtClean="0"/>
              <a:t>6/03/2024</a:t>
            </a:fld>
            <a:endParaRPr lang="es-GT"/>
          </a:p>
        </p:txBody>
      </p:sp>
      <p:sp>
        <p:nvSpPr>
          <p:cNvPr id="5" name="Footer Placeholder 4"/>
          <p:cNvSpPr>
            <a:spLocks noGrp="1"/>
          </p:cNvSpPr>
          <p:nvPr>
            <p:ph type="ftr" sz="quarter" idx="11"/>
          </p:nvPr>
        </p:nvSpPr>
        <p:spPr>
          <a:xfrm>
            <a:off x="2899801" y="395169"/>
            <a:ext cx="5968698" cy="371041"/>
          </a:xfrm>
        </p:spPr>
        <p:txBody>
          <a:bodyPr/>
          <a:lstStyle/>
          <a:p>
            <a:endParaRPr lang="es-GT"/>
          </a:p>
        </p:txBody>
      </p:sp>
      <p:sp>
        <p:nvSpPr>
          <p:cNvPr id="6" name="Slide Number Placeholder 5"/>
          <p:cNvSpPr>
            <a:spLocks noGrp="1"/>
          </p:cNvSpPr>
          <p:nvPr>
            <p:ph type="sldNum" sz="quarter" idx="12"/>
          </p:nvPr>
        </p:nvSpPr>
        <p:spPr>
          <a:xfrm>
            <a:off x="1725197" y="958767"/>
            <a:ext cx="973223" cy="604294"/>
          </a:xfrm>
        </p:spPr>
        <p:txBody>
          <a:bodyPr/>
          <a:lstStyle/>
          <a:p>
            <a:fld id="{605CBD84-66F4-4180-A568-ABF01F768815}" type="slidenum">
              <a:rPr lang="es-GT" smtClean="0"/>
              <a:t>‹Nº›</a:t>
            </a:fld>
            <a:endParaRPr lang="es-GT"/>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1387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55904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15745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689786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4" name="Content Placeholder 3"/>
          <p:cNvSpPr>
            <a:spLocks noGrp="1"/>
          </p:cNvSpPr>
          <p:nvPr>
            <p:ph sz="half" idx="2"/>
          </p:nvPr>
        </p:nvSpPr>
        <p:spPr>
          <a:xfrm>
            <a:off x="1736629" y="3389124"/>
            <a:ext cx="5574182" cy="317334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6" name="Content Placeholder 5"/>
          <p:cNvSpPr>
            <a:spLocks noGrp="1"/>
          </p:cNvSpPr>
          <p:nvPr>
            <p:ph sz="quarter" idx="4"/>
          </p:nvPr>
        </p:nvSpPr>
        <p:spPr>
          <a:xfrm>
            <a:off x="7694835" y="3385790"/>
            <a:ext cx="5574182" cy="316484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33068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20611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extLst>
      <p:ext uri="{BB962C8B-B14F-4D97-AF65-F5344CB8AC3E}">
        <p14:creationId xmlns:p14="http://schemas.microsoft.com/office/powerpoint/2010/main" val="16520608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3/6/2024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12772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ES"/>
              <a:t>Haga clic para modificar los estilos de texto del patrón</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48A87A34-81AB-432B-8DAE-1953F412C126}" type="datetimeFigureOut">
              <a:rPr lang="en-US" dirty="0"/>
              <a:pPr/>
              <a:t>3/6/2024</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5942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20549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18278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68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48A87A34-81AB-432B-8DAE-1953F412C126}" type="datetimeFigureOut">
              <a:rPr lang="en-US" dirty="0"/>
              <a:pPr/>
              <a:t>3/6/2024</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6D22F896-40B5-4ADD-8801-0D06FADFA095}" type="slidenum">
              <a:rPr lang="en-US" dirty="0"/>
              <a:pPr/>
              <a:t>‹Nº›</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855022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7" name="Shape 3"/>
          <p:cNvSpPr/>
          <p:nvPr/>
        </p:nvSpPr>
        <p:spPr>
          <a:xfrm>
            <a:off x="6319599" y="6011466"/>
            <a:ext cx="355402" cy="355402"/>
          </a:xfrm>
          <a:prstGeom prst="roundRect">
            <a:avLst>
              <a:gd name="adj" fmla="val 25726039"/>
            </a:avLst>
          </a:prstGeom>
          <a:noFill/>
          <a:ln w="7620">
            <a:solidFill>
              <a:srgbClr val="FFFFFF"/>
            </a:solidFill>
            <a:prstDash val="solid"/>
          </a:ln>
        </p:spPr>
      </p:sp>
      <p:sp>
        <p:nvSpPr>
          <p:cNvPr id="9" name="Text 4"/>
          <p:cNvSpPr/>
          <p:nvPr/>
        </p:nvSpPr>
        <p:spPr>
          <a:xfrm>
            <a:off x="10326728" y="6813504"/>
            <a:ext cx="4513064" cy="388858"/>
          </a:xfrm>
          <a:prstGeom prst="rect">
            <a:avLst/>
          </a:prstGeom>
          <a:noFill/>
          <a:ln/>
        </p:spPr>
        <p:txBody>
          <a:bodyPr wrap="none" rtlCol="0" anchor="t"/>
          <a:lstStyle/>
          <a:p>
            <a:pPr marL="0" indent="0" algn="l">
              <a:lnSpc>
                <a:spcPts val="3062"/>
              </a:lnSpc>
              <a:buNone/>
            </a:pPr>
            <a:r>
              <a:rPr lang="en-US" sz="2187" b="1" dirty="0">
                <a:solidFill>
                  <a:srgbClr val="CAD6DE"/>
                </a:solidFill>
                <a:latin typeface="Cabin" pitchFamily="34" charset="0"/>
                <a:ea typeface="Cabin" pitchFamily="34" charset="-122"/>
                <a:cs typeface="Cabin" pitchFamily="34" charset="-120"/>
              </a:rPr>
              <a:t>by WALTER VINICIO GARCIA FLORES</a:t>
            </a:r>
            <a:endParaRPr lang="en-US" sz="2187" dirty="0"/>
          </a:p>
        </p:txBody>
      </p:sp>
      <p:pic>
        <p:nvPicPr>
          <p:cNvPr id="11" name="Picture 2" descr="SISTEMA LOGICO - logica">
            <a:extLst>
              <a:ext uri="{FF2B5EF4-FFF2-40B4-BE49-F238E27FC236}">
                <a16:creationId xmlns:a16="http://schemas.microsoft.com/office/drawing/2014/main" id="{4ED90D6F-EE2F-B837-7E3D-95B5C04E16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199017"/>
            <a:ext cx="3841206" cy="2860859"/>
          </a:xfrm>
          <a:prstGeom prst="rect">
            <a:avLst/>
          </a:prstGeom>
          <a:noFill/>
          <a:extLst>
            <a:ext uri="{909E8E84-426E-40DD-AFC4-6F175D3DCCD1}">
              <a14:hiddenFill xmlns:a14="http://schemas.microsoft.com/office/drawing/2010/main">
                <a:solidFill>
                  <a:srgbClr val="FFFFFF"/>
                </a:solidFill>
              </a14:hiddenFill>
            </a:ext>
          </a:extLst>
        </p:spPr>
      </p:pic>
      <p:sp>
        <p:nvSpPr>
          <p:cNvPr id="12" name="Título 1">
            <a:extLst>
              <a:ext uri="{FF2B5EF4-FFF2-40B4-BE49-F238E27FC236}">
                <a16:creationId xmlns:a16="http://schemas.microsoft.com/office/drawing/2014/main" id="{EAFFDAE9-4E16-1717-182E-D876A2901E11}"/>
              </a:ext>
            </a:extLst>
          </p:cNvPr>
          <p:cNvSpPr txBox="1">
            <a:spLocks/>
          </p:cNvSpPr>
          <p:nvPr/>
        </p:nvSpPr>
        <p:spPr>
          <a:xfrm>
            <a:off x="4132081" y="3225715"/>
            <a:ext cx="6366238" cy="2907073"/>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GT" sz="4080" dirty="0">
                <a:solidFill>
                  <a:schemeClr val="bg1"/>
                </a:solidFill>
              </a:rPr>
              <a:t>Lógica de Sistemas</a:t>
            </a:r>
            <a:br>
              <a:rPr lang="es-GT" sz="4080" dirty="0">
                <a:solidFill>
                  <a:schemeClr val="bg1"/>
                </a:solidFill>
              </a:rPr>
            </a:br>
            <a:br>
              <a:rPr lang="es-GT" sz="4080" dirty="0">
                <a:solidFill>
                  <a:schemeClr val="bg1"/>
                </a:solidFill>
              </a:rPr>
            </a:br>
            <a:r>
              <a:rPr lang="es-GT" sz="4080" dirty="0">
                <a:solidFill>
                  <a:schemeClr val="bg1"/>
                </a:solidFill>
              </a:rPr>
              <a:t>Clase 5</a:t>
            </a:r>
            <a:br>
              <a:rPr lang="es-GT" sz="4080" dirty="0">
                <a:solidFill>
                  <a:schemeClr val="bg1"/>
                </a:solidFill>
              </a:rPr>
            </a:br>
            <a:endParaRPr lang="es-GT" sz="4080" dirty="0">
              <a:solidFill>
                <a:schemeClr val="bg1"/>
              </a:solidFill>
            </a:endParaRPr>
          </a:p>
        </p:txBody>
      </p:sp>
      <p:pic>
        <p:nvPicPr>
          <p:cNvPr id="5" name="Imagen 4">
            <a:extLst>
              <a:ext uri="{FF2B5EF4-FFF2-40B4-BE49-F238E27FC236}">
                <a16:creationId xmlns:a16="http://schemas.microsoft.com/office/drawing/2014/main" id="{1CFA810B-B8A3-4C9A-B253-E41090F3AAAA}"/>
              </a:ext>
            </a:extLst>
          </p:cNvPr>
          <p:cNvPicPr>
            <a:picLocks noChangeAspect="1"/>
          </p:cNvPicPr>
          <p:nvPr/>
        </p:nvPicPr>
        <p:blipFill>
          <a:blip r:embed="rId5"/>
          <a:stretch>
            <a:fillRect/>
          </a:stretch>
        </p:blipFill>
        <p:spPr>
          <a:xfrm>
            <a:off x="11278180" y="0"/>
            <a:ext cx="3352220" cy="33171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15A24-077E-F328-E915-0EB4EF5D0B8F}"/>
              </a:ext>
            </a:extLst>
          </p:cNvPr>
          <p:cNvSpPr>
            <a:spLocks noGrp="1"/>
          </p:cNvSpPr>
          <p:nvPr>
            <p:ph type="ctrTitle"/>
          </p:nvPr>
        </p:nvSpPr>
        <p:spPr>
          <a:xfrm>
            <a:off x="2671770" y="774117"/>
            <a:ext cx="8841720" cy="1007454"/>
          </a:xfrm>
        </p:spPr>
        <p:txBody>
          <a:bodyPr anchor="b">
            <a:normAutofit/>
          </a:bodyPr>
          <a:lstStyle/>
          <a:p>
            <a:pPr algn="ctr"/>
            <a:r>
              <a:rPr lang="es-GT" sz="5760" dirty="0"/>
              <a:t>Temas</a:t>
            </a:r>
          </a:p>
        </p:txBody>
      </p:sp>
      <p:sp>
        <p:nvSpPr>
          <p:cNvPr id="4" name="Rectángulo 3">
            <a:extLst>
              <a:ext uri="{FF2B5EF4-FFF2-40B4-BE49-F238E27FC236}">
                <a16:creationId xmlns:a16="http://schemas.microsoft.com/office/drawing/2014/main" id="{97C277FF-FCEB-042B-6FC1-E5C80F4AD6C1}"/>
              </a:ext>
            </a:extLst>
          </p:cNvPr>
          <p:cNvSpPr/>
          <p:nvPr/>
        </p:nvSpPr>
        <p:spPr>
          <a:xfrm>
            <a:off x="3221743"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Falacias</a:t>
            </a:r>
          </a:p>
        </p:txBody>
      </p:sp>
      <p:sp>
        <p:nvSpPr>
          <p:cNvPr id="10" name="Subtítulo 2">
            <a:extLst>
              <a:ext uri="{FF2B5EF4-FFF2-40B4-BE49-F238E27FC236}">
                <a16:creationId xmlns:a16="http://schemas.microsoft.com/office/drawing/2014/main" id="{3578AC15-1F1C-F636-98E1-BB029B7AB45E}"/>
              </a:ext>
            </a:extLst>
          </p:cNvPr>
          <p:cNvSpPr txBox="1">
            <a:spLocks/>
          </p:cNvSpPr>
          <p:nvPr/>
        </p:nvSpPr>
        <p:spPr>
          <a:xfrm>
            <a:off x="11513490" y="7312326"/>
            <a:ext cx="2603249" cy="562522"/>
          </a:xfrm>
          <a:prstGeom prst="rect">
            <a:avLst/>
          </a:prstGeom>
        </p:spPr>
        <p:txBody>
          <a:bodyPr vert="horz" lIns="109728" tIns="109728" rIns="109728" bIns="109728" rtlCol="0">
            <a:normAutofit lnSpcReduction="10000"/>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r>
              <a:rPr lang="es-GT" sz="2160" b="1" dirty="0">
                <a:solidFill>
                  <a:schemeClr val="bg1"/>
                </a:solidFill>
              </a:rPr>
              <a:t>Ing. Walter García</a:t>
            </a:r>
          </a:p>
        </p:txBody>
      </p:sp>
      <p:sp>
        <p:nvSpPr>
          <p:cNvPr id="9" name="Rectángulo 3">
            <a:extLst>
              <a:ext uri="{FF2B5EF4-FFF2-40B4-BE49-F238E27FC236}">
                <a16:creationId xmlns:a16="http://schemas.microsoft.com/office/drawing/2014/main" id="{97C277FF-FCEB-042B-6FC1-E5C80F4AD6C1}"/>
              </a:ext>
            </a:extLst>
          </p:cNvPr>
          <p:cNvSpPr/>
          <p:nvPr/>
        </p:nvSpPr>
        <p:spPr>
          <a:xfrm>
            <a:off x="6193543"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Tipos de falacias</a:t>
            </a:r>
          </a:p>
        </p:txBody>
      </p:sp>
      <p:sp>
        <p:nvSpPr>
          <p:cNvPr id="3" name="Rectángulo 2">
            <a:extLst>
              <a:ext uri="{FF2B5EF4-FFF2-40B4-BE49-F238E27FC236}">
                <a16:creationId xmlns:a16="http://schemas.microsoft.com/office/drawing/2014/main" id="{48887511-0C93-7AED-4046-3B48A1382330}"/>
              </a:ext>
            </a:extLst>
          </p:cNvPr>
          <p:cNvSpPr/>
          <p:nvPr/>
        </p:nvSpPr>
        <p:spPr>
          <a:xfrm>
            <a:off x="6193543" y="4849721"/>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Hoja de trabajo</a:t>
            </a:r>
          </a:p>
        </p:txBody>
      </p:sp>
      <p:sp>
        <p:nvSpPr>
          <p:cNvPr id="6" name="Rectángulo 5">
            <a:extLst>
              <a:ext uri="{FF2B5EF4-FFF2-40B4-BE49-F238E27FC236}">
                <a16:creationId xmlns:a16="http://schemas.microsoft.com/office/drawing/2014/main" id="{A91F5B95-AEC9-E54B-E9F8-0EBF6BCC860E}"/>
              </a:ext>
            </a:extLst>
          </p:cNvPr>
          <p:cNvSpPr/>
          <p:nvPr/>
        </p:nvSpPr>
        <p:spPr>
          <a:xfrm>
            <a:off x="9354754" y="3184016"/>
            <a:ext cx="2544416" cy="10972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GT" sz="2160" dirty="0"/>
              <a:t>Seguimiento Proyecto</a:t>
            </a:r>
          </a:p>
        </p:txBody>
      </p:sp>
    </p:spTree>
    <p:extLst>
      <p:ext uri="{BB962C8B-B14F-4D97-AF65-F5344CB8AC3E}">
        <p14:creationId xmlns:p14="http://schemas.microsoft.com/office/powerpoint/2010/main" val="28626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121527" y="713013"/>
            <a:ext cx="7354387" cy="958453"/>
          </a:xfrm>
          <a:prstGeom prst="rect">
            <a:avLst/>
          </a:prstGeom>
          <a:noFill/>
          <a:ln/>
        </p:spPr>
        <p:txBody>
          <a:bodyPr wrap="square" rtlCol="0" anchor="t"/>
          <a:lstStyle/>
          <a:p>
            <a:pPr marL="0" indent="0">
              <a:lnSpc>
                <a:spcPts val="6561"/>
              </a:lnSpc>
              <a:buNone/>
            </a:pPr>
            <a:r>
              <a:rPr lang="en-US" sz="5249" dirty="0" err="1">
                <a:solidFill>
                  <a:srgbClr val="FFFFFF"/>
                </a:solidFill>
                <a:latin typeface="Unbounded" pitchFamily="34" charset="0"/>
                <a:ea typeface="Unbounded" pitchFamily="34" charset="-122"/>
              </a:rPr>
              <a:t>Definición</a:t>
            </a:r>
            <a:r>
              <a:rPr lang="en-US" sz="5249" dirty="0">
                <a:solidFill>
                  <a:srgbClr val="FFFFFF"/>
                </a:solidFill>
                <a:latin typeface="Unbounded" pitchFamily="34" charset="0"/>
                <a:ea typeface="Unbounded" pitchFamily="34" charset="-122"/>
              </a:rPr>
              <a:t> de </a:t>
            </a:r>
            <a:r>
              <a:rPr lang="en-US" sz="5249" dirty="0" err="1">
                <a:solidFill>
                  <a:srgbClr val="FFFFFF"/>
                </a:solidFill>
                <a:latin typeface="Unbounded" pitchFamily="34" charset="0"/>
                <a:ea typeface="Unbounded" pitchFamily="34" charset="-122"/>
              </a:rPr>
              <a:t>falacia</a:t>
            </a:r>
            <a:endParaRPr lang="en-US" sz="5249" dirty="0"/>
          </a:p>
        </p:txBody>
      </p:sp>
      <p:sp>
        <p:nvSpPr>
          <p:cNvPr id="6" name="Text 2"/>
          <p:cNvSpPr/>
          <p:nvPr/>
        </p:nvSpPr>
        <p:spPr>
          <a:xfrm>
            <a:off x="2502420" y="2625447"/>
            <a:ext cx="9625560" cy="1855113"/>
          </a:xfrm>
          <a:prstGeom prst="rect">
            <a:avLst/>
          </a:prstGeom>
          <a:noFill/>
          <a:ln/>
        </p:spPr>
        <p:txBody>
          <a:bodyPr wrap="square" rtlCol="0" anchor="t"/>
          <a:lstStyle/>
          <a:p>
            <a:pPr marL="0" indent="0" algn="just">
              <a:lnSpc>
                <a:spcPts val="2799"/>
              </a:lnSpc>
              <a:buNone/>
            </a:pPr>
            <a:r>
              <a:rPr lang="es-ES" sz="2800" dirty="0">
                <a:solidFill>
                  <a:schemeClr val="bg1"/>
                </a:solidFill>
                <a:latin typeface="Arial" panose="020B0604020202020204" pitchFamily="34" charset="0"/>
                <a:cs typeface="Arial" panose="020B0604020202020204" pitchFamily="34" charset="0"/>
              </a:rPr>
              <a:t>En el contexto de la lógica de sistemas, las falacias son errores de razonamiento que pueden surgir al analizar, diseñar o implementar sistemas lógicos. Estos errores pueden tener consecuencias significativas en el funcionamiento de los sistemas y en la toma de decisiones basadas en ellos. Por lo tanto, es fundamental comprender y evitar las falacias en la lógica de sistemas.</a:t>
            </a:r>
            <a:endParaRPr lang="en-US" sz="2800" dirty="0">
              <a:solidFill>
                <a:schemeClr val="bg1"/>
              </a:solidFill>
              <a:latin typeface="Arial" panose="020B0604020202020204" pitchFamily="34" charset="0"/>
              <a:cs typeface="Arial" panose="020B0604020202020204" pitchFamily="34" charset="0"/>
            </a:endParaRPr>
          </a:p>
        </p:txBody>
      </p:sp>
      <p:sp>
        <p:nvSpPr>
          <p:cNvPr id="7" name="Shape 3"/>
          <p:cNvSpPr/>
          <p:nvPr/>
        </p:nvSpPr>
        <p:spPr>
          <a:xfrm>
            <a:off x="6319599" y="6011466"/>
            <a:ext cx="355402" cy="355402"/>
          </a:xfrm>
          <a:prstGeom prst="roundRect">
            <a:avLst>
              <a:gd name="adj" fmla="val 25726039"/>
            </a:avLst>
          </a:prstGeom>
          <a:noFill/>
          <a:ln w="7620">
            <a:solidFill>
              <a:srgbClr val="FFFFFF"/>
            </a:solidFill>
            <a:prstDash val="solid"/>
          </a:ln>
        </p:spPr>
      </p:sp>
      <p:pic>
        <p:nvPicPr>
          <p:cNvPr id="8" name="Image 2" descr="preencoded.png"/>
          <p:cNvPicPr>
            <a:picLocks noChangeAspect="1"/>
          </p:cNvPicPr>
          <p:nvPr/>
        </p:nvPicPr>
        <p:blipFill>
          <a:blip r:embed="rId4"/>
          <a:stretch>
            <a:fillRect/>
          </a:stretch>
        </p:blipFill>
        <p:spPr>
          <a:xfrm>
            <a:off x="9522176" y="6975012"/>
            <a:ext cx="340162" cy="340162"/>
          </a:xfrm>
          <a:prstGeom prst="rect">
            <a:avLst/>
          </a:prstGeom>
        </p:spPr>
      </p:pic>
      <p:sp>
        <p:nvSpPr>
          <p:cNvPr id="9" name="Text 4"/>
          <p:cNvSpPr/>
          <p:nvPr/>
        </p:nvSpPr>
        <p:spPr>
          <a:xfrm>
            <a:off x="10326728" y="6813504"/>
            <a:ext cx="4513064" cy="388858"/>
          </a:xfrm>
          <a:prstGeom prst="rect">
            <a:avLst/>
          </a:prstGeom>
          <a:noFill/>
          <a:ln/>
        </p:spPr>
        <p:txBody>
          <a:bodyPr wrap="none" rtlCol="0" anchor="t"/>
          <a:lstStyle/>
          <a:p>
            <a:pPr marL="0" indent="0" algn="l">
              <a:lnSpc>
                <a:spcPts val="3062"/>
              </a:lnSpc>
              <a:buNone/>
            </a:pPr>
            <a:r>
              <a:rPr lang="en-US" sz="2187" b="1" dirty="0">
                <a:solidFill>
                  <a:srgbClr val="CAD6DE"/>
                </a:solidFill>
                <a:latin typeface="Cabin" pitchFamily="34" charset="0"/>
                <a:ea typeface="Cabin" pitchFamily="34" charset="-122"/>
                <a:cs typeface="Cabin" pitchFamily="34" charset="-120"/>
              </a:rPr>
              <a:t>by WALTER VINICIO GARCIA FLORES</a:t>
            </a:r>
            <a:endParaRPr lang="en-US" sz="2187" dirty="0"/>
          </a:p>
        </p:txBody>
      </p:sp>
    </p:spTree>
    <p:extLst>
      <p:ext uri="{BB962C8B-B14F-4D97-AF65-F5344CB8AC3E}">
        <p14:creationId xmlns:p14="http://schemas.microsoft.com/office/powerpoint/2010/main" val="1237235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717018" y="356371"/>
            <a:ext cx="5196363" cy="592591"/>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cs typeface="Unbounded" pitchFamily="34" charset="-120"/>
              </a:rPr>
              <a:t>Tipos</a:t>
            </a:r>
            <a:r>
              <a:rPr lang="en-US" sz="4374" dirty="0">
                <a:solidFill>
                  <a:srgbClr val="FFFFFF"/>
                </a:solidFill>
                <a:latin typeface="Unbounded" pitchFamily="34" charset="0"/>
                <a:ea typeface="Unbounded" pitchFamily="34" charset="-122"/>
                <a:cs typeface="Unbounded" pitchFamily="34" charset="-120"/>
              </a:rPr>
              <a:t> de </a:t>
            </a:r>
            <a:r>
              <a:rPr lang="en-US" sz="4374" dirty="0" err="1">
                <a:solidFill>
                  <a:srgbClr val="FFFFFF"/>
                </a:solidFill>
                <a:latin typeface="Unbounded" pitchFamily="34" charset="0"/>
                <a:ea typeface="Unbounded" pitchFamily="34" charset="-122"/>
                <a:cs typeface="Unbounded" pitchFamily="34" charset="-120"/>
              </a:rPr>
              <a:t>falacias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10787" y="1305333"/>
            <a:ext cx="12109270" cy="7540526"/>
          </a:xfrm>
          <a:prstGeom prst="rect">
            <a:avLst/>
          </a:prstGeom>
          <a:noFill/>
        </p:spPr>
        <p:txBody>
          <a:bodyPr wrap="square" rtlCol="0">
            <a:spAutoFit/>
          </a:bodyPr>
          <a:lstStyle/>
          <a:p>
            <a:pPr marL="457200" indent="-457200" algn="just">
              <a:buAutoNum type="arabicPeriod"/>
            </a:pPr>
            <a:r>
              <a:rPr lang="es-ES" sz="2200" b="1" dirty="0">
                <a:solidFill>
                  <a:schemeClr val="bg1"/>
                </a:solidFill>
                <a:latin typeface="Arial" panose="020B0604020202020204" pitchFamily="34" charset="0"/>
                <a:cs typeface="Arial" panose="020B0604020202020204" pitchFamily="34" charset="0"/>
              </a:rPr>
              <a:t>Falacia de composición: </a:t>
            </a:r>
            <a:r>
              <a:rPr lang="es-ES" sz="2200" dirty="0">
                <a:solidFill>
                  <a:schemeClr val="bg1"/>
                </a:solidFill>
                <a:latin typeface="Arial" panose="020B0604020202020204" pitchFamily="34" charset="0"/>
                <a:cs typeface="Arial" panose="020B0604020202020204" pitchFamily="34" charset="0"/>
              </a:rPr>
              <a:t>Esta falacia se produce cuando se asume incorrectamente que las propiedades o características de los componentes individuales de un sistema se aplican automáticamente al sistema en su conjunto. En otras palabras, se supone que, si cada parte de un sistema tiene cierta propiedad, entonces el sistema completo también tiene esa propiedad. Sin embargo, esto no siempre es cierto, ya que las interacciones entre los componentes pueden generar comportamientos emergentes que difieren de las propiedades individuales.</a:t>
            </a:r>
          </a:p>
          <a:p>
            <a:pPr marL="457200" indent="-457200" algn="just">
              <a:buAutoNum type="arabicPeriod"/>
            </a:pPr>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Ejemplos:</a:t>
            </a:r>
          </a:p>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Ejemplo en economía: Supongamos que, en una ciudad, cada individuo tiene un salario alto. Luego, alguien podría cometer la falacia de composición al afirmar que toda la ciudad tiene un alto nivel de vida. Sin embargo, esto no tiene que ser necesariamente cierto, ya que hay otros factores a considerar, como el costo de vida, la distribución de la riqueza y las condiciones económicas generales.</a:t>
            </a:r>
          </a:p>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Ejemplo en deportes: Si en un equipo de fútbol todos los jugadores son talentosos y habilidosos, no se puede asumir automáticamente que el equipo en su conjunto será invencible. La habilidad individual de los jugadores no garantiza necesariamente el éxito del equipo, ya que también se deben considerar otros factores, como la estrategia, la cohesión del equipo y el desempeño de los oponentes.</a:t>
            </a:r>
          </a:p>
          <a:p>
            <a:pPr algn="just"/>
            <a:endParaRPr lang="es-ES" sz="2200" dirty="0">
              <a:solidFill>
                <a:schemeClr val="bg1"/>
              </a:solidFill>
              <a:latin typeface="Arial" panose="020B0604020202020204" pitchFamily="34" charset="0"/>
              <a:cs typeface="Arial" panose="020B0604020202020204" pitchFamily="34" charset="0"/>
            </a:endParaRPr>
          </a:p>
          <a:p>
            <a:pPr algn="just"/>
            <a:endParaRPr lang="es-ES" sz="2200" dirty="0">
              <a:solidFill>
                <a:schemeClr val="bg1"/>
              </a:solidFill>
              <a:latin typeface="Arial" panose="020B0604020202020204" pitchFamily="34" charset="0"/>
              <a:cs typeface="Arial" panose="020B0604020202020204" pitchFamily="34" charset="0"/>
            </a:endParaRPr>
          </a:p>
          <a:p>
            <a:pPr algn="just"/>
            <a:endParaRPr lang="es-GT" sz="22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717018" y="356371"/>
            <a:ext cx="5196363" cy="592591"/>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cs typeface="Unbounded" pitchFamily="34" charset="-120"/>
              </a:rPr>
              <a:t>Tipos</a:t>
            </a:r>
            <a:r>
              <a:rPr lang="en-US" sz="4374" dirty="0">
                <a:solidFill>
                  <a:srgbClr val="FFFFFF"/>
                </a:solidFill>
                <a:latin typeface="Unbounded" pitchFamily="34" charset="0"/>
                <a:ea typeface="Unbounded" pitchFamily="34" charset="-122"/>
                <a:cs typeface="Unbounded" pitchFamily="34" charset="-120"/>
              </a:rPr>
              <a:t> de </a:t>
            </a:r>
            <a:r>
              <a:rPr lang="en-US" sz="4374" dirty="0" err="1">
                <a:solidFill>
                  <a:srgbClr val="FFFFFF"/>
                </a:solidFill>
                <a:latin typeface="Unbounded" pitchFamily="34" charset="0"/>
                <a:ea typeface="Unbounded" pitchFamily="34" charset="-122"/>
                <a:cs typeface="Unbounded" pitchFamily="34" charset="-120"/>
              </a:rPr>
              <a:t>falacias</a:t>
            </a:r>
            <a:r>
              <a:rPr lang="en-US" sz="4374" dirty="0">
                <a:solidFill>
                  <a:srgbClr val="FFFFFF"/>
                </a:solidFill>
                <a:latin typeface="Unbounded" pitchFamily="34" charset="0"/>
                <a:ea typeface="Unbounded" pitchFamily="34" charset="-122"/>
                <a:cs typeface="Unbounded" pitchFamily="34" charset="-120"/>
              </a:rPr>
              <a:t>, </a:t>
            </a:r>
            <a:r>
              <a:rPr lang="en-US" sz="4374" dirty="0" err="1">
                <a:solidFill>
                  <a:srgbClr val="FFFFFF"/>
                </a:solidFill>
                <a:latin typeface="Unbounded" pitchFamily="34" charset="0"/>
                <a:ea typeface="Unbounded" pitchFamily="34" charset="-122"/>
                <a:cs typeface="Unbounded" pitchFamily="34" charset="-120"/>
              </a:rPr>
              <a:t>ejemplos</a:t>
            </a:r>
            <a:endParaRPr lang="en-US" sz="4374" dirty="0">
              <a:solidFill>
                <a:srgbClr val="FFFFFF"/>
              </a:solidFill>
              <a:latin typeface="Unbounded" pitchFamily="34" charset="0"/>
              <a:ea typeface="Unbounded" pitchFamily="34" charset="-122"/>
              <a:cs typeface="Unbounded" pitchFamily="34" charset="-120"/>
            </a:endParaRPr>
          </a:p>
          <a:p>
            <a:pPr marL="0" indent="0">
              <a:lnSpc>
                <a:spcPts val="5468"/>
              </a:lnSpc>
              <a:buNone/>
            </a:pP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10787" y="2402613"/>
            <a:ext cx="12109270" cy="4832092"/>
          </a:xfrm>
          <a:prstGeom prst="rect">
            <a:avLst/>
          </a:prstGeom>
          <a:noFill/>
        </p:spPr>
        <p:txBody>
          <a:bodyPr wrap="square" rtlCol="0">
            <a:spAutoFit/>
          </a:bodyPr>
          <a:lstStyle/>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Ejemplo en tecnología: Supongamos que cada componente de una computadora tiene un alto rendimiento y está diseñado para tareas intensivas. Cometeríamos la falacia de composición si asumiéramos que la computadora en su conjunto tendrá un rendimiento excepcional en todas las tareas. La interacción entre los componentes, la capacidad de procesamiento, la gestión térmica y otros factores pueden afectar el rendimiento global del sistema.</a:t>
            </a:r>
          </a:p>
          <a:p>
            <a:pPr marL="457200" indent="-457200" algn="just">
              <a:buFont typeface="+mj-lt"/>
              <a:buAutoNum type="arabicPeriod"/>
            </a:pPr>
            <a:endParaRPr lang="es-ES" sz="2200" dirty="0">
              <a:solidFill>
                <a:schemeClr val="bg1"/>
              </a:solidFill>
              <a:latin typeface="Arial" panose="020B0604020202020204" pitchFamily="34" charset="0"/>
              <a:cs typeface="Arial" panose="020B0604020202020204" pitchFamily="34" charset="0"/>
            </a:endParaRPr>
          </a:p>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Ejemplo en el transporte: Si todos los vehículos en una ciudad son ecológicos y no emiten gases contaminantes, no se puede concluir automáticamente que la ciudad en su conjunto tiene un aire limpio y una buena calidad ambiental. Otros factores, como la industria, la geografía y la calidad del aire proveniente de otras áreas, pueden influir en la calidad general del aire en la ciudad.</a:t>
            </a:r>
          </a:p>
          <a:p>
            <a:pPr algn="just"/>
            <a:endParaRPr lang="es-ES" sz="2200" dirty="0">
              <a:solidFill>
                <a:schemeClr val="bg1"/>
              </a:solidFill>
              <a:latin typeface="Arial" panose="020B0604020202020204" pitchFamily="34" charset="0"/>
              <a:cs typeface="Arial" panose="020B0604020202020204" pitchFamily="34" charset="0"/>
            </a:endParaRPr>
          </a:p>
          <a:p>
            <a:pPr algn="just"/>
            <a:endParaRPr lang="es-GT" sz="2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1004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717018" y="356371"/>
            <a:ext cx="5196363" cy="592591"/>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cs typeface="Unbounded" pitchFamily="34" charset="-120"/>
              </a:rPr>
              <a:t>Tipos</a:t>
            </a:r>
            <a:r>
              <a:rPr lang="en-US" sz="4374" dirty="0">
                <a:solidFill>
                  <a:srgbClr val="FFFFFF"/>
                </a:solidFill>
                <a:latin typeface="Unbounded" pitchFamily="34" charset="0"/>
                <a:ea typeface="Unbounded" pitchFamily="34" charset="-122"/>
                <a:cs typeface="Unbounded" pitchFamily="34" charset="-120"/>
              </a:rPr>
              <a:t> de </a:t>
            </a:r>
            <a:r>
              <a:rPr lang="en-US" sz="4374" dirty="0" err="1">
                <a:solidFill>
                  <a:srgbClr val="FFFFFF"/>
                </a:solidFill>
                <a:latin typeface="Unbounded" pitchFamily="34" charset="0"/>
                <a:ea typeface="Unbounded" pitchFamily="34" charset="-122"/>
                <a:cs typeface="Unbounded" pitchFamily="34" charset="-120"/>
              </a:rPr>
              <a:t>falacias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10787" y="1671093"/>
            <a:ext cx="12109270" cy="6186309"/>
          </a:xfrm>
          <a:prstGeom prst="rect">
            <a:avLst/>
          </a:prstGeom>
          <a:noFill/>
        </p:spPr>
        <p:txBody>
          <a:bodyPr wrap="square" rtlCol="0">
            <a:spAutoFit/>
          </a:bodyPr>
          <a:lstStyle/>
          <a:p>
            <a:pPr algn="just"/>
            <a:r>
              <a:rPr lang="es-ES" sz="2200" b="1" dirty="0">
                <a:solidFill>
                  <a:schemeClr val="bg1"/>
                </a:solidFill>
                <a:latin typeface="Arial" panose="020B0604020202020204" pitchFamily="34" charset="0"/>
                <a:cs typeface="Arial" panose="020B0604020202020204" pitchFamily="34" charset="0"/>
              </a:rPr>
              <a:t>Falacia de división: </a:t>
            </a:r>
            <a:r>
              <a:rPr lang="es-ES" sz="2200" dirty="0">
                <a:solidFill>
                  <a:schemeClr val="bg1"/>
                </a:solidFill>
                <a:latin typeface="Arial" panose="020B0604020202020204" pitchFamily="34" charset="0"/>
                <a:cs typeface="Arial" panose="020B0604020202020204" pitchFamily="34" charset="0"/>
              </a:rPr>
              <a:t>Esta falacia es el opuesto de la falacia de composición. Se comete cuando se asume que las propiedades del sistema en su conjunto se aplican automáticamente a cada uno de sus componentes individuales. Esto puede llevar a conclusiones incorrectas sobre las características de los componentes, ya que pueden tener propiedades o comportamientos distintos a los del sistema en general.</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Ejemplos:</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Ejemplo en economía: Si un país en su conjunto tiene una economía próspera y un alto PIB per cápita, cometeríamos la falacia de división si asumiéramos automáticamente que cada individuo en ese país también tiene un alto nivel de vida. A pesar de la prosperidad general, puede haber desigualdades económicas significativas y disparidades en la distribución de la riqueza.</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Ejemplo en deportes: Si un equipo de fútbol es conocido por su defensa sólida y su imbatibilidad, no podemos concluir automáticamente que cada jugador individual en ese equipo sea un defensor excepcional. Algunos jugadores pueden tener habilidades diferentes y desempeñarse mejor en otras áreas del juego, como el ataque o el mediocampo.</a:t>
            </a:r>
          </a:p>
          <a:p>
            <a:pPr algn="just"/>
            <a:endParaRPr lang="es-GT" sz="2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901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5" name="Text 1"/>
          <p:cNvSpPr/>
          <p:nvPr/>
        </p:nvSpPr>
        <p:spPr>
          <a:xfrm>
            <a:off x="4717018" y="356371"/>
            <a:ext cx="5196363" cy="592591"/>
          </a:xfrm>
          <a:prstGeom prst="rect">
            <a:avLst/>
          </a:prstGeom>
          <a:noFill/>
          <a:ln/>
        </p:spPr>
        <p:txBody>
          <a:bodyPr wrap="square" rtlCol="0" anchor="t"/>
          <a:lstStyle/>
          <a:p>
            <a:pPr marL="0" indent="0">
              <a:lnSpc>
                <a:spcPts val="5468"/>
              </a:lnSpc>
              <a:buNone/>
            </a:pPr>
            <a:r>
              <a:rPr lang="en-US" sz="4374" dirty="0" err="1">
                <a:solidFill>
                  <a:srgbClr val="FFFFFF"/>
                </a:solidFill>
                <a:latin typeface="Unbounded" pitchFamily="34" charset="0"/>
                <a:ea typeface="Unbounded" pitchFamily="34" charset="-122"/>
                <a:cs typeface="Unbounded" pitchFamily="34" charset="-120"/>
              </a:rPr>
              <a:t>Tipos</a:t>
            </a:r>
            <a:r>
              <a:rPr lang="en-US" sz="4374" dirty="0">
                <a:solidFill>
                  <a:srgbClr val="FFFFFF"/>
                </a:solidFill>
                <a:latin typeface="Unbounded" pitchFamily="34" charset="0"/>
                <a:ea typeface="Unbounded" pitchFamily="34" charset="-122"/>
                <a:cs typeface="Unbounded" pitchFamily="34" charset="-120"/>
              </a:rPr>
              <a:t> de </a:t>
            </a:r>
            <a:r>
              <a:rPr lang="en-US" sz="4374" dirty="0" err="1">
                <a:solidFill>
                  <a:srgbClr val="FFFFFF"/>
                </a:solidFill>
                <a:latin typeface="Unbounded" pitchFamily="34" charset="0"/>
                <a:ea typeface="Unbounded" pitchFamily="34" charset="-122"/>
                <a:cs typeface="Unbounded" pitchFamily="34" charset="-120"/>
              </a:rPr>
              <a:t>falacias</a:t>
            </a:r>
            <a:endParaRPr lang="en-US" sz="4374" dirty="0"/>
          </a:p>
        </p:txBody>
      </p:sp>
      <p:sp>
        <p:nvSpPr>
          <p:cNvPr id="8" name="Text 4"/>
          <p:cNvSpPr/>
          <p:nvPr/>
        </p:nvSpPr>
        <p:spPr>
          <a:xfrm>
            <a:off x="3070503" y="5716191"/>
            <a:ext cx="2777490" cy="347186"/>
          </a:xfrm>
          <a:prstGeom prst="rect">
            <a:avLst/>
          </a:prstGeom>
          <a:noFill/>
          <a:ln/>
        </p:spPr>
        <p:txBody>
          <a:bodyPr wrap="none" rtlCol="0" anchor="t"/>
          <a:lstStyle/>
          <a:p>
            <a:pPr marL="0" indent="0">
              <a:lnSpc>
                <a:spcPts val="2734"/>
              </a:lnSpc>
              <a:buNone/>
            </a:pPr>
            <a:endParaRPr lang="en-US" sz="2187" dirty="0"/>
          </a:p>
        </p:txBody>
      </p:sp>
      <p:sp>
        <p:nvSpPr>
          <p:cNvPr id="14" name="CuadroTexto 13">
            <a:extLst>
              <a:ext uri="{FF2B5EF4-FFF2-40B4-BE49-F238E27FC236}">
                <a16:creationId xmlns:a16="http://schemas.microsoft.com/office/drawing/2014/main" id="{0B95E091-560D-FC43-0930-F0566BB1A61E}"/>
              </a:ext>
            </a:extLst>
          </p:cNvPr>
          <p:cNvSpPr txBox="1"/>
          <p:nvPr/>
        </p:nvSpPr>
        <p:spPr>
          <a:xfrm>
            <a:off x="1410787" y="1671093"/>
            <a:ext cx="12109270" cy="5847755"/>
          </a:xfrm>
          <a:prstGeom prst="rect">
            <a:avLst/>
          </a:prstGeom>
          <a:noFill/>
        </p:spPr>
        <p:txBody>
          <a:bodyPr wrap="square" rtlCol="0">
            <a:spAutoFit/>
          </a:bodyPr>
          <a:lstStyle/>
          <a:p>
            <a:pPr algn="just"/>
            <a:r>
              <a:rPr lang="es-ES" sz="2200" dirty="0">
                <a:solidFill>
                  <a:schemeClr val="bg1"/>
                </a:solidFill>
                <a:latin typeface="Arial" panose="020B0604020202020204" pitchFamily="34" charset="0"/>
                <a:cs typeface="Arial" panose="020B0604020202020204" pitchFamily="34" charset="0"/>
              </a:rPr>
              <a:t>3</a:t>
            </a:r>
            <a:r>
              <a:rPr lang="es-ES" sz="2200" b="1" dirty="0">
                <a:solidFill>
                  <a:schemeClr val="bg1"/>
                </a:solidFill>
                <a:latin typeface="Arial" panose="020B0604020202020204" pitchFamily="34" charset="0"/>
                <a:cs typeface="Arial" panose="020B0604020202020204" pitchFamily="34" charset="0"/>
              </a:rPr>
              <a:t>. Falacia de causa y efecto: </a:t>
            </a:r>
            <a:r>
              <a:rPr lang="es-ES" sz="2200" dirty="0">
                <a:solidFill>
                  <a:schemeClr val="bg1"/>
                </a:solidFill>
                <a:latin typeface="Arial" panose="020B0604020202020204" pitchFamily="34" charset="0"/>
                <a:cs typeface="Arial" panose="020B0604020202020204" pitchFamily="34" charset="0"/>
              </a:rPr>
              <a:t>Esta falacia se produce cuando se asume una relación causal entre dos eventos o variables sin suficiente evidencia o análisis riguroso. En la lógica de sistemas, es esencial comprender las relaciones causales y evitar suposiciones infundadas que puedan llevar a decisiones incorrectas o a la implementación de soluciones ineficientes.</a:t>
            </a:r>
          </a:p>
          <a:p>
            <a:pPr algn="just"/>
            <a:endParaRPr lang="es-ES" sz="2200" dirty="0">
              <a:solidFill>
                <a:schemeClr val="bg1"/>
              </a:solidFill>
              <a:latin typeface="Arial" panose="020B0604020202020204" pitchFamily="34" charset="0"/>
              <a:cs typeface="Arial" panose="020B0604020202020204" pitchFamily="34" charset="0"/>
            </a:endParaRPr>
          </a:p>
          <a:p>
            <a:pPr algn="just"/>
            <a:r>
              <a:rPr lang="es-ES" sz="2200" dirty="0">
                <a:solidFill>
                  <a:schemeClr val="bg1"/>
                </a:solidFill>
                <a:latin typeface="Arial" panose="020B0604020202020204" pitchFamily="34" charset="0"/>
                <a:cs typeface="Arial" panose="020B0604020202020204" pitchFamily="34" charset="0"/>
              </a:rPr>
              <a:t>Ejemplos:</a:t>
            </a:r>
          </a:p>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Falacia del blanco móvil: Si un equipo de fútbol gana un partido después de un cambio de entrenador, no podemos asumir automáticamente que el cambio de entrenador causó la victoria. Puede haber otros factores en juego, como la motivación de los jugadores, la estrategia del equipo o el desempeño del oponente.</a:t>
            </a:r>
          </a:p>
          <a:p>
            <a:pPr marL="457200" indent="-457200" algn="just">
              <a:buFont typeface="+mj-lt"/>
              <a:buAutoNum type="arabicPeriod"/>
            </a:pPr>
            <a:endParaRPr lang="es-ES" sz="2200" dirty="0">
              <a:solidFill>
                <a:schemeClr val="bg1"/>
              </a:solidFill>
              <a:latin typeface="Arial" panose="020B0604020202020204" pitchFamily="34" charset="0"/>
              <a:cs typeface="Arial" panose="020B0604020202020204" pitchFamily="34" charset="0"/>
            </a:endParaRPr>
          </a:p>
          <a:p>
            <a:pPr marL="457200" indent="-457200" algn="just">
              <a:buFont typeface="+mj-lt"/>
              <a:buAutoNum type="arabicPeriod"/>
            </a:pPr>
            <a:r>
              <a:rPr lang="es-ES" sz="2200" dirty="0">
                <a:solidFill>
                  <a:schemeClr val="bg1"/>
                </a:solidFill>
                <a:latin typeface="Arial" panose="020B0604020202020204" pitchFamily="34" charset="0"/>
                <a:cs typeface="Arial" panose="020B0604020202020204" pitchFamily="34" charset="0"/>
              </a:rPr>
              <a:t>Falacia de la causalidad inversa: Si una persona exitosa afirma que el secreto de su éxito es llevar una determinada prenda de ropa, estaríamos cometiendo la falacia de causa y efecto al asumir que la prenda de ropa es la causa directa de su éxito. Es posible que la persona tenga habilidades, talento y trabajo duro que sean los verdaderos impulsores de su éxito, y la elección de la ropa simplemente sea una coincidencia o una preferencia personal.</a:t>
            </a:r>
          </a:p>
          <a:p>
            <a:pPr algn="just"/>
            <a:endParaRPr lang="es-GT" sz="2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63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4613124" y="372414"/>
            <a:ext cx="6442472" cy="694373"/>
          </a:xfrm>
          <a:prstGeom prst="rect">
            <a:avLst/>
          </a:prstGeom>
          <a:noFill/>
          <a:ln/>
        </p:spPr>
        <p:txBody>
          <a:bodyPr wrap="non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Forma de resolver </a:t>
            </a:r>
            <a:r>
              <a:rPr lang="en-US" sz="4374" dirty="0" err="1">
                <a:solidFill>
                  <a:srgbClr val="FFFFFF"/>
                </a:solidFill>
                <a:latin typeface="Unbounded" pitchFamily="34" charset="0"/>
                <a:ea typeface="Unbounded" pitchFamily="34" charset="-122"/>
                <a:cs typeface="Unbounded" pitchFamily="34" charset="-120"/>
              </a:rPr>
              <a:t>falacias</a:t>
            </a:r>
            <a:endParaRPr lang="en-US" sz="4374" dirty="0"/>
          </a:p>
        </p:txBody>
      </p:sp>
      <p:sp>
        <p:nvSpPr>
          <p:cNvPr id="5" name="Text 2"/>
          <p:cNvSpPr/>
          <p:nvPr/>
        </p:nvSpPr>
        <p:spPr>
          <a:xfrm>
            <a:off x="2332031" y="2331801"/>
            <a:ext cx="10482633" cy="2825843"/>
          </a:xfrm>
          <a:prstGeom prst="rect">
            <a:avLst/>
          </a:prstGeom>
          <a:noFill/>
          <a:ln/>
        </p:spPr>
        <p:txBody>
          <a:bodyPr wrap="square" rtlCol="0" anchor="t"/>
          <a:lstStyle/>
          <a:p>
            <a:pPr algn="just">
              <a:lnSpc>
                <a:spcPts val="2799"/>
              </a:lnSpc>
            </a:pPr>
            <a:r>
              <a:rPr lang="es-ES" sz="2200" dirty="0">
                <a:solidFill>
                  <a:schemeClr val="bg1"/>
                </a:solidFill>
                <a:latin typeface="Arial" panose="020B0604020202020204" pitchFamily="34" charset="0"/>
                <a:cs typeface="Arial" panose="020B0604020202020204" pitchFamily="34" charset="0"/>
              </a:rPr>
              <a:t>Para resolver las falacias lógicas, es importante seguir un proceso de razonamiento crítico que te permita identificar y corregir los errores en el argumento. Aquí hay algunas pautas generales para abordar las falacias lógicas:</a:t>
            </a:r>
          </a:p>
          <a:p>
            <a:pPr algn="just">
              <a:lnSpc>
                <a:spcPts val="2799"/>
              </a:lnSpc>
            </a:pPr>
            <a:endParaRPr lang="es-ES" sz="2200" dirty="0">
              <a:solidFill>
                <a:schemeClr val="bg1"/>
              </a:solidFill>
              <a:latin typeface="Arial" panose="020B0604020202020204" pitchFamily="34" charset="0"/>
              <a:cs typeface="Arial" panose="020B0604020202020204" pitchFamily="34" charset="0"/>
            </a:endParaRPr>
          </a:p>
          <a:p>
            <a:pPr marL="457200" indent="-457200" algn="just">
              <a:lnSpc>
                <a:spcPts val="2799"/>
              </a:lnSpc>
              <a:buFont typeface="+mj-lt"/>
              <a:buAutoNum type="arabicPeriod"/>
            </a:pPr>
            <a:r>
              <a:rPr lang="es-ES" sz="2200" b="1" dirty="0">
                <a:solidFill>
                  <a:schemeClr val="bg1"/>
                </a:solidFill>
                <a:latin typeface="Arial" panose="020B0604020202020204" pitchFamily="34" charset="0"/>
                <a:cs typeface="Arial" panose="020B0604020202020204" pitchFamily="34" charset="0"/>
              </a:rPr>
              <a:t>Identifica la falacia: </a:t>
            </a:r>
            <a:r>
              <a:rPr lang="es-ES" sz="2200" dirty="0">
                <a:solidFill>
                  <a:schemeClr val="bg1"/>
                </a:solidFill>
                <a:latin typeface="Arial" panose="020B0604020202020204" pitchFamily="34" charset="0"/>
                <a:cs typeface="Arial" panose="020B0604020202020204" pitchFamily="34" charset="0"/>
              </a:rPr>
              <a:t>Lo primero que debes hacer es reconocer el tipo específico de falacia lógica presente en el argumento. Familiarizarte con los diferentes tipos de falacias lógicas te ayudará a identificarlas con mayor facilidad.</a:t>
            </a:r>
          </a:p>
          <a:p>
            <a:pPr marL="457200" indent="-457200" algn="just">
              <a:lnSpc>
                <a:spcPts val="2799"/>
              </a:lnSpc>
              <a:buFont typeface="+mj-lt"/>
              <a:buAutoNum type="arabicPeriod"/>
            </a:pPr>
            <a:endParaRPr lang="es-ES" sz="2200" dirty="0">
              <a:solidFill>
                <a:schemeClr val="bg1"/>
              </a:solidFill>
              <a:latin typeface="Arial" panose="020B0604020202020204" pitchFamily="34" charset="0"/>
              <a:cs typeface="Arial" panose="020B0604020202020204" pitchFamily="34" charset="0"/>
            </a:endParaRPr>
          </a:p>
          <a:p>
            <a:pPr marL="457200" indent="-457200" algn="just">
              <a:lnSpc>
                <a:spcPts val="2799"/>
              </a:lnSpc>
              <a:buFont typeface="+mj-lt"/>
              <a:buAutoNum type="arabicPeriod"/>
            </a:pPr>
            <a:r>
              <a:rPr lang="es-ES" sz="2200" b="1" dirty="0">
                <a:solidFill>
                  <a:schemeClr val="bg1"/>
                </a:solidFill>
                <a:latin typeface="Arial" panose="020B0604020202020204" pitchFamily="34" charset="0"/>
                <a:cs typeface="Arial" panose="020B0604020202020204" pitchFamily="34" charset="0"/>
              </a:rPr>
              <a:t>Analiza la estructura del argumento: </a:t>
            </a:r>
            <a:r>
              <a:rPr lang="es-ES" sz="2200" dirty="0">
                <a:solidFill>
                  <a:schemeClr val="bg1"/>
                </a:solidFill>
                <a:latin typeface="Arial" panose="020B0604020202020204" pitchFamily="34" charset="0"/>
                <a:cs typeface="Arial" panose="020B0604020202020204" pitchFamily="34" charset="0"/>
              </a:rPr>
              <a:t>Examina la estructura del argumento y la relación entre las premisas (las afirmaciones que se presentan como evidencia) y la conclusión (la afirmación que se deduce de las premisas). Busca cualquier brecha lógica o suposiciones no justificadas.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4613124" y="372414"/>
            <a:ext cx="6442472" cy="694373"/>
          </a:xfrm>
          <a:prstGeom prst="rect">
            <a:avLst/>
          </a:prstGeom>
          <a:noFill/>
          <a:ln/>
        </p:spPr>
        <p:txBody>
          <a:bodyPr wrap="non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Forma de resolver </a:t>
            </a:r>
            <a:r>
              <a:rPr lang="en-US" sz="4374" dirty="0" err="1">
                <a:solidFill>
                  <a:srgbClr val="FFFFFF"/>
                </a:solidFill>
                <a:latin typeface="Unbounded" pitchFamily="34" charset="0"/>
                <a:ea typeface="Unbounded" pitchFamily="34" charset="-122"/>
                <a:cs typeface="Unbounded" pitchFamily="34" charset="-120"/>
              </a:rPr>
              <a:t>falacias</a:t>
            </a:r>
            <a:endParaRPr lang="en-US" sz="4374" dirty="0"/>
          </a:p>
        </p:txBody>
      </p:sp>
      <p:sp>
        <p:nvSpPr>
          <p:cNvPr id="5" name="Text 2"/>
          <p:cNvSpPr/>
          <p:nvPr/>
        </p:nvSpPr>
        <p:spPr>
          <a:xfrm>
            <a:off x="2332031" y="2331801"/>
            <a:ext cx="10482633" cy="2825843"/>
          </a:xfrm>
          <a:prstGeom prst="rect">
            <a:avLst/>
          </a:prstGeom>
          <a:noFill/>
          <a:ln/>
        </p:spPr>
        <p:txBody>
          <a:bodyPr wrap="square" rtlCol="0" anchor="t"/>
          <a:lstStyle/>
          <a:p>
            <a:pPr marL="457200" indent="-457200" algn="just">
              <a:lnSpc>
                <a:spcPts val="2799"/>
              </a:lnSpc>
              <a:buFont typeface="+mj-lt"/>
              <a:buAutoNum type="arabicPeriod"/>
            </a:pPr>
            <a:r>
              <a:rPr lang="es-ES" sz="2200" b="1" dirty="0">
                <a:solidFill>
                  <a:schemeClr val="bg1"/>
                </a:solidFill>
                <a:latin typeface="Arial" panose="020B0604020202020204" pitchFamily="34" charset="0"/>
                <a:cs typeface="Arial" panose="020B0604020202020204" pitchFamily="34" charset="0"/>
              </a:rPr>
              <a:t>Evalúa la validez de las premisas: </a:t>
            </a:r>
            <a:r>
              <a:rPr lang="es-ES" sz="2200" dirty="0">
                <a:solidFill>
                  <a:schemeClr val="bg1"/>
                </a:solidFill>
                <a:latin typeface="Arial" panose="020B0604020202020204" pitchFamily="34" charset="0"/>
                <a:cs typeface="Arial" panose="020B0604020202020204" pitchFamily="34" charset="0"/>
              </a:rPr>
              <a:t>Examina cada premisa individualmente y evalúa si son verdaderas o si están respaldadas por evidencia sólida. Si las premisas son falsas o débiles, el argumento puede ser inválido.</a:t>
            </a:r>
          </a:p>
          <a:p>
            <a:pPr marL="457200" indent="-457200" algn="just">
              <a:lnSpc>
                <a:spcPts val="2799"/>
              </a:lnSpc>
              <a:buFont typeface="+mj-lt"/>
              <a:buAutoNum type="arabicPeriod"/>
            </a:pPr>
            <a:endParaRPr lang="es-ES" sz="2200" dirty="0">
              <a:solidFill>
                <a:schemeClr val="bg1"/>
              </a:solidFill>
              <a:latin typeface="Arial" panose="020B0604020202020204" pitchFamily="34" charset="0"/>
              <a:cs typeface="Arial" panose="020B0604020202020204" pitchFamily="34" charset="0"/>
            </a:endParaRPr>
          </a:p>
          <a:p>
            <a:pPr marL="457200" indent="-457200" algn="just">
              <a:lnSpc>
                <a:spcPts val="2799"/>
              </a:lnSpc>
              <a:buFont typeface="+mj-lt"/>
              <a:buAutoNum type="arabicPeriod"/>
            </a:pPr>
            <a:r>
              <a:rPr lang="es-ES" sz="2200" b="1" dirty="0">
                <a:solidFill>
                  <a:schemeClr val="bg1"/>
                </a:solidFill>
                <a:latin typeface="Arial" panose="020B0604020202020204" pitchFamily="34" charset="0"/>
                <a:cs typeface="Arial" panose="020B0604020202020204" pitchFamily="34" charset="0"/>
              </a:rPr>
              <a:t>Busca suposiciones ocultas: </a:t>
            </a:r>
            <a:r>
              <a:rPr lang="es-ES" sz="2200" dirty="0">
                <a:solidFill>
                  <a:schemeClr val="bg1"/>
                </a:solidFill>
                <a:latin typeface="Arial" panose="020B0604020202020204" pitchFamily="34" charset="0"/>
                <a:cs typeface="Arial" panose="020B0604020202020204" pitchFamily="34" charset="0"/>
              </a:rPr>
              <a:t>Algunas falacias lógicas se basan en suposiciones no declaradas o implícitas. Intenta identificar cualquier suposición subyacente en el argumento y evalúa si es válida o si hay evidencia para respaldarla.</a:t>
            </a:r>
          </a:p>
          <a:p>
            <a:pPr marL="457200" indent="-457200" algn="just">
              <a:lnSpc>
                <a:spcPts val="2799"/>
              </a:lnSpc>
              <a:buFont typeface="+mj-lt"/>
              <a:buAutoNum type="arabicPeriod"/>
            </a:pPr>
            <a:endParaRPr lang="es-ES" sz="2200" dirty="0">
              <a:solidFill>
                <a:schemeClr val="bg1"/>
              </a:solidFill>
              <a:latin typeface="Arial" panose="020B0604020202020204" pitchFamily="34" charset="0"/>
              <a:cs typeface="Arial" panose="020B0604020202020204" pitchFamily="34" charset="0"/>
            </a:endParaRPr>
          </a:p>
          <a:p>
            <a:pPr marL="457200" indent="-457200" algn="just">
              <a:lnSpc>
                <a:spcPts val="2799"/>
              </a:lnSpc>
              <a:buFont typeface="+mj-lt"/>
              <a:buAutoNum type="arabicPeriod"/>
            </a:pPr>
            <a:r>
              <a:rPr lang="es-ES" sz="2200" b="1" dirty="0">
                <a:solidFill>
                  <a:schemeClr val="bg1"/>
                </a:solidFill>
                <a:latin typeface="Arial" panose="020B0604020202020204" pitchFamily="34" charset="0"/>
                <a:cs typeface="Arial" panose="020B0604020202020204" pitchFamily="34" charset="0"/>
              </a:rPr>
              <a:t>Busca contraejemplos o contraargumentos: </a:t>
            </a:r>
            <a:r>
              <a:rPr lang="es-ES" sz="2200" dirty="0">
                <a:solidFill>
                  <a:schemeClr val="bg1"/>
                </a:solidFill>
                <a:latin typeface="Arial" panose="020B0604020202020204" pitchFamily="34" charset="0"/>
                <a:cs typeface="Arial" panose="020B0604020202020204" pitchFamily="34" charset="0"/>
              </a:rPr>
              <a:t>Intenta encontrar ejemplos o argumentos que refuten la conclusión o las premisas del argumento. Si puedes demostrar que el argumento no es universalmente válido, entonces puedes refutar la falacia.</a:t>
            </a:r>
          </a:p>
        </p:txBody>
      </p:sp>
    </p:spTree>
    <p:extLst>
      <p:ext uri="{BB962C8B-B14F-4D97-AF65-F5344CB8AC3E}">
        <p14:creationId xmlns:p14="http://schemas.microsoft.com/office/powerpoint/2010/main" val="454452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0" y="0"/>
            <a:ext cx="3657600" cy="8229600"/>
          </a:xfrm>
          <a:prstGeom prst="rect">
            <a:avLst/>
          </a:prstGeom>
        </p:spPr>
      </p:pic>
      <p:sp>
        <p:nvSpPr>
          <p:cNvPr id="9" name="Text 5"/>
          <p:cNvSpPr/>
          <p:nvPr/>
        </p:nvSpPr>
        <p:spPr>
          <a:xfrm>
            <a:off x="4712970" y="5688092"/>
            <a:ext cx="4097774" cy="710803"/>
          </a:xfrm>
          <a:prstGeom prst="rect">
            <a:avLst/>
          </a:prstGeom>
          <a:noFill/>
          <a:ln/>
        </p:spPr>
        <p:txBody>
          <a:bodyPr wrap="square" rtlCol="0" anchor="t"/>
          <a:lstStyle/>
          <a:p>
            <a:pPr marL="0" indent="0">
              <a:lnSpc>
                <a:spcPts val="2799"/>
              </a:lnSpc>
              <a:buNone/>
            </a:pPr>
            <a:endParaRPr lang="en-US" sz="1750" dirty="0"/>
          </a:p>
        </p:txBody>
      </p:sp>
      <p:pic>
        <p:nvPicPr>
          <p:cNvPr id="6" name="Imagen 5">
            <a:extLst>
              <a:ext uri="{FF2B5EF4-FFF2-40B4-BE49-F238E27FC236}">
                <a16:creationId xmlns:a16="http://schemas.microsoft.com/office/drawing/2014/main" id="{E91946ED-D398-D216-23A6-CA59D04D5A34}"/>
              </a:ext>
            </a:extLst>
          </p:cNvPr>
          <p:cNvPicPr>
            <a:picLocks noChangeAspect="1"/>
          </p:cNvPicPr>
          <p:nvPr/>
        </p:nvPicPr>
        <p:blipFill>
          <a:blip r:embed="rId5"/>
          <a:stretch>
            <a:fillRect/>
          </a:stretch>
        </p:blipFill>
        <p:spPr>
          <a:xfrm>
            <a:off x="6761857" y="1655445"/>
            <a:ext cx="4648200" cy="4743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0" y="0"/>
            <a:ext cx="3657600" cy="8229600"/>
          </a:xfrm>
          <a:prstGeom prst="rect">
            <a:avLst/>
          </a:prstGeom>
        </p:spPr>
      </p:pic>
      <p:sp>
        <p:nvSpPr>
          <p:cNvPr id="9" name="Text 5"/>
          <p:cNvSpPr/>
          <p:nvPr/>
        </p:nvSpPr>
        <p:spPr>
          <a:xfrm>
            <a:off x="4712970" y="5688092"/>
            <a:ext cx="4097774" cy="710803"/>
          </a:xfrm>
          <a:prstGeom prst="rect">
            <a:avLst/>
          </a:prstGeom>
          <a:noFill/>
          <a:ln/>
        </p:spPr>
        <p:txBody>
          <a:bodyPr wrap="square" rtlCol="0" anchor="t"/>
          <a:lstStyle/>
          <a:p>
            <a:pPr marL="0" indent="0">
              <a:lnSpc>
                <a:spcPts val="2799"/>
              </a:lnSpc>
              <a:buNone/>
            </a:pPr>
            <a:endParaRPr lang="en-US" sz="1750" dirty="0"/>
          </a:p>
        </p:txBody>
      </p:sp>
      <p:sp>
        <p:nvSpPr>
          <p:cNvPr id="10" name="Shape 6"/>
          <p:cNvSpPr/>
          <p:nvPr/>
        </p:nvSpPr>
        <p:spPr>
          <a:xfrm>
            <a:off x="9255085" y="4985504"/>
            <a:ext cx="4542115" cy="1635562"/>
          </a:xfrm>
          <a:prstGeom prst="roundRect">
            <a:avLst>
              <a:gd name="adj" fmla="val 4076"/>
            </a:avLst>
          </a:prstGeom>
          <a:solidFill>
            <a:srgbClr val="223D4D"/>
          </a:solidFill>
          <a:ln/>
        </p:spPr>
      </p:sp>
      <p:sp>
        <p:nvSpPr>
          <p:cNvPr id="11" name="Text 7"/>
          <p:cNvSpPr/>
          <p:nvPr/>
        </p:nvSpPr>
        <p:spPr>
          <a:xfrm>
            <a:off x="9477256" y="5207675"/>
            <a:ext cx="2777490"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Espacio para </a:t>
            </a:r>
            <a:r>
              <a:rPr lang="en-US" sz="2187" dirty="0" err="1">
                <a:solidFill>
                  <a:srgbClr val="FFFFFF"/>
                </a:solidFill>
                <a:latin typeface="Unbounded" pitchFamily="34" charset="0"/>
                <a:ea typeface="Unbounded" pitchFamily="34" charset="-122"/>
                <a:cs typeface="Unbounded" pitchFamily="34" charset="-120"/>
              </a:rPr>
              <a:t>dudas</a:t>
            </a:r>
            <a:endParaRPr lang="en-US" sz="2187" dirty="0"/>
          </a:p>
        </p:txBody>
      </p:sp>
    </p:spTree>
    <p:extLst>
      <p:ext uri="{BB962C8B-B14F-4D97-AF65-F5344CB8AC3E}">
        <p14:creationId xmlns:p14="http://schemas.microsoft.com/office/powerpoint/2010/main" val="2532930705"/>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351</TotalTime>
  <Words>1139</Words>
  <Application>Microsoft Office PowerPoint</Application>
  <PresentationFormat>Personalizado</PresentationFormat>
  <Paragraphs>60</Paragraphs>
  <Slides>11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Cabin</vt:lpstr>
      <vt:lpstr>Calibri</vt:lpstr>
      <vt:lpstr>Gill Sans MT</vt:lpstr>
      <vt:lpstr>Unbounded</vt:lpstr>
      <vt:lpstr>Galería</vt:lpstr>
      <vt:lpstr>Presentación de PowerPoint</vt:lpstr>
      <vt:lpstr>Temas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Garcia Flores, Walter Vinicio</cp:lastModifiedBy>
  <cp:revision>30</cp:revision>
  <dcterms:created xsi:type="dcterms:W3CDTF">2024-02-23T21:08:24Z</dcterms:created>
  <dcterms:modified xsi:type="dcterms:W3CDTF">2024-03-07T05:41:27Z</dcterms:modified>
</cp:coreProperties>
</file>